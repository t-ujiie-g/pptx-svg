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Alpha 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00FF">
                  <a:alpha val="80000"/>
                </a:srgbClr>
              </a:gs>
              <a:gs pos="100000">
                <a:srgbClr val="0000FF">
                  <a:alpha val="2000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Alpha Gradient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36576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ltDnDiag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smCheck">
            <a:fgClr>
              <a:srgbClr val="FF0000"/>
            </a:fgClr>
            <a:bgClr>
              <a:srgbClr val="FFFF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smCheck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dkHorz">
            <a:fgClr>
              <a:srgbClr val="003366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dkHorz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gradFill rotWithShape="1" tileFlip="x">
            <a:gsLst>
              <a:gs pos="0">
                <a:srgbClr val="FF00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gradFill rotWithShape="1" tileFlip="y">
            <a:gsLst>
              <a:gs pos="0">
                <a:srgbClr val="00FF00"/>
              </a:gs>
              <a:gs pos="100000">
                <a:srgbClr val="FF00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gradFill rotWithShape="1" tileFlip="xy">
            <a:gsLst>
              <a:gs pos="0">
                <a:srgbClr val="FFFF00"/>
              </a:gs>
              <a:gs pos="50000">
                <a:srgbClr val="FF6600"/>
              </a:gs>
              <a:gs pos="100000">
                <a:srgbClr val="0066F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pct50">
            <a:fgClr>
              <a:srgbClr val="333333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pct50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dnDiag">
            <a:fgClr>
              <a:srgbClr val="00008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dnDiag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cross">
            <a:fgClr>
              <a:srgbClr val="FF0000"/>
            </a:fgClr>
            <a:bgClr>
              <a:srgbClr val="FFFF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cross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286000" cy="1828800"/>
          </a:xfrm>
          <a:prstGeom prst="rect">
            <a:avLst/>
          </a:prstGeom>
          <a:pattFill prst="lgCheck">
            <a:fgClr>
              <a:srgbClr val="008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lgCheck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743200"/>
            <a:ext cx="2286000" cy="1828800"/>
          </a:xfrm>
          <a:prstGeom prst="rect">
            <a:avLst/>
          </a:prstGeom>
          <a:pattFill prst="solidDmnd">
            <a:fgClr>
              <a:srgbClr val="800080"/>
            </a:fgClr>
            <a:bgClr>
              <a:srgbClr val="FFE0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solidDmnd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743200"/>
            <a:ext cx="2286000" cy="1828800"/>
          </a:xfrm>
          <a:prstGeom prst="rect">
            <a:avLst/>
          </a:prstGeom>
          <a:pattFill prst="trellis">
            <a:fgClr>
              <a:srgbClr val="004040"/>
            </a:fgClr>
            <a:bgClr>
              <a:srgbClr val="E0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trellis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3657600" cy="2743200"/>
          </a:xfrm>
          <a:prstGeom prst="rect">
            <a:avLst/>
          </a:prstGeom>
          <a:blipFill>
            <a:blip r:embed="rId2"/>
            <a:tile tx="0" ty="0" sx="50000" sy="50000" flip="xy" algn="tl"/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 fill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32: Line Stroke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7315200" cy="0"/>
          </a:xfrm>
          <a:prstGeom prst="line">
            <a:avLst/>
          </a:prstGeom>
          <a:noFill/>
          <a:ln w="254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73152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5087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7315200" cy="0"/>
          </a:xfrm>
          <a:prstGeom prst="line">
            <a:avLst/>
          </a:prstGeom>
          <a:noFill/>
          <a:ln w="25400">
            <a:solidFill>
              <a:srgbClr val="00990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3317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dashDot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83280"/>
            <a:ext cx="7315200" cy="0"/>
          </a:xfrm>
          <a:prstGeom prst="line">
            <a:avLst/>
          </a:prstGeom>
          <a:noFill/>
          <a:ln w="25400">
            <a:solidFill>
              <a:srgbClr val="CC66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3154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06240"/>
            <a:ext cx="7315200" cy="0"/>
          </a:xfrm>
          <a:prstGeom prst="line">
            <a:avLst/>
          </a:prstGeom>
          <a:noFill/>
          <a:ln w="25400">
            <a:solidFill>
              <a:srgbClr val="990099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97763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7315200" cy="0"/>
          </a:xfrm>
          <a:prstGeom prst="line">
            <a:avLst/>
          </a:prstGeom>
          <a:noFill/>
          <a:ln w="25400">
            <a:solidFill>
              <a:srgbClr val="CC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4800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852160"/>
            <a:ext cx="7315200" cy="0"/>
          </a:xfrm>
          <a:prstGeom prst="line">
            <a:avLst/>
          </a:prstGeom>
          <a:noFill/>
          <a:ln w="25400">
            <a:solidFill>
              <a:srgbClr val="FF6600"/>
            </a:solidFill>
            <a:custDash>
              <a:ds d="400000" sp="100000"/>
              <a:ds d="100000" sp="100000"/>
            </a:custDash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56235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custDash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33: Arrow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0" cy="0"/>
          </a:xfrm>
          <a:prstGeom prst="line">
            <a:avLst/>
          </a:prstGeom>
          <a:noFill/>
          <a:ln w="25400">
            <a:solidFill>
              <a:srgbClr val="FF0000"/>
            </a:solidFill>
            <a:headEnd type="triangle" w="med" len="med"/>
            <a:tailEnd type="stealth" w="lg" len="lg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triangle head + stealth 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0"/>
          </a:xfrm>
          <a:prstGeom prst="line">
            <a:avLst/>
          </a:prstGeom>
          <a:noFill/>
          <a:ln w="19050">
            <a:solidFill>
              <a:srgbClr val="008000"/>
            </a:solidFill>
            <a:headEnd type="diamond" w="med" len="med"/>
            <a:tailEnd type="oval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diamond head + oval 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3657600" cy="0"/>
          </a:xfrm>
          <a:prstGeom prst="line">
            <a:avLst/>
          </a:prstGeom>
          <a:noFill/>
          <a:ln w="25400">
            <a:solidFill>
              <a:srgbClr val="0000FF"/>
            </a:solidFill>
            <a:headEnd type="arrow" w="med" len="med"/>
            <a:tailEnd type="triangle" w="sm" len="sm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arrow head + triangle tail (sm)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97280"/>
            <a:ext cx="4114800" cy="0"/>
          </a:xfrm>
          <a:prstGeom prst="line">
            <a:avLst/>
          </a:prstGeom>
          <a:noFill/>
          <a:ln w="38100" cap="rnd">
            <a:solidFill>
              <a:srgbClr val="800080"/>
            </a:solidFill>
            <a:prstDash val="dash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 + round cap + round join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4114800" cy="0"/>
          </a:xfrm>
          <a:prstGeom prst="line">
            <a:avLst/>
          </a:prstGeom>
          <a:noFill/>
          <a:ln w="25400" cap="sq">
            <a:solidFill>
              <a:srgbClr val="006699"/>
            </a:solidFill>
            <a:prstDash val="lgDash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 + sq cap + bevel join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4114800" cy="0"/>
          </a:xfrm>
          <a:prstGeom prst="line">
            <a:avLst/>
          </a:prstGeom>
          <a:noFill/>
          <a:ln w="25400">
            <a:solidFill>
              <a:srgbClr val="FF6600"/>
            </a:solidFill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miter join (lim=800000)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ln w="25400" cap="rnd">
            <a:solidFill>
              <a:srgbClr val="FF00FF"/>
            </a:solidFill>
            <a:prstDash val="dashDot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Rect: dashDot + rnd cap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657600"/>
            <a:ext cx="4114800" cy="731520"/>
          </a:xfrm>
          <a:prstGeom prst="rect">
            <a:avLst/>
          </a:prstGeom>
          <a:ln w="38100" cmpd="dbl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Compound: dbl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4754880"/>
            <a:ext cx="4114800" cy="731520"/>
          </a:xfrm>
          <a:prstGeom prst="rect">
            <a:avLst/>
          </a:prstGeom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Line noFill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34: Group Shapes</a:t>
            </a:r>
          </a:p>
        </p:txBody>
      </p:sp>
      <p:grpSp>
        <p:nvGrpSpPr>
          <p:cNvPr id="100" name="Group 1"/>
          <p:cNvGrpSpPr/>
          <p:nvPr/>
        </p:nvGrpSpPr>
        <p:grpSpPr>
          <a:xfrm>
            <a:off x="457200" y="1371600"/>
            <a:ext cx="3657600" cy="2743200"/>
            <a:chOff x="0" y="0"/>
            <a:chExt cx="3657600" cy="2743200"/>
          </a:xfrm>
        </p:grpSpPr>
        <p:sp>
          <p:nvSpPr>
            <p:cNvPr id="101" name="Rect1"/>
            <p:cNvSpPr/>
            <p:nvPr/>
          </p:nvSpPr>
          <p:spPr>
            <a:xfrm>
              <a:off x="0" y="0"/>
              <a:ext cx="1828800" cy="1371600"/>
            </a:xfrm>
            <a:prstGeom prst="rect">
              <a:avLst/>
            </a:prstGeom>
            <a:solidFill>
              <a:srgbClr val="FF6B6B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1 (red)</a:t>
              </a:r>
            </a:p>
          </p:txBody>
        </p:sp>
        <p:sp>
          <p:nvSpPr>
            <p:cNvPr id="102" name="Rect2"/>
            <p:cNvSpPr/>
            <p:nvPr/>
          </p:nvSpPr>
          <p:spPr>
            <a:xfrm>
              <a:off x="1828800" y="1371600"/>
              <a:ext cx="1828800" cy="1371600"/>
            </a:xfrm>
            <a:prstGeom prst="ellipse">
              <a:avLst/>
            </a:prstGeom>
            <a:solidFill>
              <a:srgbClr val="4ECDC4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2 (teal)</a:t>
              </a:r>
            </a:p>
          </p:txBody>
        </p:sp>
      </p:grpSp>
      <p:grpSp>
        <p:nvGrpSpPr>
          <p:cNvPr id="200" name="Outer Group"/>
          <p:cNvGrpSpPr/>
          <p:nvPr/>
        </p:nvGrpSpPr>
        <p:grpSpPr>
          <a:xfrm>
            <a:off x="4572000" y="1371600"/>
            <a:ext cx="4572000" cy="2743200"/>
            <a:chOff x="0" y="0"/>
            <a:chExt cx="4572000" cy="2743200"/>
          </a:xfrm>
        </p:grpSpPr>
        <p:sp>
          <p:nvSpPr>
            <p:cNvPr id="201" name="Outer Rect"/>
            <p:cNvSpPr/>
            <p:nvPr/>
          </p:nvSpPr>
          <p:spPr>
            <a:xfrm>
              <a:off x="0" y="0"/>
              <a:ext cx="4572000" cy="2743200"/>
            </a:xfrm>
            <a:prstGeom prst="rect">
              <a:avLst/>
            </a:prstGeom>
            <a:solidFill>
              <a:srgbClr val="E8E8E8"/>
            </a:solidFill>
            <a:ln w="12700">
              <a:solidFill>
                <a:srgbClr val="999999"/>
              </a:solidFill>
            </a:ln>
          </p:spPr>
          <p:txBody>
            <a:bodyPr/>
            <a:lstStyle/>
            <a:p>
              <a:r>
                <a:rPr lang="en-US" sz="1200"/>
                <a:t>Outer bg</a:t>
              </a:r>
            </a:p>
          </p:txBody>
        </p:sp>
        <p:grpSp>
          <p:nvGrpSpPr>
            <p:cNvPr id="210" name="Inner Group"/>
            <p:cNvGrpSpPr/>
            <p:nvPr/>
          </p:nvGrpSpPr>
          <p:grpSpPr>
            <a:xfrm>
              <a:off x="457200" y="457200"/>
              <a:ext cx="3657600" cy="1828800"/>
              <a:chOff x="0" y="0"/>
              <a:chExt cx="3657600" cy="1828800"/>
            </a:xfrm>
          </p:grpSpPr>
          <p:sp>
            <p:nvSpPr>
              <p:cNvPr id="211" name="Inner Circle"/>
              <p:cNvSpPr/>
              <p:nvPr/>
            </p:nvSpPr>
            <p:spPr>
              <a:xfrm>
                <a:off x="0" y="0"/>
                <a:ext cx="1828800" cy="1828800"/>
              </a:xfrm>
              <a:prstGeom prst="ellipse">
                <a:avLst/>
              </a:prstGeom>
              <a:solidFill>
                <a:srgbClr val="FFD93D"/>
              </a:solidFill>
            </p:spPr>
            <p:txBody>
              <a:bodyPr anchor="ctr"/>
              <a:lstStyle/>
              <a:p>
                <a:pPr algn="ctr"/>
                <a:r>
                  <a:rPr lang="en-US" sz="1400" b="1"/>
                  <a:t>Nested A</a:t>
                </a:r>
              </a:p>
            </p:txBody>
          </p:sp>
          <p:sp>
            <p:nvSpPr>
              <p:cNvPr id="212" name="Inner Rect"/>
              <p:cNvSpPr/>
              <p:nvPr/>
            </p:nvSpPr>
            <p:spPr>
              <a:xfrm>
                <a:off x="1828800" y="0"/>
                <a:ext cx="1828800" cy="1828800"/>
              </a:xfrm>
              <a:prstGeom prst="roundRect">
                <a:avLst/>
              </a:prstGeom>
              <a:solidFill>
                <a:srgbClr val="6C5CE7"/>
              </a:solidFill>
            </p:spPr>
            <p:txBody>
              <a:bodyPr anchor="ctr"/>
              <a:lstStyle/>
              <a:p>
                <a:pPr algn="ctr"/>
                <a:r>
                  <a:rPr lang="en-US" sz="1400" b="1">
                    <a:solidFill>
                      <a:srgbClr val="FFFFFF"/>
                    </a:solidFill>
                  </a:rPr>
                  <a:t>Nested B</a:t>
                </a:r>
              </a:p>
            </p:txBody>
          </p:sp>
        </p:grpSp>
      </p:grpSp>
      <p:sp>
        <p:nvSpPr>
          <p:cNvPr id="213" name="TextBox 212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simple group (red rect + teal ellipse). Right: nested group (outer bg + inner circle + rounded rect).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35: Connectors (p:cxnSp)</a:t>
            </a:r>
          </a:p>
        </p:txBody>
      </p:sp>
      <p:cxnSp>
        <p:nvCxnSpPr>
          <p:cNvPr id="300" name="Straight Connector"/>
          <p:cNvCxnSpPr/>
          <p:nvPr/>
        </p:nvCxnSpPr>
        <p:spPr>
          <a:xfrm>
            <a:off x="457200" y="1371600"/>
            <a:ext cx="36576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</p:cxnSp>
      <p:cxnSp>
        <p:nvCxnSpPr>
          <p:cNvPr id="301" name="Diagonal Connector"/>
          <p:cNvCxnSpPr/>
          <p:nvPr/>
        </p:nvCxnSpPr>
        <p:spPr>
          <a:xfrm>
            <a:off x="457200" y="2286000"/>
            <a:ext cx="3657600" cy="1828800"/>
          </a:xfrm>
          <a:prstGeom prst="straightConnector1">
            <a:avLst/>
          </a:prstGeom>
          <a:ln w="19050">
            <a:solidFill>
              <a:srgbClr val="0066CC"/>
            </a:solidFill>
            <a:prstDash val="dash"/>
            <a:headEnd type="diamond"/>
            <a:tailEnd type="stealth"/>
          </a:ln>
        </p:spPr>
      </p:cxnSp>
      <p:cxnSp>
        <p:nvCxnSpPr>
          <p:cNvPr id="302" name="Bent Connector"/>
          <p:cNvCxnSpPr/>
          <p:nvPr/>
        </p:nvCxnSpPr>
        <p:spPr>
          <a:xfrm>
            <a:off x="5029200" y="1371600"/>
            <a:ext cx="3657600" cy="1371600"/>
          </a:xfrm>
          <a:prstGeom prst="bentConnector3">
            <a:avLst>
              <a:gd name="adj1" fmla="val 50000"/>
            </a:avLst>
          </a:prstGeom>
          <a:ln w="25400">
            <a:solidFill>
              <a:srgbClr val="009900"/>
            </a:solidFill>
            <a:tailEnd type="triangle"/>
          </a:ln>
        </p:spPr>
      </p:cxnSp>
      <p:cxnSp>
        <p:nvCxnSpPr>
          <p:cNvPr id="303" name="Curved Connector"/>
          <p:cNvCxnSpPr/>
          <p:nvPr/>
        </p:nvCxnSpPr>
        <p:spPr>
          <a:xfrm>
            <a:off x="5029200" y="3200400"/>
            <a:ext cx="3657600" cy="1371600"/>
          </a:xfrm>
          <a:prstGeom prst="curvedConnector3">
            <a:avLst>
              <a:gd name="adj1" fmla="val 50000"/>
            </a:avLst>
          </a:prstGeom>
          <a:ln w="25400">
            <a:solidFill>
              <a:srgbClr val="FF6600"/>
            </a:solidFill>
            <a:headEnd type="oval"/>
            <a:tailEnd type="arrow"/>
          </a:ln>
        </p:spPr>
      </p:cxnSp>
      <p:sp>
        <p:nvSpPr>
          <p:cNvPr id="304" name="TextBox 30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straight + diagonal. Right: bent (green) + curved (orange).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0" name="prst_triangle"/>
          <p:cNvSpPr/>
          <p:nvPr/>
        </p:nvSpPr>
        <p:spPr>
          <a:xfrm>
            <a:off x="457200" y="457200"/>
            <a:ext cx="1143000" cy="1143000"/>
          </a:xfrm>
          <a:prstGeom prst="triangle">
            <a:avLst/>
          </a:prstGeom>
          <a:solidFill>
            <a:srgbClr val="FF6B6B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triangle</a:t>
            </a:r>
          </a:p>
        </p:txBody>
      </p:sp>
      <p:sp>
        <p:nvSpPr>
          <p:cNvPr id="0" name="prst_diamond"/>
          <p:cNvSpPr/>
          <p:nvPr/>
        </p:nvSpPr>
        <p:spPr>
          <a:xfrm>
            <a:off x="1981200" y="457200"/>
            <a:ext cx="1143000" cy="1143000"/>
          </a:xfrm>
          <a:prstGeom prst="diamond">
            <a:avLst/>
          </a:prstGeom>
          <a:solidFill>
            <a:srgbClr val="4ECD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diamond</a:t>
            </a:r>
          </a:p>
        </p:txBody>
      </p:sp>
      <p:sp>
        <p:nvSpPr>
          <p:cNvPr id="0" name="prst_pentagon"/>
          <p:cNvSpPr/>
          <p:nvPr/>
        </p:nvSpPr>
        <p:spPr>
          <a:xfrm>
            <a:off x="3505200" y="457200"/>
            <a:ext cx="1143000" cy="1143000"/>
          </a:xfrm>
          <a:prstGeom prst="pentagon">
            <a:avLst/>
          </a:prstGeom>
          <a:solidFill>
            <a:srgbClr val="FFD93D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pentagon</a:t>
            </a:r>
          </a:p>
        </p:txBody>
      </p:sp>
      <p:sp>
        <p:nvSpPr>
          <p:cNvPr id="0" name="prst_hexagon"/>
          <p:cNvSpPr/>
          <p:nvPr/>
        </p:nvSpPr>
        <p:spPr>
          <a:xfrm>
            <a:off x="5029200" y="457200"/>
            <a:ext cx="1143000" cy="1143000"/>
          </a:xfrm>
          <a:prstGeom prst="hexagon">
            <a:avLst/>
          </a:prstGeom>
          <a:solidFill>
            <a:srgbClr val="6C5CE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hexagon</a:t>
            </a:r>
          </a:p>
        </p:txBody>
      </p:sp>
      <p:sp>
        <p:nvSpPr>
          <p:cNvPr id="0" name="prst_rightArrow"/>
          <p:cNvSpPr/>
          <p:nvPr/>
        </p:nvSpPr>
        <p:spPr>
          <a:xfrm>
            <a:off x="6553200" y="457200"/>
            <a:ext cx="1143000" cy="1143000"/>
          </a:xfrm>
          <a:prstGeom prst="rightArrow">
            <a:avLst/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prst_star5"/>
          <p:cNvSpPr/>
          <p:nvPr/>
        </p:nvSpPr>
        <p:spPr>
          <a:xfrm>
            <a:off x="8077200" y="457200"/>
            <a:ext cx="1143000" cy="1143000"/>
          </a:xfrm>
          <a:prstGeom prst="star5">
            <a:avLst/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0" name="prst_heart"/>
          <p:cNvSpPr/>
          <p:nvPr/>
        </p:nvSpPr>
        <p:spPr>
          <a:xfrm>
            <a:off x="457200" y="2286000"/>
            <a:ext cx="1143000" cy="1143000"/>
          </a:xfrm>
          <a:prstGeom prst="heart">
            <a:avLst/>
          </a:prstGeom>
          <a:solidFill>
            <a:srgbClr val="E1705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heart</a:t>
            </a:r>
          </a:p>
        </p:txBody>
      </p:sp>
      <p:sp>
        <p:nvSpPr>
          <p:cNvPr id="0" name="prst_plus"/>
          <p:cNvSpPr/>
          <p:nvPr/>
        </p:nvSpPr>
        <p:spPr>
          <a:xfrm>
            <a:off x="1981200" y="2286000"/>
            <a:ext cx="1143000" cy="1143000"/>
          </a:xfrm>
          <a:prstGeom prst="plus">
            <a:avLst/>
          </a:prstGeom>
          <a:solidFill>
            <a:srgbClr val="00CEC9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plus</a:t>
            </a:r>
          </a:p>
        </p:txBody>
      </p:sp>
      <p:sp>
        <p:nvSpPr>
          <p:cNvPr id="0" name="prst_flowChartDecision"/>
          <p:cNvSpPr/>
          <p:nvPr/>
        </p:nvSpPr>
        <p:spPr>
          <a:xfrm>
            <a:off x="3505200" y="2286000"/>
            <a:ext cx="1143000" cy="1143000"/>
          </a:xfrm>
          <a:prstGeom prst="flowChartDecision">
            <a:avLst/>
          </a:prstGeom>
          <a:solidFill>
            <a:srgbClr val="A29BF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flowChartDecision</a:t>
            </a:r>
          </a:p>
        </p:txBody>
      </p:sp>
      <p:sp>
        <p:nvSpPr>
          <p:cNvPr id="0" name="prst_chevron"/>
          <p:cNvSpPr/>
          <p:nvPr/>
        </p:nvSpPr>
        <p:spPr>
          <a:xfrm>
            <a:off x="5029200" y="2286000"/>
            <a:ext cx="1143000" cy="1143000"/>
          </a:xfrm>
          <a:prstGeom prst="chevron">
            <a:avLst/>
          </a:prstGeom>
          <a:solidFill>
            <a:srgbClr val="55EF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chevron</a:t>
            </a:r>
          </a:p>
        </p:txBody>
      </p:sp>
      <p:sp>
        <p:nvSpPr>
          <p:cNvPr id="0" name="prst_parallelogram"/>
          <p:cNvSpPr/>
          <p:nvPr/>
        </p:nvSpPr>
        <p:spPr>
          <a:xfrm>
            <a:off x="6553200" y="2286000"/>
            <a:ext cx="1143000" cy="1143000"/>
          </a:xfrm>
          <a:prstGeom prst="parallelogram">
            <a:avLst/>
          </a:prstGeom>
          <a:solidFill>
            <a:srgbClr val="FF767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parallelogram</a:t>
            </a:r>
          </a:p>
        </p:txBody>
      </p:sp>
      <p:sp>
        <p:nvSpPr>
          <p:cNvPr id="0" name="prst_octagon"/>
          <p:cNvSpPr/>
          <p:nvPr/>
        </p:nvSpPr>
        <p:spPr>
          <a:xfrm>
            <a:off x="8077200" y="2286000"/>
            <a:ext cx="1143000" cy="1143000"/>
          </a:xfrm>
          <a:prstGeom prst="octagon">
            <a:avLst/>
          </a:prstGeom>
          <a:solidFill>
            <a:srgbClr val="FFEAA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octagon</a:t>
            </a:r>
          </a:p>
        </p:txBody>
      </p:sp>
      <p:sp>
        <p:nvSpPr>
          <p:cNvPr id="0" name="rightArrow_adj"/>
          <p:cNvSpPr/>
          <p:nvPr/>
        </p:nvSpPr>
        <p:spPr>
          <a:xfrm>
            <a:off x="457200" y="4114800"/>
            <a:ext cx="2286000" cy="914400"/>
          </a:xfrm>
          <a:prstGeom prst="rightArrow">
            <a:avLst>
              <a:gd name="adj1" fmla="val 70000"/>
              <a:gd name="adj2" fmla="val 30000"/>
            </a:avLst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star5_adj"/>
          <p:cNvSpPr/>
          <p:nvPr/>
        </p:nvSpPr>
        <p:spPr>
          <a:xfrm>
            <a:off x="3200400" y="4114800"/>
            <a:ext cx="1143000" cy="1143000"/>
          </a:xfrm>
          <a:prstGeom prst="star5">
            <a:avLst>
              <a:gd name="adj" fmla="val 40000"/>
            </a:avLst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Preset geometry: triangle, diamond, pentagon, hexagon, rightArrow, star5, heart, plus, flowChartDecision, chevron, parallelogram, octagon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CustomStar"/>
          <p:cNvSpPr/>
          <p:nvPr/>
        </p:nvSpPr>
        <p:spPr>
          <a:xfrm>
            <a:off x="457200" y="457200"/>
            <a:ext cx="1828800" cy="1828800"/>
          </a:xfrm>
          <a:custGeom>
            <a:avLst/>
            <a:gdLst/>
            <a:pathLst>
              <a:path w="200" h="200">
                <a:moveTo>
                  <a:pt x="100" y="0"/>
                </a:moveTo>
                <a:lnTo>
                  <a:pt x="130" y="70"/>
                </a:lnTo>
                <a:lnTo>
                  <a:pt x="200" y="80"/>
                </a:lnTo>
                <a:lnTo>
                  <a:pt x="150" y="130"/>
                </a:lnTo>
                <a:lnTo>
                  <a:pt x="160" y="200"/>
                </a:lnTo>
                <a:lnTo>
                  <a:pt x="100" y="170"/>
                </a:lnTo>
                <a:lnTo>
                  <a:pt x="40" y="200"/>
                </a:lnTo>
                <a:lnTo>
                  <a:pt x="50" y="130"/>
                </a:lnTo>
                <a:lnTo>
                  <a:pt x="0" y="80"/>
                </a:lnTo>
                <a:lnTo>
                  <a:pt x="70" y="70"/>
                </a:lnTo>
                <a:close/>
              </a:path>
            </a:pathLst>
          </a:custGeom>
          <a:solidFill>
            <a:srgbClr val="FFD700"/>
          </a:solidFill>
          <a:ln w="19050">
            <a:solidFill>
              <a:srgbClr val="B8860B"/>
            </a:solidFill>
          </a:ln>
        </p:spPr>
      </p:sp>
      <p:sp>
        <p:nvSpPr>
          <p:cNvPr id="101" name="CustomCurve"/>
          <p:cNvSpPr/>
          <p:nvPr/>
        </p:nvSpPr>
        <p:spPr>
          <a:xfrm>
            <a:off x="2743200" y="457200"/>
            <a:ext cx="1828800" cy="1828800"/>
          </a:xfrm>
          <a:custGeom>
            <a:avLst/>
            <a:gdLst/>
            <a:pathLst>
              <a:path w="100" h="100">
                <a:moveTo>
                  <a:pt x="0" y="100"/>
                </a:moveTo>
                <a:cubicBezTo>
                  <a:pt x="0" y="0"/>
                  <a:pt x="100" y="0"/>
                  <a:pt x="100" y="100"/>
                </a:cubicBezTo>
                <a:close/>
              </a:path>
            </a:pathLst>
          </a:custGeom>
          <a:solidFill>
            <a:srgbClr val="87CEEB"/>
          </a:solidFill>
          <a:ln w="12700">
            <a:solidFill>
              <a:srgbClr val="4169E1"/>
            </a:solidFill>
          </a:ln>
        </p:spPr>
      </p:sp>
      <p:sp>
        <p:nvSpPr>
          <p:cNvPr id="102" name="CustomGuide"/>
          <p:cNvSpPr/>
          <p:nvPr/>
        </p:nvSpPr>
        <p:spPr>
          <a:xfrm>
            <a:off x="5029200" y="457200"/>
            <a:ext cx="1828800" cy="1828800"/>
          </a:xfrm>
          <a:custGeom>
            <a:avLst>
              <a:gd name="adj" fmla="val 50000"/>
            </a:avLst>
            <a:gdLst>
              <a:gd name="x1" fmla="*/ w adj 100000"/>
              <a:gd name="y1" fmla="*/ h adj 100000"/>
            </a:gdLst>
            <a:pathLst>
              <a:path>
                <a:moveTo>
                  <a:pt x="0" y="0"/>
                </a:moveTo>
                <a:lnTo>
                  <a:pt x="x1" y="0"/>
                </a:lnTo>
                <a:lnTo>
                  <a:pt x="x1" y="y1"/>
                </a:lnTo>
                <a:lnTo>
                  <a:pt x="0" y="y1"/>
                </a:lnTo>
                <a:close/>
              </a:path>
            </a:pathLst>
          </a:custGeom>
          <a:solidFill>
            <a:srgbClr val="98FB98"/>
          </a:solidFill>
          <a:ln w="12700">
            <a:solidFill>
              <a:srgbClr val="228B22"/>
            </a:solidFill>
          </a:ln>
        </p:spPr>
      </p:sp>
      <p:sp>
        <p:nvSpPr>
          <p:cNvPr id="103" name="TextBox 102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Custom geometry (a:custGeom): freeform star, bezier curve, guide-based rect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1" name="Gear6"/>
          <p:cNvSpPr/>
          <p:nvPr/>
        </p:nvSpPr>
        <p:spPr>
          <a:xfrm>
            <a:off x="457200" y="457200"/>
            <a:ext cx="2286000" cy="2286000"/>
          </a:xfrm>
          <a:prstGeom prst="gear6">
            <a:avLst/>
          </a:prstGeom>
          <a:solidFill>
            <a:srgbClr val="4472C4"/>
          </a:solidFill>
          <a:ln w="12700">
            <a:solidFill>
              <a:srgbClr val="2F528F"/>
            </a:solidFill>
          </a:ln>
        </p:spPr>
      </p:sp>
      <p:sp>
        <p:nvSpPr>
          <p:cNvPr id="202" name="Gear9"/>
          <p:cNvSpPr/>
          <p:nvPr/>
        </p:nvSpPr>
        <p:spPr>
          <a:xfrm>
            <a:off x="3429000" y="457200"/>
            <a:ext cx="2286000" cy="2286000"/>
          </a:xfrm>
          <a:prstGeom prst="gear9">
            <a:avLst/>
          </a:prstGeom>
          <a:solidFill>
            <a:srgbClr val="ED7D31"/>
          </a:solidFill>
          <a:ln w="12700">
            <a:solidFill>
              <a:srgbClr val="AE5A21"/>
            </a:solidFill>
          </a:ln>
        </p:spPr>
      </p:sp>
      <p:sp>
        <p:nvSpPr>
          <p:cNvPr id="203" name="Gear6Deep"/>
          <p:cNvSpPr/>
          <p:nvPr/>
        </p:nvSpPr>
        <p:spPr>
          <a:xfrm>
            <a:off x="6400800" y="457200"/>
            <a:ext cx="2286000" cy="2286000"/>
          </a:xfrm>
          <a:prstGeom prst="gear6">
            <a:avLst>
              <a:gd name="adj" fmla="val 50000"/>
            </a:avLst>
          </a:prstGeom>
          <a:solidFill>
            <a:srgbClr val="70AD47"/>
          </a:solidFill>
          <a:ln w="12700">
            <a:solidFill>
              <a:srgbClr val="507E32"/>
            </a:solidFill>
          </a:ln>
        </p:spPr>
      </p:sp>
      <p:sp>
        <p:nvSpPr>
          <p:cNvPr id="204" name="TextBox 2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Gear shapes: gear6 (default), gear9 (default), gear6 (adj=50000 deeper teeth)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Triangle"/>
          <p:cNvSpPr/>
          <p:nvPr/>
        </p:nvSpPr>
        <p:spPr>
          <a:xfrm>
            <a:off x="457200" y="457200"/>
            <a:ext cx="2286000" cy="2286000"/>
          </a:xfrm>
          <a:prstGeom prst="triangle">
            <a:avLst/>
          </a:prstGeom>
          <a:solidFill>
            <a:srgbClr val="FFD700"/>
          </a:solidFill>
          <a:ln w="12700">
            <a:solidFill>
              <a:srgbClr val="B8860B"/>
            </a:solidFill>
          </a:ln>
        </p:spPr>
        <p:txBody>
          <a:bodyPr anchor="ctr"/>
          <a:lstStyle/>
          <a:p>
            <a:pPr algn="ctr"/>
            <a:r>
              <a:rPr lang="en-US" sz="1400"/>
              <a:t>Text in Triangle</a:t>
            </a:r>
          </a:p>
        </p:txBody>
      </p:sp>
      <p:sp>
        <p:nvSpPr>
          <p:cNvPr id="302" name="Diamond"/>
          <p:cNvSpPr/>
          <p:nvPr/>
        </p:nvSpPr>
        <p:spPr>
          <a:xfrm>
            <a:off x="3429000" y="457200"/>
            <a:ext cx="2286000" cy="2286000"/>
          </a:xfrm>
          <a:prstGeom prst="diamond">
            <a:avLst/>
          </a:prstGeom>
          <a:solidFill>
            <a:srgbClr val="87CEEB"/>
          </a:solidFill>
          <a:ln w="12700">
            <a:solidFill>
              <a:srgbClr val="4682B4"/>
            </a:solidFill>
          </a:ln>
        </p:spPr>
        <p:txBody>
          <a:bodyPr anchor="ctr"/>
          <a:lstStyle/>
          <a:p>
            <a:pPr algn="ctr"/>
            <a:r>
              <a:rPr lang="en-US" sz="1400"/>
              <a:t>Diamond</a:t>
            </a:r>
          </a:p>
        </p:txBody>
      </p:sp>
      <p:sp>
        <p:nvSpPr>
          <p:cNvPr id="303" name="RightArrow"/>
          <p:cNvSpPr/>
          <p:nvPr/>
        </p:nvSpPr>
        <p:spPr>
          <a:xfrm>
            <a:off x="6400800" y="914400"/>
            <a:ext cx="2743200" cy="1371600"/>
          </a:xfrm>
          <a:prstGeom prst="rightArrow">
            <a:avLst/>
          </a:prstGeom>
          <a:solidFill>
            <a:srgbClr val="FF6347"/>
          </a:solidFill>
          <a:ln w="12700">
            <a:solidFill>
              <a:srgbClr val="8B0000"/>
            </a:solidFill>
          </a:ln>
        </p:spPr>
        <p:txBody>
          <a:bodyPr anchor="ctr"/>
          <a:lstStyle/>
          <a:p>
            <a:pPr algn="ctr"/>
            <a:r>
              <a:rPr lang="en-US" sz="1400"/>
              <a:t>Arrow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Text rectangles: triangle (text in lower half), diamond (text inscribed), right arrow (text in shaft)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Rect1"/>
          <p:cNvSpPr/>
          <p:nvPr/>
        </p:nvSpPr>
        <p:spPr>
          <a:xfrm>
            <a:off x="914400" y="914400"/>
            <a:ext cx="1828800" cy="13716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402" name="Rect2"/>
          <p:cNvSpPr/>
          <p:nvPr/>
        </p:nvSpPr>
        <p:spPr>
          <a:xfrm>
            <a:off x="5486400" y="914400"/>
            <a:ext cx="1828800" cy="1371600"/>
          </a:xfrm>
          <a:prstGeom prst="rect">
            <a:avLst/>
          </a:prstGeom>
          <a:solidFill>
            <a:srgbClr val="ED7D31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End</a:t>
            </a:r>
          </a:p>
        </p:txBody>
      </p:sp>
      <p:cxnSp>
        <p:nvCxnSpPr>
          <p:cNvPr id="403" name="Connector"/>
          <p:cNvCxnSpPr>
            <a:stCxn id="401" idx="3"/>
            <a:endCxn id="402" idx="1"/>
          </p:cNvCxnSpPr>
          <p:nvPr/>
        </p:nvCxnSpPr>
        <p:spPr>
          <a:xfrm>
            <a:off x="2743200" y="1600200"/>
            <a:ext cx="2743200" cy="0"/>
          </a:xfrm>
          <a:prstGeom prst="straightConnector1">
            <a:avLst/>
          </a:prstGeom>
          <a:ln w="25400">
            <a:solidFill>
              <a:srgbClr val="333333"/>
            </a:solidFill>
            <a:tailEnd type="triangle"/>
          </a:ln>
        </p:spPr>
      </p:cxnSp>
      <p:sp>
        <p:nvSpPr>
          <p:cNvPr id="404" name="CustomWithCxn"/>
          <p:cNvSpPr/>
          <p:nvPr/>
        </p:nvSpPr>
        <p:spPr>
          <a:xfrm>
            <a:off x="3200400" y="3429000"/>
            <a:ext cx="2286000" cy="1828800"/>
          </a:xfrm>
          <a:custGeom>
            <a:avLst/>
            <a:gd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l" t="t" r="r" b="b"/>
            <a:pathLst>
              <a:path w="100" h="100">
                <a:moveTo>
                  <a:pt x="50" y="0"/>
                </a:moveTo>
                <a:lnTo>
                  <a:pt x="100" y="50"/>
                </a:lnTo>
                <a:lnTo>
                  <a:pt x="50" y="100"/>
                </a:lnTo>
                <a:lnTo>
                  <a:pt x="0" y="50"/>
                </a:lnTo>
                <a:close/>
              </a:path>
            </a:pathLst>
          </a:custGeom>
          <a:solidFill>
            <a:srgbClr val="9370DB"/>
          </a:solidFill>
          <a:ln w="12700">
            <a:solidFill>
              <a:srgbClr val="4B0082"/>
            </a:solidFill>
          </a:ln>
        </p:spPr>
      </p:sp>
      <p:sp>
        <p:nvSpPr>
          <p:cNvPr id="405" name="TextBox 404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Connection points: connector with stCxn/endCxn refs, custom geom with a:cxnLst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