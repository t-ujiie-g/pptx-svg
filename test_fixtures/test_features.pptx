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ommentAuthors.xml" ContentType="application/vnd.openxmlformats-officedocument.presentationml.commentAuthors+xml"/>
  <Override PartName="/ppt/comments/comment74.xml" ContentType="application/vnd.openxmlformats-officedocument.presentationml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p="http://schemas.openxmlformats.org/presentationml/2006/main">
  <p:cmAuthor id="1" name="Test User" initials="TU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notesMaster" Target="notesMasters/notesMaster1.xml"/><Relationship Id="rId82" Type="http://schemas.openxmlformats.org/officeDocument/2006/relationships/commentAuthors" Target="commentAuthors.xml"/><Relationship Id="rId83" Type="http://schemas.openxmlformats.org/officeDocument/2006/relationships/slide" Target="slides/slide7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 2024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150</c:v>
                </c:pt>
                <c:pt idx="2">
                  <c:v>180</c:v>
                </c:pt>
                <c:pt idx="3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Sales 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130</c:v>
                </c:pt>
                <c:pt idx="2">
                  <c:v>160</c:v>
                </c:pt>
                <c:pt idx="3">
                  <c:v>190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105</c:v>
                </c:pt>
                <c:pt idx="4">
                  <c:v>130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65</c:v>
                </c:pt>
                <c:pt idx="2">
                  <c:v>70</c:v>
                </c:pt>
                <c:pt idx="3">
                  <c:v>75</c:v>
                </c:pt>
                <c:pt idx="4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35</c:v>
                </c:pt>
                <c:pt idx="2">
                  <c:v>15</c:v>
                </c:pt>
                <c:pt idx="3">
                  <c:v>5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 Sold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</c:v>
                </c:pt>
                <c:pt idx="1">
                  <c:v>180</c:v>
                </c:pt>
                <c:pt idx="2">
                  <c:v>320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Yes</c:v>
                </c:pt>
                <c:pt idx="1">
                  <c:v>No</c:v>
                </c:pt>
                <c:pt idx="2">
                  <c:v>Maybe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410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Browser Share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Chrome</c:v>
                </c:pt>
                <c:pt idx="1">
                  <c:v>Firefox</c:v>
                </c:pt>
                <c:pt idx="2">
                  <c:v>Safari</c:v>
                </c:pt>
                <c:pt idx="3">
                  <c:v>Edge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</c:v>
                </c:pt>
                <c:pt idx="1">
                  <c:v>10</c:v>
                </c:pt>
                <c:pt idx="2">
                  <c:v>18</c:v>
                </c:pt>
                <c:pt idx="3">
                  <c:v>5</c:v>
                </c:pt>
                <c:pt idx="4">
                  <c:v>2</c:v>
                </c:pt>
              </c:numCache>
            </c:numRef>
          </c:val>
          <c:dPt>
            <c:idx val="0"/>
            <c:spPr>
              <a:solidFill>
                <a:srgbClr val="4285F4"/>
              </a:solidFill>
            </c:spPr>
          </c:dPt>
          <c:dPt>
            <c:idx val="1"/>
            <c:spPr>
              <a:solidFill>
                <a:srgbClr val="FF7139"/>
              </a:solidFill>
            </c:spPr>
          </c:dPt>
          <c:dPt>
            <c:idx val="2"/>
            <c:spPr>
              <a:solidFill>
                <a:srgbClr val="000000"/>
              </a:solidFill>
            </c:spPr>
          </c:dPt>
          <c:dPt>
            <c:idx val="3"/>
            <c:spPr>
              <a:solidFill>
                <a:srgbClr val="0078D4"/>
              </a:solidFill>
            </c:spPr>
          </c:dPt>
          <c:dPt>
            <c:idx val="4"/>
            <c:spPr>
              <a:solidFill>
                <a:srgbClr val="888888"/>
              </a:solidFill>
            </c:spPr>
          </c:dPt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>
              <a:solidFill>
                <a:srgbClr val="0088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FF00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45</c:v>
                </c:pt>
                <c:pt idx="3">
                  <c:v>60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Group A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50</c:v>
                </c:pt>
                <c:pt idx="3">
                  <c:v>70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50</c:v>
                </c:pt>
                <c:pt idx="2">
                  <c:v>40</c:v>
                </c:pt>
                <c:pt idx="3">
                  <c:v>80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Group B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Sheet1!$A$8:$A$11</c:f>
              <c:numCache>
                <c:formatCode>General</c:formatCode>
                <c:ptCount val="4"/>
                <c:pt idx="0">
                  <c:v>15</c:v>
                </c:pt>
                <c:pt idx="1">
                  <c:v>35</c:v>
                </c:pt>
                <c:pt idx="2">
                  <c:v>55</c:v>
                </c:pt>
                <c:pt idx="3">
                  <c:v>75</c:v>
                </c:pt>
              </c:numCache>
            </c:numRef>
          </c:xVal>
          <c:yVal>
            <c:numRef>
              <c:f>Sheet1!$B$8:$B$11</c:f>
              <c:numCache>
                <c:formatCode>General</c:formatCode>
                <c:ptCount val="4"/>
                <c:pt idx="0">
                  <c:v>60</c:v>
                </c:pt>
                <c:pt idx="1">
                  <c:v>30</c:v>
                </c:pt>
                <c:pt idx="2">
                  <c:v>70</c:v>
                </c:pt>
                <c:pt idx="3">
                  <c:v>45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180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80</c:v>
                </c:pt>
                <c:pt idx="1">
                  <c:v>100</c:v>
                </c:pt>
                <c:pt idx="2">
                  <c:v>130</c:v>
                </c:pt>
                <c:pt idx="3">
                  <c:v>110</c:v>
                </c:pt>
                <c:pt idx="4">
                  <c:v>170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Character A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</c:v>
                </c:pt>
                <c:pt idx="1">
                  <c:v>12</c:v>
                </c:pt>
                <c:pt idx="2">
                  <c:v>14</c:v>
                </c:pt>
                <c:pt idx="3">
                  <c:v>10</c:v>
                </c:pt>
                <c:pt idx="4">
                  <c:v>8</c:v>
                </c:pt>
                <c:pt idx="5">
                  <c:v>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Character B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8</c:v>
                </c:pt>
                <c:pt idx="3">
                  <c:v>15</c:v>
                </c:pt>
                <c:pt idx="4">
                  <c:v>14</c:v>
                </c:pt>
                <c:pt idx="5">
                  <c:v>12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/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 X</c:v>
                </c:pt>
              </c:strCache>
            </c:strRef>
          </c:tx>
          <c:invertIfNegative val="0"/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60</c:v>
                </c:pt>
                <c:pt idx="2">
                  <c:v>30</c:v>
                </c:pt>
                <c:pt idx="3">
                  <c:v>70</c:v>
                </c:pt>
              </c:numCache>
            </c:numRef>
          </c:yVal>
          <c:bubbleSize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10</c:v>
                </c:pt>
                <c:pt idx="3">
                  <c:v>25</c:v>
                </c:pt>
              </c:numCache>
            </c:numRef>
          </c:bubbleSize>
          <c:bubble3D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Product Y</c:v>
                </c:pt>
              </c:strCache>
            </c:strRef>
          </c:tx>
          <c:invertIfNegative val="0"/>
          <c:xVal>
            <c:numRef>
              <c:f>Sheet1!$A$8:$A$10</c:f>
              <c:numCache>
                <c:formatCode>General</c:formatCode>
                <c:ptCount val="3"/>
                <c:pt idx="0">
                  <c:v>15</c:v>
                </c:pt>
                <c:pt idx="1">
                  <c:v>30</c:v>
                </c:pt>
                <c:pt idx="2">
                  <c:v>50</c:v>
                </c:pt>
              </c:numCache>
            </c:numRef>
          </c:xVal>
          <c:yVal>
            <c:numRef>
              <c:f>Sheet1!$B$8:$B$10</c:f>
              <c:numCache>
                <c:formatCode>General</c:formatCode>
                <c:ptCount val="3"/>
                <c:pt idx="0">
                  <c:v>55</c:v>
                </c:pt>
                <c:pt idx="1">
                  <c:v>35</c:v>
                </c:pt>
                <c:pt idx="2">
                  <c:v>50</c:v>
                </c:pt>
              </c:numCache>
            </c:numRef>
          </c:yVal>
          <c:bubbleSize>
            <c:numRef>
              <c:f>Sheet1!$C$8:$C$10</c:f>
              <c:numCache>
                <c:formatCode>General</c:formatCode>
                <c:ptCount val="3"/>
                <c:pt idx="0">
                  <c:v>20</c:v>
                </c:pt>
                <c:pt idx="1">
                  <c:v>12</c:v>
                </c:pt>
                <c:pt idx="2">
                  <c:v>35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-2115720072"/>
        <c:axId val="-2115723560"/>
      </c:bubbleChart>
      <c:valAx>
        <c:axId val="-21157200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15723560"/>
        <c:crosses val="autoZero"/>
        <c:crossBetween val="midCat"/>
      </c:valAx>
      <c:valAx>
        <c:axId val="-211572356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157200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  <c:pt idx="3">
                  <c:v>Day 4</c:v>
                </c:pt>
                <c:pt idx="4">
                  <c:v>Day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105</c:v>
                </c:pt>
                <c:pt idx="2">
                  <c:v>98</c:v>
                </c:pt>
                <c:pt idx="3">
                  <c:v>110</c:v>
                </c:pt>
                <c:pt idx="4">
                  <c:v>108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115</c:v>
                </c:pt>
                <c:pt idx="1">
                  <c:v>118</c:v>
                </c:pt>
                <c:pt idx="2">
                  <c:v>112</c:v>
                </c:pt>
                <c:pt idx="3">
                  <c:v>120</c:v>
                </c:pt>
                <c:pt idx="4">
                  <c:v>122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Low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95</c:v>
                </c:pt>
                <c:pt idx="1">
                  <c:v>100</c:v>
                </c:pt>
                <c:pt idx="2">
                  <c:v>90</c:v>
                </c:pt>
                <c:pt idx="3">
                  <c:v>105</c:v>
                </c:pt>
                <c:pt idx="4">
                  <c:v>102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Close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108</c:v>
                </c:pt>
                <c:pt idx="1">
                  <c:v>102</c:v>
                </c:pt>
                <c:pt idx="2">
                  <c:v>107</c:v>
                </c:pt>
                <c:pt idx="3">
                  <c:v>115</c:v>
                </c:pt>
                <c:pt idx="4">
                  <c:v>118</c:v>
                </c:pt>
              </c:numCache>
            </c:numRef>
          </c:val>
        </c:ser>
        <c:axId val="10000001"/>
        <c:axId val="10000002"/>
      </c:stockChart>
      <c:catAx>
        <c:axId val="10000001"/>
        <c:scaling>
          <c:orientation val="minMax"/>
        </c:scaling>
        <c:delete val="0"/>
        <c:axPos val="b"/>
        <c:crossAx val="10000002"/>
      </c:catAx>
      <c:valAx>
        <c:axId val="10000002"/>
        <c:scaling>
          <c:orientation val="minMax"/>
        </c:scaling>
        <c:delete val="0"/>
        <c:axPos val="l"/>
        <c:crossAx val="10000001"/>
        <c:majorGridlines/>
      </c:valAx>
    </c:plotArea>
    <c:dispBlanksAs val="gap"/>
    <c:legend>
      <c:legendPos val="r"/>
      <c:overlay val="0"/>
    </c:legend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50</c:v>
                </c:pt>
                <c:pt idx="2">
                  <c:v>40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X</c:v>
                </c:pt>
                <c:pt idx="1">
                  <c:v>Y</c:v>
                </c:pt>
                <c:pt idx="2">
                  <c:v>Z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25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</c:v>
                </c:pt>
                <c:pt idx="1">
                  <c:v>Q</c:v>
                </c:pt>
                <c:pt idx="2">
                  <c:v>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40</c:v>
                </c:pt>
                <c:pt idx="2">
                  <c:v>35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5</c:v>
                </c:pt>
                <c:pt idx="1">
                  <c:v>15</c:v>
                </c:pt>
                <c:pt idx="2">
                  <c:v>25</c:v>
                </c:pt>
                <c:pt idx="3">
                  <c:v>35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35</c:v>
                </c:pt>
                <c:pt idx="2">
                  <c:v>28</c:v>
                </c:pt>
                <c:pt idx="3">
                  <c:v>45</c:v>
                </c:pt>
                <c:pt idx="4">
                  <c:v>52</c:v>
                </c:pt>
                <c:pt idx="5">
                  <c:v>60</c:v>
                </c:pt>
              </c:numCache>
            </c:numRef>
          </c:val>
          <c:smooth val="0"/>
          <c:trendline>
            <c:trendlineType val="linear"/>
            <c:spPr>
              <a:ln w="12700">
                <a:solidFill>
                  <a:srgbClr val="FF0000"/>
                </a:solidFill>
                <a:prstDash val="dash"/>
              </a:ln>
            </c:spPr>
          </c:trendline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Measurement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Group A</c:v>
                </c:pt>
                <c:pt idx="1">
                  <c:v>Group B</c:v>
                </c:pt>
                <c:pt idx="2">
                  <c:v>Group C</c:v>
                </c:pt>
                <c:pt idx="3">
                  <c:v>Group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</c:v>
                </c:pt>
                <c:pt idx="1">
                  <c:v>92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  <c:errBars>
            <c:errDir val="y"/>
            <c:errBarType val="both"/>
            <c:errValType val="fixedVal"/>
            <c:val val="8"/>
          </c:errBars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300</c:v>
                </c:pt>
                <c:pt idx="1">
                  <c:v>350</c:v>
                </c:pt>
                <c:pt idx="2">
                  <c:v>400</c:v>
                </c:pt>
                <c:pt idx="3">
                  <c:v>450</c:v>
                </c:pt>
              </c:numCache>
            </c:numRef>
          </c:val>
        </c:ser>
        <c:axId val="-2068027336"/>
        <c:axId val="-2113994440"/>
      </c:barChart>
      <c:lineChart>
        <c:grouping val="standard"/>
        <c:ser>
          <c:idx val="1"/>
          <c:order val="1"/>
          <c:tx>
            <c:strRef>
              <c:f>Sheet1!$C$1</c:f>
              <c:strCache>
                <c:ptCount val="1"/>
                <c:pt idx="0">
                  <c:v>Profit</c:v>
                </c:pt>
              </c:strCache>
            </c:strRef>
          </c:tx>
          <c:spPr>
            <a:ln w="25400">
              <a:solidFill>
                <a:srgbClr val="FF0000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120</c:v>
                </c:pt>
                <c:pt idx="2">
                  <c:v>150</c:v>
                </c:pt>
                <c:pt idx="3">
                  <c:v>200</c:v>
                </c:pt>
              </c:numCache>
            </c:numRef>
          </c:val>
        </c:ser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15"/>
      <c:rotY val="20"/>
      <c:depthPercent val="100"/>
      <c:rAngAx val="1"/>
      <c:perspective val="30"/>
    </c:view3D>
    <c:autoTitleDeleted val="0"/>
    <c:plotArea>
      <c:surfaceChart>
        <c:wireframe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Row 1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X1</c:v>
                </c:pt>
                <c:pt idx="1">
                  <c:v>X2</c:v>
                </c:pt>
                <c:pt idx="2">
                  <c:v>X3</c:v>
                </c:pt>
                <c:pt idx="3">
                  <c:v>X4</c:v>
                </c:pt>
                <c:pt idx="4">
                  <c:v>X5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30</c:v>
                </c:pt>
                <c:pt idx="4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Row 2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20</c:v>
                </c:pt>
                <c:pt idx="1">
                  <c:v>35</c:v>
                </c:pt>
                <c:pt idx="2">
                  <c:v>50</c:v>
                </c:pt>
                <c:pt idx="3">
                  <c:v>45</c:v>
                </c:pt>
                <c:pt idx="4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Row 3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35</c:v>
                </c:pt>
                <c:pt idx="1">
                  <c:v>50</c:v>
                </c:pt>
                <c:pt idx="2">
                  <c:v>60</c:v>
                </c:pt>
                <c:pt idx="3">
                  <c:v>55</c:v>
                </c:pt>
                <c:pt idx="4">
                  <c:v>40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Row 4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25</c:v>
                </c:pt>
                <c:pt idx="1">
                  <c:v>40</c:v>
                </c:pt>
                <c:pt idx="2">
                  <c:v>45</c:v>
                </c:pt>
                <c:pt idx="3">
                  <c:v>50</c:v>
                </c:pt>
                <c:pt idx="4">
                  <c:v>35</c:v>
                </c:pt>
              </c:numCache>
            </c:numRef>
          </c:val>
        </c:ser>
        <c:bandFmts/>
        <c:axId val="111111"/>
        <c:axId val="222222"/>
        <c:axId val="333333"/>
      </c:surfaceChart>
      <c:catAx>
        <c:axId val="111111"/>
        <c:scaling>
          <c:orientation val="minMax"/>
        </c:scaling>
        <c:delete val="0"/>
        <c:axPos val="b"/>
        <c:crossAx val="222222"/>
      </c:catAx>
      <c:valAx>
        <c:axId val="222222"/>
        <c:scaling>
          <c:orientation val="minMax"/>
        </c:scaling>
        <c:delete val="0"/>
        <c:axPos val="l"/>
        <c:crossAx val="111111"/>
        <c:majorGridlines/>
      </c:valAx>
      <c:serAx>
        <c:axId val="333333"/>
        <c:scaling>
          <c:orientation val="minMax"/>
        </c:scaling>
        <c:delete val="0"/>
        <c:axPos val="b"/>
        <c:crossAx val="222222"/>
      </c:ser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ofPieChart>
        <c:ofPieType val="pie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  <c:pt idx="3">
                  <c:v>Product D</c:v>
                </c:pt>
                <c:pt idx="4">
                  <c:v>Product 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25</c:v>
                </c:pt>
                <c:pt idx="2">
                  <c:v>15</c:v>
                </c:pt>
                <c:pt idx="3">
                  <c:v>12</c:v>
                </c:pt>
                <c:pt idx="4">
                  <c:v>8</c:v>
                </c:pt>
              </c:numCache>
            </c:numRef>
          </c:val>
        </c:ser>
        <c:gapWidth val="150"/>
        <c:splitPos val="2"/>
      </c:of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20"/>
      <c:rotY val="30"/>
      <c:depthPercent val="150"/>
      <c:rAngAx val="1"/>
      <c:perspective val="40"/>
    </c:view3D>
    <c:autoTitleDeleted val="0"/>
    <c:plotArea>
      <c:bar3D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200</c:v>
                </c:pt>
                <c:pt idx="1">
                  <c:v>180</c:v>
                </c:pt>
                <c:pt idx="2">
                  <c:v>140</c:v>
                </c:pt>
                <c:pt idx="3">
                  <c:v>160</c:v>
                </c:pt>
              </c:numCache>
            </c:numRef>
          </c:val>
        </c:ser>
        <c:axId val="-2068027336"/>
        <c:axId val="-2113994440"/>
      </c:bar3D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Male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Gender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Female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Gender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41.9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Product A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120</c:v>
                </c:pt>
                <c:pt idx="2">
                  <c:v>90</c:v>
                </c:pt>
                <c:pt idx="3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Product B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70</c:v>
                </c:pt>
                <c:pt idx="2">
                  <c:v>110</c:v>
                </c:pt>
                <c:pt idx="3">
                  <c:v>60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Product C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50</c:v>
                </c:pt>
                <c:pt idx="1">
                  <c:v>40</c:v>
                </c:pt>
                <c:pt idx="2">
                  <c:v>30</c:v>
                </c:pt>
                <c:pt idx="3">
                  <c:v>80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300</c:v>
                </c:pt>
                <c:pt idx="1">
                  <c:v>200</c:v>
                </c:pt>
                <c:pt idx="2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250</c:v>
                </c:pt>
                <c:pt idx="1">
                  <c:v>350</c:v>
                </c:pt>
                <c:pt idx="2">
                  <c:v>200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omments/comment74.xml><?xml version="1.0" encoding="utf-8"?>
<p:cmLst xmlns:p="http://schemas.openxmlformats.org/presentationml/2006/main">
  <p:cm authorId="1" dt="2025-01-15T10:30:00.000" idx="1">
    <p:pos x="100" y="200"/>
    <p:text>This is a test comment on slide 74.</p:text>
  </p:cm>
  <p:cm authorId="1" dt="2025-01-15T11:00:00.000" idx="2">
    <p:pos x="300" y="400"/>
    <p:text>Second comment with review feedback.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speaker notes for slide 74.</a:t>
            </a:r>
          </a:p>
          <a:p>
            <a:r>
              <a:t>Second paragraph of notes with key points.</a:t>
            </a:r>
          </a:p>
          <a:p>
            <a:r>
              <a:t>Remember to mention the round-trip preservation.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https://upload.wikimedia.org/wikipedia/commons/thumb/4/47/PNG_transparency_demonstration_1.png/280px-PNG_transparency_demonstration_1.png" TargetMode="External"/><Relationship Id="rId3" Type="http://schemas.openxmlformats.org/officeDocument/2006/relationships/image" Target="https://picsum.photos/id/237/200/300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shape-link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Relationship Id="rId4" Type="http://schemas.openxmlformats.org/officeDocument/2006/relationships/chart" Target="../charts/chart16.xml"/><Relationship Id="rId5" Type="http://schemas.openxmlformats.org/officeDocument/2006/relationships/chart" Target="../charts/chart17.xml"/><Relationship Id="rId6" Type="http://schemas.openxmlformats.org/officeDocument/2006/relationships/chart" Target="../charts/chart18.xml"/><Relationship Id="rId7" Type="http://schemas.openxmlformats.org/officeDocument/2006/relationships/chart" Target="../charts/chart1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omments" Target="../comments/comment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1" name="Gear6"/>
          <p:cNvSpPr/>
          <p:nvPr/>
        </p:nvSpPr>
        <p:spPr>
          <a:xfrm>
            <a:off x="457200" y="457200"/>
            <a:ext cx="2286000" cy="2286000"/>
          </a:xfrm>
          <a:prstGeom prst="gear6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202" name="Gear9"/>
          <p:cNvSpPr/>
          <p:nvPr/>
        </p:nvSpPr>
        <p:spPr>
          <a:xfrm>
            <a:off x="3429000" y="457200"/>
            <a:ext cx="2286000" cy="2286000"/>
          </a:xfrm>
          <a:prstGeom prst="gear9">
            <a:avLst/>
          </a:prstGeom>
          <a:solidFill>
            <a:srgbClr val="ED7D31"/>
          </a:solidFill>
          <a:ln w="12700">
            <a:solidFill>
              <a:srgbClr val="AE5A21"/>
            </a:solidFill>
          </a:ln>
        </p:spPr>
      </p:sp>
      <p:sp>
        <p:nvSpPr>
          <p:cNvPr id="203" name="Gear6Deep"/>
          <p:cNvSpPr/>
          <p:nvPr/>
        </p:nvSpPr>
        <p:spPr>
          <a:xfrm>
            <a:off x="6400800" y="457200"/>
            <a:ext cx="2286000" cy="2286000"/>
          </a:xfrm>
          <a:prstGeom prst="gear6">
            <a:avLst>
              <a:gd name="adj" fmla="val 50000"/>
            </a:avLst>
          </a:prstGeom>
          <a:solidFill>
            <a:srgbClr val="70AD47"/>
          </a:solidFill>
          <a:ln w="12700">
            <a:solidFill>
              <a:srgbClr val="507E32"/>
            </a:solidFill>
          </a:ln>
        </p:spPr>
      </p:sp>
      <p:sp>
        <p:nvSpPr>
          <p:cNvPr id="204" name="TextBox 2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Gear shapes: gear6 (default), gear9 (default), gear6 (adj=50000 deeper teeth)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Triangle"/>
          <p:cNvSpPr/>
          <p:nvPr/>
        </p:nvSpPr>
        <p:spPr>
          <a:xfrm>
            <a:off x="457200" y="457200"/>
            <a:ext cx="2286000" cy="2286000"/>
          </a:xfrm>
          <a:prstGeom prst="triangle">
            <a:avLst/>
          </a:prstGeom>
          <a:solidFill>
            <a:srgbClr val="FFD700"/>
          </a:solidFill>
          <a:ln w="12700"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400"/>
              <a:t>Text in Triangle</a:t>
            </a:r>
          </a:p>
        </p:txBody>
      </p:sp>
      <p:sp>
        <p:nvSpPr>
          <p:cNvPr id="302" name="Diamond"/>
          <p:cNvSpPr/>
          <p:nvPr/>
        </p:nvSpPr>
        <p:spPr>
          <a:xfrm>
            <a:off x="3429000" y="457200"/>
            <a:ext cx="2286000" cy="2286000"/>
          </a:xfrm>
          <a:prstGeom prst="diamond">
            <a:avLst/>
          </a:prstGeom>
          <a:solidFill>
            <a:srgbClr val="87CEEB"/>
          </a:solidFill>
          <a:ln w="12700">
            <a:solidFill>
              <a:srgbClr val="4682B4"/>
            </a:solidFill>
          </a:ln>
        </p:spPr>
        <p:txBody>
          <a:bodyPr anchor="ctr"/>
          <a:lstStyle/>
          <a:p>
            <a:pPr algn="ctr"/>
            <a:r>
              <a:rPr lang="en-US" sz="1400"/>
              <a:t>Diamond</a:t>
            </a:r>
          </a:p>
        </p:txBody>
      </p:sp>
      <p:sp>
        <p:nvSpPr>
          <p:cNvPr id="303" name="RightArrow"/>
          <p:cNvSpPr/>
          <p:nvPr/>
        </p:nvSpPr>
        <p:spPr>
          <a:xfrm>
            <a:off x="6400800" y="914400"/>
            <a:ext cx="2743200" cy="1371600"/>
          </a:xfrm>
          <a:prstGeom prst="rightArrow">
            <a:avLst/>
          </a:prstGeom>
          <a:solidFill>
            <a:srgbClr val="FF6347"/>
          </a:solidFill>
          <a:ln w="12700">
            <a:solidFill>
              <a:srgbClr val="8B0000"/>
            </a:solidFill>
          </a:ln>
        </p:spPr>
        <p:txBody>
          <a:bodyPr anchor="ctr"/>
          <a:lstStyle/>
          <a:p>
            <a:pPr algn="ctr"/>
            <a:r>
              <a:rPr lang="en-US" sz="1400"/>
              <a:t>Arrow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Text rectangles: triangle (text in lower half), diamond (text inscribed), right arrow (text in shaft)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Rect1"/>
          <p:cNvSpPr/>
          <p:nvPr/>
        </p:nvSpPr>
        <p:spPr>
          <a:xfrm>
            <a:off x="914400" y="914400"/>
            <a:ext cx="1828800" cy="13716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02" name="Rect2"/>
          <p:cNvSpPr/>
          <p:nvPr/>
        </p:nvSpPr>
        <p:spPr>
          <a:xfrm>
            <a:off x="5486400" y="914400"/>
            <a:ext cx="1828800" cy="1371600"/>
          </a:xfrm>
          <a:prstGeom prst="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403" name="Connector"/>
          <p:cNvCxnSpPr>
            <a:stCxn id="401" idx="3"/>
            <a:endCxn id="402" idx="1"/>
          </p:cNvCxnSpPr>
          <p:nvPr/>
        </p:nvCxnSpPr>
        <p:spPr>
          <a:xfrm>
            <a:off x="2743200" y="1600200"/>
            <a:ext cx="27432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404" name="CustomWithCxn"/>
          <p:cNvSpPr/>
          <p:nvPr/>
        </p:nvSpPr>
        <p:spPr>
          <a:xfrm>
            <a:off x="3200400" y="3429000"/>
            <a:ext cx="2286000" cy="1828800"/>
          </a:xfrm>
          <a:custGeom>
            <a:avLst/>
            <a:gd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l" t="t" r="r" b="b"/>
            <a:pathLst>
              <a:path w="100" h="100">
                <a:moveTo>
                  <a:pt x="50" y="0"/>
                </a:moveTo>
                <a:lnTo>
                  <a:pt x="100" y="50"/>
                </a:lnTo>
                <a:lnTo>
                  <a:pt x="50" y="100"/>
                </a:lnTo>
                <a:lnTo>
                  <a:pt x="0" y="50"/>
                </a:lnTo>
                <a:close/>
              </a:path>
            </a:pathLst>
          </a:custGeom>
          <a:solidFill>
            <a:srgbClr val="9370DB"/>
          </a:solidFill>
          <a:ln w="12700">
            <a:solidFill>
              <a:srgbClr val="4B0082"/>
            </a:solidFill>
          </a:ln>
        </p:spPr>
      </p:sp>
      <p:sp>
        <p:nvSpPr>
          <p:cNvPr id="405" name="TextBox 404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Connection points: connector with stCxn/endCxn refs, custom geom with a:cxnLst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00" name="Table41"/>
          <p:cNvGraphicFramePr>
            <a:graphicFrameLocks noGrp="1"/>
          </p:cNvGraphicFramePr>
          <p:nvPr/>
        </p:nvGraphicFramePr>
        <p:xfrm>
          <a:off x="457200" y="457200"/>
          <a:ext cx="8229600" cy="4572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!-- Row 1: horizontal merge (gridSpan=2) + custom borders -->
              <a:tr h="914400">
                <a:tc gridSpan="2">
                  <a:txBody>
                    <a:bodyPr/>
                    <a:lstStyle/>
                    <a:p>
                      <a:r>
                        <a:rPr lang="en-US" sz="1400" b="1"/>
                        <a:t>Merged 2 cols</a:t>
                      </a:r>
                    </a:p>
                  </a:txBody>
                  <a:tcPr marL="182880" marR="91440" marT="91440" marB="45720" anchor="ctr">
                    <a:lnL w="25400">
                      <a:solidFill>
                        <a:srgbClr val="FF0000"/>
                      </a:solidFill>
                    </a:lnL>
                    <a:lnR w="25400">
                      <a:solidFill>
                        <a:srgbClr val="0000FF"/>
                      </a:solidFill>
                    </a:lnR>
                    <a:lnT w="38100">
                      <a:solidFill>
                        <a:srgbClr val="00AA00"/>
                      </a:solidFill>
                    </a:lnT>
                    <a:lnB w="12700">
                      <a:solidFill>
                        <a:srgbClr val="FF8800"/>
                      </a:solidFill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 cell</a:t>
                      </a:r>
                    </a:p>
                  </a:txBody>
                  <a:tcPr anchor="b">
                    <a:lnL w="12700">
                      <a:solidFill>
                        <a:srgbClr val="333333"/>
                      </a:solidFill>
                    </a:lnL>
                    <a:lnR w="12700">
                      <a:solidFill>
                        <a:srgbClr val="333333"/>
                      </a:solidFill>
                    </a:lnR>
                    <a:lnT w="12700">
                      <a:solidFill>
                        <a:srgbClr val="333333"/>
                      </a:solidFill>
                    </a:lnT>
                    <a:lnB w="12700">
                      <a:solidFill>
                        <a:srgbClr val="333333"/>
                      </a:solidFill>
                    </a:lnB>
                    <a:solidFill>
                      <a:srgbClr val="FFFFDD"/>
                    </a:solidFill>
                  </a:tcPr>
                </a:tc>
              </a:tr>
              <!-- Row 2: vertical merge start (rowSpan=2) + noFill border -->
              <a:tr h="914400">
                <a:tc rowSpan="2">
                  <a:txBody>
                    <a:bodyPr/>
                    <a:lstStyle/>
                    <a:p>
                      <a:r>
                        <a:rPr lang="en-US" sz="1400" b="1"/>
                        <a:t>Merged 2 rows</a:t>
                      </a:r>
                    </a:p>
                  </a:txBody>
                  <a:tcPr anchor="ctr">
                    <a:lnL w="19050">
                      <a:solidFill>
                        <a:srgbClr val="9900CC"/>
                      </a:solidFill>
                    </a:lnL>
                    <a:lnR w="19050">
                      <a:solidFill>
                        <a:srgbClr val="9900CC"/>
                      </a:solidFill>
                    </a:lnR>
                    <a:lnT w="19050">
                      <a:solidFill>
                        <a:srgbClr val="9900CC"/>
                      </a:solidFill>
                    </a:lnT>
                    <a:lnB w="19050">
                      <a:solidFill>
                        <a:srgbClr val="9900CC"/>
                      </a:solidFill>
                    </a:lnB>
                    <a:solidFill>
                      <a:srgbClr val="F0E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B2</a:t>
                      </a:r>
                    </a:p>
                  </a:txBody>
                  <a:tcPr>
                    <a:lnL w="12700">
                      <a:noFill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C2</a:t>
                      </a:r>
                    </a:p>
                  </a:txBody>
                  <a:tcPr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</a:tr>
              <!-- Row 3: vertical merge continuation -->
              <a:tr h="914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B3 (large margin)</a:t>
                      </a:r>
                    </a:p>
                  </a:txBody>
                  <a:tcPr marL="274320" marT="137160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C3 (top anchor)</a:t>
                      </a:r>
                    </a:p>
                  </a:txBody>
                  <a:tcPr anchor="t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solidFill>
                      <a:srgbClr val="EEFFEE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cell merge (gridSpan/rowSpan/vMerge) + borders + margins + anchor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Table42"/>
          <p:cNvGraphicFramePr>
            <a:graphicFrameLocks noGrp="1"/>
          </p:cNvGraphicFramePr>
          <p:nvPr/>
        </p:nvGraphicFramePr>
        <p:xfrm>
          <a:off x="457200" y="457200"/>
          <a:ext cx="8229600" cy="3657600"/>
        </p:xfrm>
        <a:graphic>
          <a:graphicData uri="http://schemas.openxmlformats.org/drawingml/2006/table">
            <a:tbl>
              <a:tblPr firstRow="1" lastRow="1" firstCol="0" lastCol="0" bandRow="1" bandCol="0" tblStyleId="{5C22544A-7EE6-4342-B048-85BDC9FD1C3A}"/>
              <a:tblGrid>
                <a:gridCol w="2743200"/>
                <a:gridCol w="2743200"/>
                <a:gridCol w="2743200"/>
              </a:tblGrid>
              <!-- Row 1: diagonal borders -->
              <a:tr h="914400">
                <a:tc>
                  <a:txBody>
                    <a:bodyPr/>
                    <a:lstStyle/>
                    <a:p>
                      <a:r>
                        <a:rPr lang="en-US" sz="1200" b="1"/>
                        <a:t>TL-BR diagonal</a:t>
                      </a:r>
                    </a:p>
                  </a:txBody>
                  <a:tcPr>
                    <a:lnTlToBr w="19050">
                      <a:solidFill>
                        <a:srgbClr val="FF0000"/>
                      </a:solidFill>
                    </a:lnTlToBr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BL-TR diagonal</a:t>
                      </a:r>
                    </a:p>
                  </a:txBody>
                  <a:tcPr>
                    <a:lnBlToTr w="19050">
                      <a:solidFill>
                        <a:srgbClr val="0000FF"/>
                      </a:solidFill>
                    </a:lnBlToT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Both diagonals</a:t>
                      </a:r>
                    </a:p>
                  </a:txBody>
                  <a:tcPr>
                    <a:lnTlToBr w="12700">
                      <a:solidFill>
                        <a:srgbClr val="008800"/>
                      </a:solidFill>
                    </a:lnTlToBr>
                    <a:lnBlToTr w="12700">
                      <a:solidFill>
                        <a:srgbClr val="880000"/>
                      </a:solidFill>
                    </a:lnBlToTr>
                    <a:solidFill>
                      <a:srgbClr val="FFFFF0"/>
                    </a:solidFill>
                  </a:tcPr>
                </a:tc>
              </a:tr>
              <!-- Row 2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</a:tr>
              <!-- Row 3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Last row cell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1" name="TextBox 2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diagonal borders (lnTlToBr/lnBlToTr) + tblPr flags + tblStyleId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0"/>
            <a:ext cx="2743200" cy="2286000"/>
          </a:xfrm>
          <a:prstGeom prst="rect">
            <a:avLst/>
          </a:prstGeom>
          <a:blipFill>
            <a:blip r:embed="rId2"/>
            <a:srcRect l="0" t="50000" r="0" b="0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0" name="CropPic"/>
          <p:cNvPicPr>
            <a:picLocks noChangeAspect="1"/>
          </p:cNvPicPr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457200" y="914400"/>
            <a:ext cx="2743200" cy="2743200"/>
          </a:xfrm>
          <a:prstGeom prst="rect">
            <a:avLst/>
          </a:prstGeom>
        </p:spPr>
      </p:pic>
      <p:pic>
        <p:nvPicPr>
          <p:cNvPr id="101" name="AlphaPic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3657600" y="914400"/>
            <a:ext cx="2743200" cy="2743200"/>
          </a:xfrm>
          <a:prstGeom prst="rect">
            <a:avLst/>
          </a:prstGeom>
        </p:spPr>
      </p:pic>
      <p:pic>
        <p:nvPicPr>
          <p:cNvPr id="102" name="CropAlphaPic"/>
          <p:cNvPicPr>
            <a:picLocks noChangeAspect="1"/>
          </p:cNvPicPr>
          <p:nvPr/>
        </p:nvPicPr>
        <p:blipFill>
          <a:blip r:embed="rId2">
            <a:alphaModFix amt="75000"/>
          </a:blip>
          <a:srcRect l="50000"/>
          <a:stretch>
            <a:fillRect/>
          </a:stretch>
        </p:blipFill>
        <p:spPr>
          <a:xfrm>
            <a:off x="6858000" y="914400"/>
            <a:ext cx="2286000" cy="27432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43: Image crop (srcRect) + alpha (alphaModFix)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0" name="ExtPic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201" name="ExtPic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2743200" cy="3657600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44: External image reference (TargetMode=External)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7200" y="47548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Wikimedia Commons PNG</a:t>
            </a:r>
            <a:br/>
            <a:r>
              <a:t>Right: picsum.photos (id=237)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BrightPic"/>
          <p:cNvPicPr>
            <a:picLocks noChangeAspect="1"/>
          </p:cNvPicPr>
          <p:nvPr/>
        </p:nvPicPr>
        <p:blipFill>
          <a:blip r:embed="rId2">
            <a:lum bright="50000"/>
          </a:blip>
          <a:stretch>
            <a:fillRect/>
          </a:stretch>
        </p:blipFill>
        <p:spPr>
          <a:xfrm>
            <a:off x="457200" y="914400"/>
            <a:ext cx="2286000" cy="2286000"/>
          </a:xfrm>
          <a:prstGeom prst="rect">
            <a:avLst/>
          </a:prstGeom>
        </p:spPr>
      </p:pic>
      <p:pic>
        <p:nvPicPr>
          <p:cNvPr id="301" name="ContrastPic"/>
          <p:cNvPicPr>
            <a:picLocks noChangeAspect="1"/>
          </p:cNvPicPr>
          <p:nvPr/>
        </p:nvPicPr>
        <p:blipFill>
          <a:blip r:embed="rId2">
            <a:lum contrast="-30000"/>
          </a:blip>
          <a:stretch>
            <a:fillRect/>
          </a:stretch>
        </p:blipFill>
        <p:spPr>
          <a:xfrm>
            <a:off x="3429000" y="914400"/>
            <a:ext cx="2286000" cy="2286000"/>
          </a:xfrm>
          <a:prstGeom prst="rect">
            <a:avLst/>
          </a:prstGeom>
        </p:spPr>
      </p:pic>
      <p:pic>
        <p:nvPicPr>
          <p:cNvPr id="302" name="BrightContrastPic"/>
          <p:cNvPicPr>
            <a:picLocks noChangeAspect="1"/>
          </p:cNvPicPr>
          <p:nvPr/>
        </p:nvPicPr>
        <p:blipFill>
          <a:blip r:embed="rId2">
            <a:lum bright="20000" contrast="40000"/>
          </a:blip>
          <a:stretch>
            <a:fillRect/>
          </a:stretch>
        </p:blipFill>
        <p:spPr>
          <a:xfrm>
            <a:off x="6400800" y="914400"/>
            <a:ext cx="2286000" cy="2286000"/>
          </a:xfrm>
          <a:prstGeom prst="rect">
            <a:avLst/>
          </a:prstGeom>
        </p:spPr>
      </p:pic>
      <p:sp>
        <p:nvSpPr>
          <p:cNvPr id="303" name="TextBox 3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45: Image effects — brightness/contrast (a:lum)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bright +50% | Center: contrast -30% | Right: bright +20% contrast +40%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0" name="DuotonePic"/>
          <p:cNvPicPr>
            <a:picLocks noChangeAspect="1"/>
          </p:cNvPicPr>
          <p:nvPr/>
        </p:nvPicPr>
        <p:blipFill>
          <a:blip r:embed="rId2">
            <a:duotone>
              <a:srgbClr val="000080"/>
              <a:srgbClr val="FFFF00"/>
            </a:duotone>
          </a:blip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401" name="ClrChangePic"/>
          <p:cNvPicPr>
            <a:picLocks noChangeAspect="1"/>
          </p:cNvPicPr>
          <p:nvPr/>
        </p:nvPicPr>
        <p:blipFill>
          <a:blip r:embed="rId2">
            <a:clrChange>
              <a:clrFrom>
                <a:srgbClr val="FF0000"/>
              </a:clrFrom>
              <a:clrTo>
                <a:srgbClr val="00FF00"/>
              </a:clrTo>
            </a:clrChange>
          </a:blip>
          <a:stretch>
            <a:fillRect/>
          </a:stretch>
        </p:blipFill>
        <p:spPr>
          <a:xfrm>
            <a:off x="4572000" y="914400"/>
            <a:ext cx="3657600" cy="3657600"/>
          </a:xfrm>
          <a:prstGeom prst="rect">
            <a:avLst/>
          </a:prstGeom>
        </p:spPr>
      </p:pic>
      <p:sp>
        <p:nvSpPr>
          <p:cNvPr id="402" name="TextBox 4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46: Duotone (a:duotone) + Color change (a:clrChange)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457200" y="4754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Duotone (navy→yellow) | Right: clrChange (red→green, data preserved)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ltDnDiag">
          <a:fgClr>
            <a:srgbClr val="3366CC"/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47: Background pattern fill (ltDnDiag)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GradStrokeRect"/>
          <p:cNvSpPr/>
          <p:nvPr/>
        </p:nvSpPr>
        <p:spPr>
          <a:xfrm>
            <a:off x="457200" y="1371600"/>
            <a:ext cx="3657600" cy="2286000"/>
          </a:xfrm>
          <a:prstGeom prst="rect">
            <a:avLst/>
          </a:prstGeom>
          <a:solidFill>
            <a:srgbClr val="F0F0F0"/>
          </a:solidFill>
          <a:ln w="76200">
            <a:gradFill>
              <a:gsLst>
                <a:gs pos="0">
                  <a:srgbClr val="FF0000"/>
                </a:gs>
                <a:gs pos="50000">
                  <a:srgbClr val="00FF00"/>
                </a:gs>
                <a:gs pos="100000">
                  <a:srgbClr val="0000FF"/>
                </a:gs>
              </a:gsLst>
              <a:lin ang="0" scaled="1"/>
            </a:gradFill>
          </a:ln>
        </p:spPr>
        <p:txBody>
          <a:bodyPr/>
          <a:lstStyle/>
          <a:p>
            <a:r>
              <a:rPr lang="en-US" sz="1400"/>
              <a:t>Gradient stroke</a:t>
            </a:r>
          </a:p>
        </p:txBody>
      </p:sp>
      <p:sp>
        <p:nvSpPr>
          <p:cNvPr id="101" name="PattStrokeEllipse"/>
          <p:cNvSpPr/>
          <p:nvPr/>
        </p:nvSpPr>
        <p:spPr>
          <a:xfrm>
            <a:off x="5029200" y="1371600"/>
            <a:ext cx="3657600" cy="2286000"/>
          </a:xfrm>
          <a:prstGeom prst="ellipse">
            <a:avLst/>
          </a:prstGeom>
          <a:solidFill>
            <a:srgbClr val="FFFFCC"/>
          </a:solidFill>
          <a:ln w="57150">
            <a:pattFill prst="smCheck">
              <a:fgClr>
                <a:srgbClr val="990000"/>
              </a:fgClr>
              <a:bgClr>
                <a:srgbClr val="FFCC00"/>
              </a:bgClr>
            </a:pattFill>
          </a:ln>
        </p:spPr>
        <p:txBody>
          <a:bodyPr/>
          <a:lstStyle/>
          <a:p>
            <a:r>
              <a:rPr lang="en-US" sz="1400"/>
              <a:t>Pattern stroke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48: Line gradient fill + Line pattern fill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LinkedShape">
            <a:hlinkClick r:id="rId99"/>
          </p:cNvPr>
          <p:cNvSpPr/>
          <p:nvPr/>
        </p:nvSpPr>
        <p:spPr>
          <a:xfrm>
            <a:off x="457200" y="1371600"/>
            <a:ext cx="3657600" cy="1828800"/>
          </a:xfrm>
          <a:prstGeom prst="roundRect">
            <a:avLst/>
          </a:prstGeom>
          <a:solidFill>
            <a:srgbClr val="4472C4"/>
          </a:solidFill>
          <a:ln w="25400">
            <a:solidFill>
              <a:srgbClr val="2F5597"/>
            </a:solidFill>
          </a:ln>
        </p:spPr>
        <p:txBody>
          <a:bodyPr anchor="ctr"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Click me (shape link)</a:t>
            </a:r>
          </a:p>
        </p:txBody>
      </p:sp>
      <p:sp>
        <p:nvSpPr>
          <p:cNvPr id="201" name="CompColor"/>
          <p:cNvSpPr/>
          <p:nvPr/>
        </p:nvSpPr>
        <p:spPr>
          <a:xfrm>
            <a:off x="5029200" y="1371600"/>
            <a:ext cx="3657600" cy="1828800"/>
          </a:xfrm>
          <a:prstGeom prst="rect">
            <a:avLst/>
          </a:prstGeom>
          <a:solidFill>
            <a:srgbClr val="FF6600">
              <a:comp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comp(#FF6600) = complementary hue</a:t>
            </a:r>
          </a:p>
        </p:txBody>
      </p:sp>
      <p:sp>
        <p:nvSpPr>
          <p:cNvPr id="202" name="InvColor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solidFill>
            <a:srgbClr val="3366CC">
              <a:inv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inv(#3366CC) → #CC9933</a:t>
            </a:r>
          </a:p>
        </p:txBody>
      </p:sp>
      <p:sp>
        <p:nvSpPr>
          <p:cNvPr id="203" name="HueModColor"/>
          <p:cNvSpPr/>
          <p:nvPr/>
        </p:nvSpPr>
        <p:spPr>
          <a:xfrm>
            <a:off x="5029200" y="3657600"/>
            <a:ext cx="3657600" cy="1828800"/>
          </a:xfrm>
          <a:prstGeom prst="rect">
            <a:avLst/>
          </a:prstGeom>
          <a:solidFill>
            <a:srgbClr val="FF0000">
              <a:hueMod val="50000"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hueMod 50% of red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49: Shape hyperlinks + Color modifiers (comp/inv/hueMod)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OuterShadow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effectLst>
            <a:outerShdw blurRad="152400" dist="114300" dir="5400000" algn="ctr" rotWithShape="0">
              <a:srgbClr val="000000">
                <a:alpha val="4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400" b="1"/>
              <a:t>Outer Shadow</a:t>
            </a:r>
          </a:p>
        </p:txBody>
      </p:sp>
      <p:sp>
        <p:nvSpPr>
          <p:cNvPr id="302" name="InnerShadow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effectLst>
            <a:innerShdw blurRad="114300" dist="76200" dir="2700000">
              <a:srgbClr val="000000">
                <a:alpha val="50000"/>
              </a:srgbClr>
            </a:innerShdw>
          </a:effectLst>
        </p:spPr>
        <p:txBody>
          <a:bodyPr anchor="ctr"/>
          <a:lstStyle/>
          <a:p>
            <a:pPr algn="ctr"/>
            <a:r>
              <a:rPr lang="en-US" sz="1400" b="1"/>
              <a:t>Inner Shadow</a:t>
            </a:r>
          </a:p>
        </p:txBody>
      </p:sp>
      <p:sp>
        <p:nvSpPr>
          <p:cNvPr id="303" name="Glow"/>
          <p:cNvSpPr/>
          <p:nvPr/>
        </p:nvSpPr>
        <p:spPr>
          <a:xfrm>
            <a:off x="5029200" y="1371600"/>
            <a:ext cx="3200400" cy="1828800"/>
          </a:xfrm>
          <a:prstGeom prst="roundRect">
            <a:avLst/>
          </a:prstGeom>
          <a:solidFill>
            <a:srgbClr val="ED7D31"/>
          </a:solidFill>
          <a:effectLst>
            <a:glow rad="228600">
              <a:srgbClr val="FFC000">
                <a:alpha val="60000"/>
              </a:srgbClr>
            </a:glow>
          </a:effectLst>
        </p:spPr>
        <p:txBody>
          <a:bodyPr anchor="ctr"/>
          <a:lstStyle/>
          <a:p>
            <a:pPr algn="ctr"/>
            <a:r>
              <a:rPr lang="en-US" sz="1400" b="1"/>
              <a:t>Glow Effect</a:t>
            </a:r>
          </a:p>
        </p:txBody>
      </p:sp>
      <p:sp>
        <p:nvSpPr>
          <p:cNvPr id="304" name="SoftEdge"/>
          <p:cNvSpPr/>
          <p:nvPr/>
        </p:nvSpPr>
        <p:spPr>
          <a:xfrm>
            <a:off x="5029200" y="3657600"/>
            <a:ext cx="3200400" cy="1828800"/>
          </a:xfrm>
          <a:prstGeom prst="roundRect">
            <a:avLst/>
          </a:prstGeom>
          <a:solidFill>
            <a:srgbClr val="A855F7"/>
          </a:solidFill>
          <a:effectLst>
            <a:softEdge rad="317500"/>
          </a:effectLst>
        </p:spPr>
        <p:txBody>
          <a:bodyPr anchor="ctr"/>
          <a:lstStyle/>
          <a:p>
            <a:pPr algn="ctr"/>
            <a:r>
              <a:rPr lang="en-US" sz="1400" b="1"/>
              <a:t>Soft Edge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50: Shape effects (outerShdw / innerShdw / glow / softEdge)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Bevel3D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scene3d>
            <a:camera prst="orthographicFront"/>
            <a:lightRig rig="threePt" dir="t"/>
          </a:scene3d>
          <a:sp3d prstMaterial="plastic">
            <a:bevelT w="152400" h="50800" prst="relaxedInset"/>
          </a:sp3d>
        </p:spPr>
        <p:txBody>
          <a:bodyPr anchor="ctr"/>
          <a:lstStyle/>
          <a:p>
            <a:pPr algn="ctr"/>
            <a:r>
              <a:rPr lang="en-US" sz="1400" b="1"/>
              <a:t>3D Bevel</a:t>
            </a:r>
          </a:p>
        </p:txBody>
      </p:sp>
      <p:sp>
        <p:nvSpPr>
          <p:cNvPr id="402" name="TextShadow"/>
          <p:cNvSpPr/>
          <p:nvPr/>
        </p:nvSpPr>
        <p:spPr>
          <a:xfrm>
            <a:off x="5029200" y="1371600"/>
            <a:ext cx="3200400" cy="1828800"/>
          </a:xfrm>
          <a:prstGeom prst="rect">
            <a:avLst/>
          </a:prstGeom>
          <a:solidFill>
            <a:srgbClr val="FFFFFF"/>
          </a:solidFill>
        </p:spPr>
        <p:txBody>
          <a:bodyPr anchor="ctr"/>
          <a:lstStyle/>
          <a:p>
            <a:pPr algn="ctr"/>
            <a:r>
              <a:rPr lang="en-US" sz="2400" b="1">
                <a:solidFill>
                  <a:srgbClr val="333333"/>
                </a:solidFill>
                <a:effectLst>
                  <a:outerShdw blurRad="38100" dist="38100" dir="5400000">
                    <a:srgbClr val="000000">
                      <a:alpha val="40000"/>
                    </a:srgbClr>
                  </a:outerShdw>
                </a:effectLst>
              </a:rPr>
              <a:t>Text with Shadow</a:t>
            </a:r>
          </a:p>
          <a:p>
            <a:pPr algn="ctr"/>
            <a:r>
              <a:rPr lang="en-US" sz="2000">
                <a:solidFill>
                  <a:srgbClr val="FF4444"/>
                </a:solidFill>
                <a:effectLst>
                  <a:glow rad="101600">
                    <a:srgbClr val="FF0000">
                      <a:alpha val="50000"/>
                    </a:srgbClr>
                  </a:glow>
                </a:effectLst>
              </a:rPr>
              <a:t>Text with Glow</a:t>
            </a:r>
          </a:p>
        </p:txBody>
      </p:sp>
      <p:sp>
        <p:nvSpPr>
          <p:cNvPr id="403" name="Extrusion3D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scene3d>
            <a:camera prst="isometricLeftDown"/>
            <a:lightRig rig="balanced" dir="t"/>
          </a:scene3d>
          <a:sp3d extrusionH="76200" contourW="12700" prstMaterial="warmMatte">
            <a:bevelT w="101600" h="38100" prst="circle"/>
            <a:bevelB w="50800" h="25400"/>
            <a:extrusionClr>
              <a:srgbClr val="5B8C3C"/>
            </a:extrusionClr>
            <a:contourClr>
              <a:srgbClr val="2E5B14"/>
            </a:contourClr>
          </a:sp3d>
        </p:spPr>
        <p:txBody>
          <a:bodyPr anchor="ctr"/>
          <a:lstStyle/>
          <a:p>
            <a:pPr algn="ctr"/>
            <a:r>
              <a:rPr lang="en-US" sz="1400" b="1"/>
              <a:t>3D Extrusion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51: 3D effects (bevel/extrusion/scene3d) + text shadow/glow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52: Column chart (clustered)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53: Line chart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54: Pie chart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55: Bar chart (horizontal) + Donut chart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56: Column chart with data labels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57: Pie chart with custom colors + % labels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58: Line chart with series colors + data labels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75488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59: Scatter chart + Area chart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60: Radar chart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371600" y="1371600"/>
          <a:ext cx="5486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61: Bubble chart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62: Stock chart (OHLC)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20040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12648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20040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2648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63: All chart types overview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64: Line chart with linear trendline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65: Column chart with error bars (±8)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66: Composite chart (column + line)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67: Surface chart (2D heatmap)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68: Pie of pie chart (ofPieChart)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69: 3D bar chart (view3D preserved)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70: Text outline (a:rPr/a:ln)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ln w="25400">
                  <a:solidFill>
                    <a:srgbClr val="FF0000"/>
                  </a:solidFill>
                </a:ln>
              </a:rPr>
              <a:t>Red Outlined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>
                <a:solidFill>
                  <a:srgbClr val="333333"/>
                </a:solidFill>
                <a:ln w="12700">
                  <a:solidFill>
                    <a:srgbClr val="0000FF"/>
                  </a:solidFill>
                </a:ln>
              </a:rPr>
              <a:t>Blue Outlined (thin)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71: Text gradient fill (a:rPr/a:gradFill)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gradFill>
                  <a:gsLst>
                    <a:gs pos="0">
                      <a:srgbClr val="FF0000"/>
                    </a:gs>
                    <a:gs pos="50000">
                      <a:srgbClr val="FFFF00"/>
                    </a:gs>
                    <a:gs pos="100000">
                      <a:srgbClr val="0000FF"/>
                    </a:gs>
                  </a:gsLst>
                  <a:lin ang="0" scaled="1"/>
                </a:gradFill>
              </a:rPr>
              <a:t>Gradient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>
                <a:gradFill>
                  <a:gsLst>
                    <a:gs pos="0">
                      <a:srgbClr val="00FF00"/>
                    </a:gs>
                    <a:gs pos="100000">
                      <a:srgbClr val="0000FF"/>
                    </a:gs>
                  </a:gsLst>
                  <a:lin ang="5400000" scaled="1"/>
                </a:gradFill>
              </a:rPr>
              <a:t>Green-Blue Grad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72: Text warp (a:prstTxWarp)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Wave1">
              <a:avLst>
                <a:gd name="adj" fmla="val 19773"/>
              </a:avLst>
            </a:prstTxWarp>
            <a:spAutoFit/>
          </a:bodyPr>
          <a:lstStyle/>
          <a:p>
            <a:r>
              <a:rPr sz="3600" b="1"/>
              <a:t>Wave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ArchUp">
              <a:avLst>
                <a:gd name="adj" fmla="val 10800000"/>
              </a:avLst>
            </a:prstTxWarp>
            <a:spAutoFit/>
          </a:bodyPr>
          <a:lstStyle/>
          <a:p>
            <a:r>
              <a:rPr sz="3600" b="1"/>
              <a:t>Arch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prstTxWarp prst="textDeflate">
              <a:avLst/>
            </a:prstTxWarp>
            <a:spAutoFit/>
          </a:bodyPr>
          <a:lstStyle/>
          <a:p>
            <a:r>
              <a:rPr sz="3600"/>
              <a:t>Deflate Text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2286000" y="4572000"/>
          <a:ext cx="3657600" cy="18288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73: Stacked / Percent-stacked bar charts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74: Speaker notes + comments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This slide has speaker notes and comments attached.</a:t>
            </a:r>
            <a:br/>
            <a:r>
              <a:t>Notes and comments are metadata not rendered on slide, but preserved in round-trip export.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Requires="dgm">
          <p:graphicFrame>
            <p:nvGraphicFramePr>
              <p:cNvPr id="100" name="SmartArt Diagram"/>
              <p:cNvGraphicFramePr/>
              <p:nvPr/>
            </p:nvGraphicFramePr>
            <p:xfrm>
              <a:off x="457200" y="1371600"/>
              <a:ext cx="8229600" y="4572000"/>
            </p:xfrm>
            <a:graphic>
              <a:graphicData uri="http://schemas.openxmlformats.org/drawingml/2006/diagram">
                <dgm:relIds xmlns:dgm="http://schemas.openxmlformats.org/drawingml/2006/diagram" r:dm="rId10" r:lo="rId11" r:qs="rId12" r:cs="rId13"/>
              </a:graphicData>
            </a:graphic>
          </p:graphicFrame>
        </mc:Choice>
        <mc:Fallback>
          <p:grpSp>
            <p:nvGrpSpPr>
              <p:cNvPr id="101" name="SmartArt Fallback Group"/>
              <p:cNvGrpSpPr/>
              <p:nvPr/>
            </p:nvGrpSpPr>
            <p:grpSpPr>
              <a:xfrm>
                <a:off x="457200" y="1371600"/>
                <a:ext cx="8229600" cy="2743200"/>
                <a:chOff x="0" y="0"/>
                <a:chExt cx="8229600" cy="2743200"/>
              </a:xfrm>
            </p:grpSpPr>
            <p:sp>
              <p:nvSpPr>
                <p:cNvPr id="102" name="Step 1"/>
                <p:cNvSpPr/>
                <p:nvPr/>
              </p:nvSpPr>
              <p:spPr>
                <a:xfrm>
                  <a:off x="0" y="457200"/>
                  <a:ext cx="2286000" cy="1828800"/>
                </a:xfrm>
                <a:prstGeom prst="roundRect">
                  <a:avLst/>
                </a:prstGeom>
                <a:solidFill>
                  <a:srgbClr val="4472C4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Plan</a:t>
                  </a:r>
                </a:p>
              </p:txBody>
            </p:sp>
            <p:sp>
              <p:nvSpPr>
                <p:cNvPr id="103" name="Step 2"/>
                <p:cNvSpPr/>
                <p:nvPr/>
              </p:nvSpPr>
              <p:spPr>
                <a:xfrm>
                  <a:off x="2971800" y="457200"/>
                  <a:ext cx="2286000" cy="1828800"/>
                </a:xfrm>
                <a:prstGeom prst="roundRect">
                  <a:avLst/>
                </a:prstGeom>
                <a:solidFill>
                  <a:srgbClr val="ED7D31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Build</a:t>
                  </a:r>
                </a:p>
              </p:txBody>
            </p:sp>
            <p:sp>
              <p:nvSpPr>
                <p:cNvPr id="104" name="Step 3"/>
                <p:cNvSpPr/>
                <p:nvPr/>
              </p:nvSpPr>
              <p:spPr>
                <a:xfrm>
                  <a:off x="5943600" y="457200"/>
                  <a:ext cx="2286000" cy="182880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Ship</a:t>
                  </a:r>
                </a:p>
              </p:txBody>
            </p:sp>
          </p:grpSp>
        </mc:Fallback>
      </mc:AlternateContent>
      <p:sp>
        <p:nvSpPr>
          <p:cNvPr id="105" name="TextBox 104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75: SmartArt Fallback (mc:AlternateContent)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