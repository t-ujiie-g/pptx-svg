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ommentAuthors.xml" ContentType="application/vnd.openxmlformats-officedocument.presentationml.commentAuthors+xml"/>
  <Override PartName="/ppt/comments/comment75.xml" ContentType="application/vnd.openxmlformats-officedocument.presentationml.comments+xml"/>
  <Override PartName="/ppt/embeddings/oleObject77.bin" ContentType="application/vnd.openxmlformats-officedocument.oleObject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4"/>
    <p:sldId id="332" r:id="rId85"/>
    <p:sldId id="333" r:id="rId86"/>
    <p:sldId id="334" r:id="rId87"/>
    <p:sldId id="335" r:id="rId88"/>
    <p:sldId id="336" r:id="rId8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p="http://schemas.openxmlformats.org/presentationml/2006/main">
  <p:cmAuthor id="1" name="Test User" initials="TU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notesMaster" Target="notesMasters/notesMaster1.xml"/><Relationship Id="rId83" Type="http://schemas.openxmlformats.org/officeDocument/2006/relationships/commentAuthors" Target="commentAuthors.xml"/><Relationship Id="rId84" Type="http://schemas.openxmlformats.org/officeDocument/2006/relationships/slide" Target="slides/slide76.xml"/><Relationship Id="rId85" Type="http://schemas.openxmlformats.org/officeDocument/2006/relationships/slide" Target="slides/slide77.xml"/><Relationship Id="rId86" Type="http://schemas.openxmlformats.org/officeDocument/2006/relationships/slide" Target="slides/slide78.xml"/><Relationship Id="rId87" Type="http://schemas.openxmlformats.org/officeDocument/2006/relationships/slide" Target="slides/slide79.xml"/><Relationship Id="rId88" Type="http://schemas.openxmlformats.org/officeDocument/2006/relationships/slide" Target="slides/slide80.xml"/><Relationship Id="rId89" Type="http://schemas.openxmlformats.org/officeDocument/2006/relationships/slide" Target="slides/slide8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50</c:v>
                </c:pt>
                <c:pt idx="2">
                  <c:v>40</c:v>
                </c:pt>
                <c:pt idx="3">
                  <c:v>80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Group B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Sheet1!$A$8:$A$11</c:f>
              <c:numCache>
                <c:formatCode>General</c:formatCode>
                <c:ptCount val="4"/>
                <c:pt idx="0">
                  <c:v>15</c:v>
                </c:pt>
                <c:pt idx="1">
                  <c:v>35</c:v>
                </c:pt>
                <c:pt idx="2">
                  <c:v>55</c:v>
                </c:pt>
                <c:pt idx="3">
                  <c:v>75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70</c:v>
                </c:pt>
                <c:pt idx="3">
                  <c:v>45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180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100</c:v>
                </c:pt>
                <c:pt idx="2">
                  <c:v>130</c:v>
                </c:pt>
                <c:pt idx="3">
                  <c:v>110</c:v>
                </c:pt>
                <c:pt idx="4">
                  <c:v>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 A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14</c:v>
                </c:pt>
                <c:pt idx="3">
                  <c:v>10</c:v>
                </c:pt>
                <c:pt idx="4">
                  <c:v>8</c:v>
                </c:pt>
                <c:pt idx="5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Character B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8</c:v>
                </c:pt>
                <c:pt idx="3">
                  <c:v>15</c:v>
                </c:pt>
                <c:pt idx="4">
                  <c:v>14</c:v>
                </c:pt>
                <c:pt idx="5">
                  <c:v>12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X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60</c:v>
                </c:pt>
                <c:pt idx="2">
                  <c:v>30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10</c:v>
                </c:pt>
                <c:pt idx="3">
                  <c:v>25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Product Y</c:v>
                </c:pt>
              </c:strCache>
            </c:strRef>
          </c:tx>
          <c:invertIfNegative val="0"/>
          <c:xVal>
            <c:numRef>
              <c:f>Sheet1!$A$8:$A$10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50</c:v>
                </c:pt>
              </c:numCache>
            </c:numRef>
          </c:xVal>
          <c:yVal>
            <c:numRef>
              <c:f>Sheet1!$B$8:$B$10</c:f>
              <c:numCache>
                <c:formatCode>General</c:formatCode>
                <c:ptCount val="3"/>
                <c:pt idx="0">
                  <c:v>55</c:v>
                </c:pt>
                <c:pt idx="1">
                  <c:v>35</c:v>
                </c:pt>
                <c:pt idx="2">
                  <c:v>50</c:v>
                </c:pt>
              </c:numCache>
            </c:numRef>
          </c:yVal>
          <c:bubbleSize>
            <c:numRef>
              <c:f>Sheet1!$C$8:$C$10</c:f>
              <c:numCache>
                <c:formatCode>General</c:formatCode>
                <c:ptCount val="3"/>
                <c:pt idx="0">
                  <c:v>20</c:v>
                </c:pt>
                <c:pt idx="1">
                  <c:v>12</c:v>
                </c:pt>
                <c:pt idx="2">
                  <c:v>35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105</c:v>
                </c:pt>
                <c:pt idx="2">
                  <c:v>98</c:v>
                </c:pt>
                <c:pt idx="3">
                  <c:v>110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115</c:v>
                </c:pt>
                <c:pt idx="1">
                  <c:v>118</c:v>
                </c:pt>
                <c:pt idx="2">
                  <c:v>112</c:v>
                </c:pt>
                <c:pt idx="3">
                  <c:v>120</c:v>
                </c:pt>
                <c:pt idx="4">
                  <c:v>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95</c:v>
                </c:pt>
                <c:pt idx="1">
                  <c:v>100</c:v>
                </c:pt>
                <c:pt idx="2">
                  <c:v>90</c:v>
                </c:pt>
                <c:pt idx="3">
                  <c:v>105</c:v>
                </c:pt>
                <c:pt idx="4">
                  <c:v>102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108</c:v>
                </c:pt>
                <c:pt idx="1">
                  <c:v>102</c:v>
                </c:pt>
                <c:pt idx="2">
                  <c:v>107</c:v>
                </c:pt>
                <c:pt idx="3">
                  <c:v>115</c:v>
                </c:pt>
                <c:pt idx="4">
                  <c:v>118</c:v>
                </c:pt>
              </c:numCache>
            </c:numRef>
          </c:val>
        </c:ser>
        <c:axId val="10000001"/>
        <c:axId val="10000002"/>
      </c:stockChart>
      <c:catAx>
        <c:axId val="10000001"/>
        <c:scaling>
          <c:orientation val="minMax"/>
        </c:scaling>
        <c:delete val="0"/>
        <c:axPos val="b"/>
        <c:crossAx val="10000002"/>
      </c:catAx>
      <c:valAx>
        <c:axId val="10000002"/>
        <c:scaling>
          <c:orientation val="minMax"/>
        </c:scaling>
        <c:delete val="0"/>
        <c:axPos val="l"/>
        <c:crossAx val="10000001"/>
        <c:majorGridlines/>
      </c:valAx>
    </c:plotArea>
    <c:dispBlanksAs val="gap"/>
    <c:legend>
      <c:legendPos val="r"/>
      <c:overlay val="0"/>
    </c:legend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X</c:v>
                </c:pt>
                <c:pt idx="1">
                  <c:v>Y</c:v>
                </c:pt>
                <c:pt idx="2">
                  <c:v>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</c:v>
                </c:pt>
                <c:pt idx="1">
                  <c:v>Q</c:v>
                </c:pt>
                <c:pt idx="2">
                  <c:v>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40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35</c:v>
                </c:pt>
                <c:pt idx="2">
                  <c:v>28</c:v>
                </c:pt>
                <c:pt idx="3">
                  <c:v>45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  <c:smooth val="0"/>
          <c:trendline>
            <c:trendlineType val="linear"/>
            <c:spPr>
              <a:ln w="12700">
                <a:solidFill>
                  <a:srgbClr val="FF0000"/>
                </a:solidFill>
                <a:prstDash val="dash"/>
              </a:ln>
            </c:spPr>
          </c:trendline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Measurement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  <c:pt idx="3">
                  <c:v>Group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  <c:errBars>
            <c:errDir val="y"/>
            <c:errBarType val="both"/>
            <c:errValType val="fixedVal"/>
            <c:val val="8"/>
          </c:errBars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</c:v>
                </c:pt>
                <c:pt idx="1">
                  <c:v>350</c:v>
                </c:pt>
                <c:pt idx="2">
                  <c:v>400</c:v>
                </c:pt>
                <c:pt idx="3">
                  <c:v>450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ln w="25400">
              <a:solidFill>
                <a:srgbClr val="FF0000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120</c:v>
                </c:pt>
                <c:pt idx="2">
                  <c:v>150</c:v>
                </c:pt>
                <c:pt idx="3">
                  <c:v>200</c:v>
                </c:pt>
              </c:numCache>
            </c:numRef>
          </c:val>
        </c:ser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15"/>
      <c:rotY val="20"/>
      <c:depthPercent val="100"/>
      <c:rAngAx val="1"/>
      <c:perspective val="30"/>
    </c:view3D>
    <c:autoTitleDeleted val="0"/>
    <c:plotArea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 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X1</c:v>
                </c:pt>
                <c:pt idx="1">
                  <c:v>X2</c:v>
                </c:pt>
                <c:pt idx="2">
                  <c:v>X3</c:v>
                </c:pt>
                <c:pt idx="3">
                  <c:v>X4</c:v>
                </c:pt>
                <c:pt idx="4">
                  <c:v>X5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Row 2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35</c:v>
                </c:pt>
                <c:pt idx="2">
                  <c:v>50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Row 3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35</c:v>
                </c:pt>
                <c:pt idx="1">
                  <c:v>50</c:v>
                </c:pt>
                <c:pt idx="2">
                  <c:v>60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Row 4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25</c:v>
                </c:pt>
                <c:pt idx="1">
                  <c:v>40</c:v>
                </c:pt>
                <c:pt idx="2">
                  <c:v>45</c:v>
                </c:pt>
                <c:pt idx="3">
                  <c:v>50</c:v>
                </c:pt>
                <c:pt idx="4">
                  <c:v>35</c:v>
                </c:pt>
              </c:numCache>
            </c:numRef>
          </c:val>
        </c:ser>
        <c:bandFmts/>
        <c:axId val="111111"/>
        <c:axId val="222222"/>
        <c:axId val="333333"/>
      </c:surfaceChart>
      <c:catAx>
        <c:axId val="111111"/>
        <c:scaling>
          <c:orientation val="minMax"/>
        </c:scaling>
        <c:delete val="0"/>
        <c:axPos val="b"/>
        <c:crossAx val="222222"/>
      </c:catAx>
      <c:valAx>
        <c:axId val="222222"/>
        <c:scaling>
          <c:orientation val="minMax"/>
        </c:scaling>
        <c:delete val="0"/>
        <c:axPos val="l"/>
        <c:crossAx val="111111"/>
        <c:majorGridlines/>
      </c:valAx>
      <c:serAx>
        <c:axId val="333333"/>
        <c:scaling>
          <c:orientation val="minMax"/>
        </c:scaling>
        <c:delete val="0"/>
        <c:axPos val="b"/>
        <c:crossAx val="222222"/>
      </c:ser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ofPieChart>
        <c:ofPieType val="pie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  <c:pt idx="3">
                  <c:v>Product D</c:v>
                </c:pt>
                <c:pt idx="4">
                  <c:v>Product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gapWidth val="150"/>
        <c:splitPos val="2"/>
      </c:of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20"/>
      <c:rotY val="30"/>
      <c:depthPercent val="150"/>
      <c:rAngAx val="1"/>
      <c:perspective val="40"/>
    </c:view3D>
    <c:autoTitleDeleted val="0"/>
    <c:plotArea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</c:v>
                </c:pt>
                <c:pt idx="1">
                  <c:v>180</c:v>
                </c:pt>
                <c:pt idx="2">
                  <c:v>140</c:v>
                </c:pt>
                <c:pt idx="3">
                  <c:v>160</c:v>
                </c:pt>
              </c:numCache>
            </c:numRef>
          </c:val>
        </c:ser>
        <c:axId val="-2068027336"/>
        <c:axId val="-2113994440"/>
      </c:bar3D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41.9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 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120</c:v>
                </c:pt>
                <c:pt idx="2">
                  <c:v>90</c:v>
                </c:pt>
                <c:pt idx="3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Product 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70</c:v>
                </c:pt>
                <c:pt idx="2">
                  <c:v>110</c:v>
                </c:pt>
                <c:pt idx="3">
                  <c:v>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Product C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50</c:v>
                </c:pt>
                <c:pt idx="1">
                  <c:v>40</c:v>
                </c:pt>
                <c:pt idx="2">
                  <c:v>30</c:v>
                </c:pt>
                <c:pt idx="3">
                  <c:v>80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300</c:v>
                </c:pt>
                <c:pt idx="1">
                  <c:v>200</c:v>
                </c:pt>
                <c:pt idx="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250</c:v>
                </c:pt>
                <c:pt idx="1">
                  <c:v>350</c:v>
                </c:pt>
                <c:pt idx="2">
                  <c:v>200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omments/comment75.xml><?xml version="1.0" encoding="utf-8"?>
<p:cmLst xmlns:p="http://schemas.openxmlformats.org/presentationml/2006/main">
  <p:cm authorId="1" dt="2025-01-15T10:30:00.000" idx="1">
    <p:pos x="100" y="200"/>
    <p:text>This is a test comment on slide 74.</p:text>
  </p:cm>
  <p:cm authorId="1" dt="2025-01-15T11:00:00.000" idx="2">
    <p:pos x="300" y="400"/>
    <p:text>Second comment with review feedback.</p:text>
  </p:cm>
</p:cmLst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speaker notes for slide 74.</a:t>
            </a:r>
          </a:p>
          <a:p>
            <a:r>
              <a:t>Second paragraph of notes with key points.</a:t>
            </a:r>
          </a:p>
          <a:p>
            <a:r>
              <a:t>Remember to mention the round-trip preservation.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chart" Target="../charts/chart17.xml"/><Relationship Id="rId6" Type="http://schemas.openxmlformats.org/officeDocument/2006/relationships/chart" Target="../charts/chart18.xml"/><Relationship Id="rId7" Type="http://schemas.openxmlformats.org/officeDocument/2006/relationships/chart" Target="../charts/chart1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comments" Target="../comments/comment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oleImage77.png"/><Relationship Id="rId3" Type="http://schemas.openxmlformats.org/officeDocument/2006/relationships/oleObject" Target="../embeddings/oleObject77.bin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posterFrame78.png"/><Relationship Id="rId3" Type="http://schemas.openxmlformats.org/officeDocument/2006/relationships/video" Target="../media/video78.mp4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59: Scatter chart + Area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60: Radar chart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3716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61: Bubble chart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62: Stock chart (OHLC)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2648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2648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63: All chart types overview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64: Line chart with linear trendline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65: Column chart with error bars (±8)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66: Composite chart (column + line)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67: Surface chart (2D heatmap)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68: Pie of pie chart (ofPieChart)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69: 3D bar chart (view3D preserved)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70: Text outline (a:rPr/a:ln)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ln w="25400">
                  <a:solidFill>
                    <a:srgbClr val="FF0000"/>
                  </a:solidFill>
                </a:ln>
              </a:rPr>
              <a:t>Red Outlined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>
                <a:solidFill>
                  <a:srgbClr val="333333"/>
                </a:solidFill>
                <a:ln w="12700">
                  <a:solidFill>
                    <a:srgbClr val="0000FF"/>
                  </a:solidFill>
                </a:ln>
              </a:rPr>
              <a:t>Blue Outlined (thin)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71: Text gradient fill (a:rPr/a:gradFill)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gradFill>
                  <a:gsLst>
                    <a:gs pos="0">
                      <a:srgbClr val="FF0000"/>
                    </a:gs>
                    <a:gs pos="50000">
                      <a:srgbClr val="FFFF00"/>
                    </a:gs>
                    <a:gs pos="100000">
                      <a:srgbClr val="0000FF"/>
                    </a:gs>
                  </a:gsLst>
                  <a:lin ang="0" scaled="1"/>
                </a:gradFill>
              </a:rPr>
              <a:t>Gradient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gradFill>
                  <a:gsLst>
                    <a:gs pos="0">
                      <a:srgbClr val="00FF00"/>
                    </a:gs>
                    <a:gs pos="100000">
                      <a:srgbClr val="0000FF"/>
                    </a:gs>
                  </a:gsLst>
                  <a:lin ang="5400000" scaled="1"/>
                </a:gradFill>
              </a:rPr>
              <a:t>Green-Blue Grad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72: Text warp (a:prstTxWarp)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Wave1">
              <a:avLst>
                <a:gd name="adj" fmla="val 19773"/>
              </a:avLst>
            </a:prstTxWarp>
            <a:spAutoFit/>
          </a:bodyPr>
          <a:lstStyle/>
          <a:p>
            <a:r>
              <a:rPr sz="3600" b="1"/>
              <a:t>Wave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ArchUp">
              <a:avLst>
                <a:gd name="adj" fmla="val 10800000"/>
              </a:avLst>
            </a:prstTxWarp>
            <a:spAutoFit/>
          </a:bodyPr>
          <a:lstStyle/>
          <a:p>
            <a:r>
              <a:rPr sz="3600" b="1"/>
              <a:t>Arch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prstTxWarp prst="textDeflate">
              <a:avLst/>
            </a:prstTxWarp>
            <a:spAutoFit/>
          </a:bodyPr>
          <a:lstStyle/>
          <a:p>
            <a:r>
              <a:rPr sz="3600"/>
              <a:t>Deflate Text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72b: Additional text warp presets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SlantUp">
              <a:avLst>
                <a:gd name="adj" fmla="val 55556"/>
              </a:avLst>
            </a:prstTxWarp>
            <a:spAutoFit/>
          </a:bodyPr>
          <a:lstStyle/>
          <a:p>
            <a:r>
              <a:rPr sz="3600" b="1"/>
              <a:t>Slant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9144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CurveUp">
              <a:avLst>
                <a:gd name="adj" fmla="val 45977"/>
              </a:avLst>
            </a:prstTxWarp>
            <a:spAutoFit/>
          </a:bodyPr>
          <a:lstStyle/>
          <a:p>
            <a:r>
              <a:rPr sz="3600" b="1">
                <a:solidFill>
                  <a:srgbClr val="0070C0"/>
                </a:solidFill>
              </a:rPr>
              <a:t>Curve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Inflate">
              <a:avLst/>
            </a:prstTxWarp>
            <a:spAutoFit/>
          </a:bodyPr>
          <a:lstStyle/>
          <a:p>
            <a:r>
              <a:rPr sz="3600" b="1">
                <a:solidFill>
                  <a:srgbClr val="C00000"/>
                </a:solidFill>
              </a:rPr>
              <a:t>Inflate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743200"/>
            <a:ext cx="3657600" cy="1371600"/>
          </a:xfrm>
          <a:prstGeom prst="rect">
            <a:avLst/>
          </a:prstGeom>
          <a:noFill/>
        </p:spPr>
        <p:txBody>
          <a:bodyPr wrap="none">
            <a:prstTxWarp prst="textChevron">
              <a:avLst>
                <a:gd name="adj" fmla="val 25000"/>
              </a:avLst>
            </a:prstTxWarp>
            <a:spAutoFit/>
          </a:bodyPr>
          <a:lstStyle/>
          <a:p>
            <a:r>
              <a:rPr sz="3600" b="1">
                <a:solidFill>
                  <a:srgbClr val="00B050"/>
                </a:solidFill>
              </a:rPr>
              <a:t>Chevron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572000"/>
            <a:ext cx="3657600" cy="2286000"/>
          </a:xfrm>
          <a:prstGeom prst="rect">
            <a:avLst/>
          </a:prstGeom>
          <a:noFill/>
        </p:spPr>
        <p:txBody>
          <a:bodyPr wrap="none">
            <a:prstTxWarp prst="textCircle">
              <a:avLst>
                <a:gd name="adj" fmla="val 10800000"/>
              </a:avLst>
            </a:prstTxWarp>
            <a:spAutoFit/>
          </a:bodyPr>
          <a:lstStyle/>
          <a:p>
            <a:r>
              <a:rPr sz="2800" b="1"/>
              <a:t>Circle Text Example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286000" y="4572000"/>
          <a:ext cx="365760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73: Stacked / Percent-stacked bar charts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74: Speaker notes + comments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This slide has speaker notes and comments attached.</a:t>
            </a:r>
            <a:br/>
            <a:r>
              <a:t>Notes and comments are metadata not rendered on slide, but preserved in round-trip export.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mc:AlternateContent xmlns:mc="http://schemas.openxmlformats.org/markup-compatibility/2006">
        <mc:Choice Requires="dgm">
          <p:graphicFrame>
            <p:nvGraphicFramePr>
              <p:cNvPr id="100" name="SmartArt Diagram"/>
              <p:cNvGraphicFramePr/>
              <p:nvPr/>
            </p:nvGraphicFramePr>
            <p:xfrm>
              <a:off x="457200" y="1371600"/>
              <a:ext cx="8229600" y="4572000"/>
            </p:xfrm>
            <a:graphic>
              <a:graphicData uri="http://schemas.openxmlformats.org/drawingml/2006/diagram">
                <dgm:relIds xmlns:dgm="http://schemas.openxmlformats.org/drawingml/2006/diagram" r:dm="rId10" r:lo="rId11" r:qs="rId12" r:cs="rId13"/>
              </a:graphicData>
            </a:graphic>
          </p:graphicFrame>
        </mc:Choice>
        <mc:Fallback>
          <p:grpSp>
            <p:nvGrpSpPr>
              <p:cNvPr id="101" name="SmartArt Fallback Group"/>
              <p:cNvGrpSpPr/>
              <p:nvPr/>
            </p:nvGrpSpPr>
            <p:grpSpPr>
              <a:xfrm>
                <a:off x="457200" y="1371600"/>
                <a:ext cx="8229600" cy="2743200"/>
                <a:chOff x="0" y="0"/>
                <a:chExt cx="8229600" cy="2743200"/>
              </a:xfrm>
            </p:grpSpPr>
            <p:sp>
              <p:nvSpPr>
                <p:cNvPr id="102" name="Step 1"/>
                <p:cNvSpPr/>
                <p:nvPr/>
              </p:nvSpPr>
              <p:spPr>
                <a:xfrm>
                  <a:off x="0" y="457200"/>
                  <a:ext cx="2286000" cy="1828800"/>
                </a:xfrm>
                <a:prstGeom prst="roundRect">
                  <a:avLst/>
                </a:prstGeom>
                <a:solidFill>
                  <a:srgbClr val="4472C4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Plan</a:t>
                  </a:r>
                </a:p>
              </p:txBody>
            </p:sp>
            <p:sp>
              <p:nvSpPr>
                <p:cNvPr id="103" name="Step 2"/>
                <p:cNvSpPr/>
                <p:nvPr/>
              </p:nvSpPr>
              <p:spPr>
                <a:xfrm>
                  <a:off x="2971800" y="457200"/>
                  <a:ext cx="2286000" cy="1828800"/>
                </a:xfrm>
                <a:prstGeom prst="roundRect">
                  <a:avLst/>
                </a:prstGeom>
                <a:solidFill>
                  <a:srgbClr val="ED7D31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Build</a:t>
                  </a:r>
                </a:p>
              </p:txBody>
            </p:sp>
            <p:sp>
              <p:nvSpPr>
                <p:cNvPr id="104" name="Step 3"/>
                <p:cNvSpPr/>
                <p:nvPr/>
              </p:nvSpPr>
              <p:spPr>
                <a:xfrm>
                  <a:off x="5943600" y="457200"/>
                  <a:ext cx="2286000" cy="182880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txBody>
                <a:bodyPr anchor="ctr" wrap="square"/>
                <a:lstStyle/>
                <a:p>
                  <a:pPr algn="ctr"/>
                  <a:r>
                    <a:rPr lang="en-US" sz="1800" b="1">
                      <a:solidFill>
                        <a:srgbClr val="FFFFFF"/>
                      </a:solidFill>
                    </a:rPr>
                    <a:t>Ship</a:t>
                  </a:r>
                </a:p>
              </p:txBody>
            </p:sp>
          </p:grpSp>
        </mc:Fallback>
      </mc:AlternateContent>
      <p:sp>
        <p:nvSpPr>
          <p:cNvPr id="105" name="TextBox 104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75: SmartArt Fallback (mc:AlternateContent)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OLE Object"/>
          <p:cNvGraphicFramePr/>
          <p:nvPr/>
        </p:nvGraphicFramePr>
        <p:xfrm>
          <a:off x="914400" y="1828800"/>
          <a:ext cx="4572000" cy="3429000"/>
        </p:xfrm>
        <a:graphic>
          <a:graphicData uri="http://schemas.openxmlformats.org/presentationml/2006/ole">
            <p:oleObj r:id="rId3" imgW="4572000" imgH="3429000" progId="Excel.Sheet.12" name="Embedded Spreadsheet">
              <p:embed/>
              <p:pic>
                <p:nvPicPr>
                  <p:cNvPr id="201" name="OLE Fallback"/>
                  <p:cNvPicPr/>
                  <p:nvPr/>
                </p:nvPicPr>
                <p:blipFill>
                  <a:blip r:embed="rId2"/>
                  <a:stretch>
                    <a:fillRect/>
                  </a:stretch>
                </p:blipFill>
                <p:spPr>
                  <a:xfrm>
                    <a:off x="0" y="0"/>
                    <a:ext cx="4572000" cy="3429000"/>
                  </a:xfrm>
                  <a:prstGeom prst="rect">
                    <a:avLst/>
                  </a:prstGeom>
                </p:spPr>
              </p:pic>
            </p:oleObj>
          </a:graphicData>
        </a:graphic>
      </p:graphicFrame>
      <p:sp>
        <p:nvSpPr>
          <p:cNvPr id="202" name="TextBox 20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76: OLE Embedded Object (p:oleObj)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Video Placeholder"/>
          <p:cNvPicPr/>
          <p:nvPr>
            <a:videoFile r:link="rId3"/>
          </p:nvPr>
        </p:nvPicPr>
        <p:blipFill>
          <a:blip r:embed="rId2"/>
          <a:stretch>
            <a:fillRect/>
          </a:stretch>
        </p:blipFill>
        <p:spPr>
          <a:xfrm>
            <a:off x="1371600" y="1828800"/>
            <a:ext cx="6858000" cy="3886200"/>
          </a:xfrm>
          <a:prstGeom prst="rect">
            <a:avLst/>
          </a:prstGeom>
        </p:spPr>
      </p:pic>
      <p:sp>
        <p:nvSpPr>
          <p:cNvPr id="301" name="TextBox 300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77: Media (Video with Poster Frame)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Slide 78: Math Equation (OMML)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8288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m:oMathPara xmlns:m="http://schemas.openxmlformats.org/officeDocument/2006/math">
              <m:oMath>
                <m:r>
                  <m:t>x</m:t>
                </m:r>
                <m:r>
                  <m:t>=</m:t>
                </m:r>
                <m:f>
                  <m:num>
                    <m:r>
                      <m:t>-b±</m:t>
                    </m:r>
                    <m:rad>
                      <m:radPr>
                        <m:degHide m:val="1"/>
                      </m:radPr>
                      <m:deg/>
                      <m:e>
                        <m:sSup>
                          <m:e>
                            <m:r>
                              <m:t>b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t>-4ac</m:t>
                        </m:r>
                      </m:e>
                    </m:rad>
                  </m:num>
                  <m:den>
                    <m:r>
                      <m:t>2a</m:t>
                    </m:r>
                  </m:den>
                </m:f>
              </m:oMath>
            </m:oMathPara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79: Transition + Timing (round-trip)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This slide has a fade transition and timing data for round-trip.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80: Hidden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This slide is marked as hidden (show='0').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