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mp4" ContentType="video/mp4"/>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10.xml" ContentType="application/vnd.openxmlformats-officedocument.drawingml.chart+xml"/>
  <Override PartName="/ppt/charts/chart11.xml" ContentType="application/vnd.openxmlformats-officedocument.drawingml.chart+xml"/>
  <Override PartName="/ppt/charts/chart12.xml" ContentType="application/vnd.openxmlformats-officedocument.drawingml.chart+xml"/>
  <Override PartName="/ppt/charts/chart13.xml" ContentType="application/vnd.openxmlformats-officedocument.drawingml.chart+xml"/>
  <Override PartName="/ppt/charts/chart14.xml" ContentType="application/vnd.openxmlformats-officedocument.drawingml.chart+xml"/>
  <Override PartName="/ppt/charts/chart15.xml" ContentType="application/vnd.openxmlformats-officedocument.drawingml.chart+xml"/>
  <Override PartName="/ppt/charts/chart16.xml" ContentType="application/vnd.openxmlformats-officedocument.drawingml.chart+xml"/>
  <Override PartName="/ppt/charts/chart17.xml" ContentType="application/vnd.openxmlformats-officedocument.drawingml.chart+xml"/>
  <Override PartName="/ppt/charts/chart18.xml" ContentType="application/vnd.openxmlformats-officedocument.drawingml.chart+xml"/>
  <Override PartName="/ppt/charts/chart19.xml" ContentType="application/vnd.openxmlformats-officedocument.drawingml.chart+xml"/>
  <Override PartName="/ppt/charts/chart2.xml" ContentType="application/vnd.openxmlformats-officedocument.drawingml.chart+xml"/>
  <Override PartName="/ppt/charts/chart20.xml" ContentType="application/vnd.openxmlformats-officedocument.drawingml.chart+xml"/>
  <Override PartName="/ppt/charts/chart21.xml" ContentType="application/vnd.openxmlformats-officedocument.drawingml.chart+xml"/>
  <Override PartName="/ppt/charts/chart22.xml" ContentType="application/vnd.openxmlformats-officedocument.drawingml.chart+xml"/>
  <Override PartName="/ppt/charts/chart23.xml" ContentType="application/vnd.openxmlformats-officedocument.drawingml.chart+xml"/>
  <Override PartName="/ppt/charts/chart24.xml" ContentType="application/vnd.openxmlformats-officedocument.drawingml.chart+xml"/>
  <Override PartName="/ppt/charts/chart25.xml" ContentType="application/vnd.openxmlformats-officedocument.drawingml.chart+xml"/>
  <Override PartName="/ppt/charts/chart26.xml" ContentType="application/vnd.openxmlformats-officedocument.drawingml.chart+xml"/>
  <Override PartName="/ppt/charts/chart27.xml" ContentType="application/vnd.openxmlformats-officedocument.drawingml.chart+xml"/>
  <Override PartName="/ppt/charts/chart28.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commentAuthors.xml" ContentType="application/vnd.openxmlformats-officedocument.presentationml.commentAuthors+xml"/>
  <Override PartName="/ppt/comments/comment75.xml" ContentType="application/vnd.openxmlformats-officedocument.presentationml.comments+xml"/>
  <Override PartName="/ppt/embeddings/oleObject77.bin" ContentType="application/vnd.openxmlformats-officedocument.oleObject"/>
  <Override PartName="/ppt/notesMasters/notesMaster1.xml" ContentType="application/vnd.openxmlformats-officedocument.presentationml.notesMaster+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Default Extension="wmf" ContentType="image/x-wmf"/>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 id="303" r:id="rId54"/>
    <p:sldId id="304" r:id="rId55"/>
    <p:sldId id="305" r:id="rId56"/>
    <p:sldId id="306" r:id="rId57"/>
    <p:sldId id="307" r:id="rId58"/>
    <p:sldId id="308" r:id="rId59"/>
    <p:sldId id="309" r:id="rId60"/>
    <p:sldId id="310" r:id="rId61"/>
    <p:sldId id="311" r:id="rId62"/>
    <p:sldId id="312" r:id="rId63"/>
    <p:sldId id="313" r:id="rId64"/>
    <p:sldId id="314" r:id="rId65"/>
    <p:sldId id="315" r:id="rId66"/>
    <p:sldId id="316" r:id="rId67"/>
    <p:sldId id="317" r:id="rId68"/>
    <p:sldId id="318" r:id="rId69"/>
    <p:sldId id="319" r:id="rId70"/>
    <p:sldId id="320" r:id="rId71"/>
    <p:sldId id="321" r:id="rId72"/>
    <p:sldId id="322" r:id="rId73"/>
    <p:sldId id="323" r:id="rId74"/>
    <p:sldId id="324" r:id="rId75"/>
    <p:sldId id="325" r:id="rId76"/>
    <p:sldId id="326" r:id="rId77"/>
    <p:sldId id="327" r:id="rId78"/>
    <p:sldId id="328" r:id="rId79"/>
    <p:sldId id="329" r:id="rId80"/>
    <p:sldId id="330" r:id="rId81"/>
    <p:sldId id="331" r:id="rId84"/>
    <p:sldId id="332" r:id="rId85"/>
    <p:sldId id="333" r:id="rId86"/>
    <p:sldId id="334" r:id="rId87"/>
    <p:sldId id="335" r:id="rId88"/>
    <p:sldId id="336" r:id="rId89"/>
    <p:sldId id="337" r:id="rId90"/>
    <p:sldId id="338" r:id="rId91"/>
    <p:sldId id="339" r:id="rId92"/>
    <p:sldId id="340" r:id="rId93"/>
    <p:sldId id="341" r:id="rId94"/>
    <p:sldId id="342" r:id="rId95"/>
    <p:sldId id="343" r:id="rId96"/>
    <p:sldId id="344" r:id="rId9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commentAuthors.xml><?xml version="1.0" encoding="utf-8"?>
<p:cmAuthorLst xmlns:p="http://schemas.openxmlformats.org/presentationml/2006/main">
  <p:cmAuthor id="1" name="Test User" initials="TU" lastIdx="2" clrIdx="0"/>
</p:cm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 Id="rId67" Type="http://schemas.openxmlformats.org/officeDocument/2006/relationships/slide" Target="slides/slide61.xml"/><Relationship Id="rId68" Type="http://schemas.openxmlformats.org/officeDocument/2006/relationships/slide" Target="slides/slide62.xml"/><Relationship Id="rId69" Type="http://schemas.openxmlformats.org/officeDocument/2006/relationships/slide" Target="slides/slide63.xml"/><Relationship Id="rId70" Type="http://schemas.openxmlformats.org/officeDocument/2006/relationships/slide" Target="slides/slide64.xml"/><Relationship Id="rId71" Type="http://schemas.openxmlformats.org/officeDocument/2006/relationships/slide" Target="slides/slide65.xml"/><Relationship Id="rId72" Type="http://schemas.openxmlformats.org/officeDocument/2006/relationships/slide" Target="slides/slide66.xml"/><Relationship Id="rId73" Type="http://schemas.openxmlformats.org/officeDocument/2006/relationships/slide" Target="slides/slide67.xml"/><Relationship Id="rId74" Type="http://schemas.openxmlformats.org/officeDocument/2006/relationships/slide" Target="slides/slide68.xml"/><Relationship Id="rId75" Type="http://schemas.openxmlformats.org/officeDocument/2006/relationships/slide" Target="slides/slide69.xml"/><Relationship Id="rId76" Type="http://schemas.openxmlformats.org/officeDocument/2006/relationships/slide" Target="slides/slide70.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notesMaster" Target="notesMasters/notesMaster1.xml"/><Relationship Id="rId83" Type="http://schemas.openxmlformats.org/officeDocument/2006/relationships/commentAuthors" Target="commentAuthors.xml"/><Relationship Id="rId84" Type="http://schemas.openxmlformats.org/officeDocument/2006/relationships/slide" Target="slides/slide76.xml"/><Relationship Id="rId85" Type="http://schemas.openxmlformats.org/officeDocument/2006/relationships/slide" Target="slides/slide77.xml"/><Relationship Id="rId86" Type="http://schemas.openxmlformats.org/officeDocument/2006/relationships/slide" Target="slides/slide78.xml"/><Relationship Id="rId87" Type="http://schemas.openxmlformats.org/officeDocument/2006/relationships/slide" Target="slides/slide79.xml"/><Relationship Id="rId88" Type="http://schemas.openxmlformats.org/officeDocument/2006/relationships/slide" Target="slides/slide80.xml"/><Relationship Id="rId89" Type="http://schemas.openxmlformats.org/officeDocument/2006/relationships/slide" Target="slides/slide81.xml"/><Relationship Id="rId90" Type="http://schemas.openxmlformats.org/officeDocument/2006/relationships/slide" Target="slides/slide82.xml"/><Relationship Id="rId91" Type="http://schemas.openxmlformats.org/officeDocument/2006/relationships/slide" Target="slides/slide83.xml"/><Relationship Id="rId92" Type="http://schemas.openxmlformats.org/officeDocument/2006/relationships/slide" Target="slides/slide84.xml"/><Relationship Id="rId93" Type="http://schemas.openxmlformats.org/officeDocument/2006/relationships/slide" Target="slides/slide85.xml"/><Relationship Id="rId94" Type="http://schemas.openxmlformats.org/officeDocument/2006/relationships/slide" Target="slides/slide86.xml"/><Relationship Id="rId95" Type="http://schemas.openxmlformats.org/officeDocument/2006/relationships/slide" Target="slides/slide87.xml"/><Relationship Id="rId96" Type="http://schemas.openxmlformats.org/officeDocument/2006/relationships/slide" Target="slides/slide88.xml"/><Relationship Id="rId97" Type="http://schemas.openxmlformats.org/officeDocument/2006/relationships/slide" Target="slides/slide89.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_rels/chart10.xml.rels><?xml version='1.0' encoding='UTF-8' standalone='yes'?>
<Relationships xmlns="http://schemas.openxmlformats.org/package/2006/relationships"><Relationship Id="rId1" Type="http://schemas.openxmlformats.org/officeDocument/2006/relationships/package" Target="../embeddings/Microsoft_Excel_Sheet10.xlsx"/></Relationships>
</file>

<file path=ppt/charts/_rels/chart11.xml.rels><?xml version='1.0' encoding='UTF-8' standalone='yes'?>
<Relationships xmlns="http://schemas.openxmlformats.org/package/2006/relationships"><Relationship Id="rId1" Type="http://schemas.openxmlformats.org/officeDocument/2006/relationships/package" Target="../embeddings/Microsoft_Excel_Sheet11.xlsx"/></Relationships>
</file>

<file path=ppt/charts/_rels/chart12.xml.rels><?xml version='1.0' encoding='UTF-8' standalone='yes'?>
<Relationships xmlns="http://schemas.openxmlformats.org/package/2006/relationships"><Relationship Id="rId1" Type="http://schemas.openxmlformats.org/officeDocument/2006/relationships/package" Target="../embeddings/Microsoft_Excel_Sheet12.xlsx"/></Relationships>
</file>

<file path=ppt/charts/_rels/chart13.xml.rels><?xml version='1.0' encoding='UTF-8' standalone='yes'?>
<Relationships xmlns="http://schemas.openxmlformats.org/package/2006/relationships"><Relationship Id="rId1" Type="http://schemas.openxmlformats.org/officeDocument/2006/relationships/package" Target="../embeddings/Microsoft_Excel_Sheet13.xlsx"/></Relationships>
</file>

<file path=ppt/charts/_rels/chart14.xml.rels><?xml version='1.0' encoding='UTF-8' standalone='yes'?>
<Relationships xmlns="http://schemas.openxmlformats.org/package/2006/relationships"><Relationship Id="rId1" Type="http://schemas.openxmlformats.org/officeDocument/2006/relationships/package" Target="../embeddings/Microsoft_Excel_Sheet14.xlsx"/></Relationships>
</file>

<file path=ppt/charts/_rels/chart15.xml.rels><?xml version='1.0' encoding='UTF-8' standalone='yes'?>
<Relationships xmlns="http://schemas.openxmlformats.org/package/2006/relationships"><Relationship Id="rId1" Type="http://schemas.openxmlformats.org/officeDocument/2006/relationships/package" Target="../embeddings/Microsoft_Excel_Sheet15.xlsx"/></Relationships>
</file>

<file path=ppt/charts/_rels/chart16.xml.rels><?xml version='1.0' encoding='UTF-8' standalone='yes'?>
<Relationships xmlns="http://schemas.openxmlformats.org/package/2006/relationships"><Relationship Id="rId1" Type="http://schemas.openxmlformats.org/officeDocument/2006/relationships/package" Target="../embeddings/Microsoft_Excel_Sheet16.xlsx"/></Relationships>
</file>

<file path=ppt/charts/_rels/chart17.xml.rels><?xml version='1.0' encoding='UTF-8' standalone='yes'?>
<Relationships xmlns="http://schemas.openxmlformats.org/package/2006/relationships"><Relationship Id="rId1" Type="http://schemas.openxmlformats.org/officeDocument/2006/relationships/package" Target="../embeddings/Microsoft_Excel_Sheet17.xlsx"/></Relationships>
</file>

<file path=ppt/charts/_rels/chart18.xml.rels><?xml version='1.0' encoding='UTF-8' standalone='yes'?>
<Relationships xmlns="http://schemas.openxmlformats.org/package/2006/relationships"><Relationship Id="rId1" Type="http://schemas.openxmlformats.org/officeDocument/2006/relationships/package" Target="../embeddings/Microsoft_Excel_Sheet18.xlsx"/></Relationships>
</file>

<file path=ppt/charts/_rels/chart19.xml.rels><?xml version='1.0' encoding='UTF-8' standalone='yes'?>
<Relationships xmlns="http://schemas.openxmlformats.org/package/2006/relationships"><Relationship Id="rId1" Type="http://schemas.openxmlformats.org/officeDocument/2006/relationships/package" Target="../embeddings/Microsoft_Excel_Sheet19.xlsx"/></Relationships>
</file>

<file path=ppt/charts/_rels/chart20.xml.rels><?xml version='1.0' encoding='UTF-8' standalone='yes'?>
<Relationships xmlns="http://schemas.openxmlformats.org/package/2006/relationships"><Relationship Id="rId1" Type="http://schemas.openxmlformats.org/officeDocument/2006/relationships/package" Target="../embeddings/Microsoft_Excel_Sheet20.xlsx"/></Relationships>
</file>

<file path=ppt/charts/_rels/chart21.xml.rels><?xml version='1.0' encoding='UTF-8' standalone='yes'?>
<Relationships xmlns="http://schemas.openxmlformats.org/package/2006/relationships"><Relationship Id="rId1" Type="http://schemas.openxmlformats.org/officeDocument/2006/relationships/package" Target="../embeddings/Microsoft_Excel_Sheet21.xlsx"/></Relationships>
</file>

<file path=ppt/charts/_rels/chart22.xml.rels><?xml version='1.0' encoding='UTF-8' standalone='yes'?>
<Relationships xmlns="http://schemas.openxmlformats.org/package/2006/relationships"><Relationship Id="rId1" Type="http://schemas.openxmlformats.org/officeDocument/2006/relationships/package" Target="../embeddings/Microsoft_Excel_Sheet22.xlsx"/></Relationships>
</file>

<file path=ppt/charts/_rels/chart23.xml.rels><?xml version='1.0' encoding='UTF-8' standalone='yes'?>
<Relationships xmlns="http://schemas.openxmlformats.org/package/2006/relationships"><Relationship Id="rId1" Type="http://schemas.openxmlformats.org/officeDocument/2006/relationships/package" Target="../embeddings/Microsoft_Excel_Sheet23.xlsx"/></Relationships>
</file>

<file path=ppt/charts/_rels/chart24.xml.rels><?xml version='1.0' encoding='UTF-8' standalone='yes'?>
<Relationships xmlns="http://schemas.openxmlformats.org/package/2006/relationships"><Relationship Id="rId1" Type="http://schemas.openxmlformats.org/officeDocument/2006/relationships/package" Target="../embeddings/Microsoft_Excel_Sheet24.xlsx"/></Relationships>
</file>

<file path=ppt/charts/_rels/chart25.xml.rels><?xml version='1.0' encoding='UTF-8' standalone='yes'?>
<Relationships xmlns="http://schemas.openxmlformats.org/package/2006/relationships"><Relationship Id="rId1" Type="http://schemas.openxmlformats.org/officeDocument/2006/relationships/package" Target="../embeddings/Microsoft_Excel_Sheet25.xlsx"/></Relationships>
</file>

<file path=ppt/charts/_rels/chart26.xml.rels><?xml version='1.0' encoding='UTF-8' standalone='yes'?>
<Relationships xmlns="http://schemas.openxmlformats.org/package/2006/relationships"><Relationship Id="rId1" Type="http://schemas.openxmlformats.org/officeDocument/2006/relationships/package" Target="../embeddings/Microsoft_Excel_Sheet26.xlsx"/></Relationships>
</file>

<file path=ppt/charts/_rels/chart27.xml.rels><?xml version='1.0' encoding='UTF-8' standalone='yes'?>
<Relationships xmlns="http://schemas.openxmlformats.org/package/2006/relationships"><Relationship Id="rId1" Type="http://schemas.openxmlformats.org/officeDocument/2006/relationships/package" Target="../embeddings/Microsoft_Excel_Sheet27.xlsx"/></Relationships>
</file>

<file path=ppt/charts/_rels/chart28.xml.rels><?xml version='1.0' encoding='UTF-8' standalone='yes'?>
<Relationships xmlns="http://schemas.openxmlformats.org/package/2006/relationships"><Relationship Id="rId1" Type="http://schemas.openxmlformats.org/officeDocument/2006/relationships/package" Target="../embeddings/Microsoft_Excel_Sheet28.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Sales 2024</c:v>
                </c:pt>
              </c:strCache>
            </c:strRef>
          </c:tx>
          <c:cat>
            <c:strRef>
              <c:f>Sheet1!$A$2:$A$5</c:f>
              <c:strCache>
                <c:ptCount val="4"/>
                <c:pt idx="0">
                  <c:v>Q1</c:v>
                </c:pt>
                <c:pt idx="1">
                  <c:v>Q2</c:v>
                </c:pt>
                <c:pt idx="2">
                  <c:v>Q3</c:v>
                </c:pt>
                <c:pt idx="3">
                  <c:v>Q4</c:v>
                </c:pt>
              </c:strCache>
            </c:strRef>
          </c:cat>
          <c:val>
            <c:numRef>
              <c:f>Sheet1!$B$2:$B$5</c:f>
              <c:numCache>
                <c:formatCode>General</c:formatCode>
                <c:ptCount val="4"/>
                <c:pt idx="0">
                  <c:v>120</c:v>
                </c:pt>
                <c:pt idx="1">
                  <c:v>150</c:v>
                </c:pt>
                <c:pt idx="2">
                  <c:v>180</c:v>
                </c:pt>
                <c:pt idx="3">
                  <c:v>200</c:v>
                </c:pt>
              </c:numCache>
            </c:numRef>
          </c:val>
        </c:ser>
        <c:ser>
          <c:idx val="1"/>
          <c:order val="1"/>
          <c:tx>
            <c:strRef>
              <c:f>Sheet1!$C$1</c:f>
              <c:strCache>
                <c:ptCount val="1"/>
                <c:pt idx="0">
                  <c:v>Sales 2025</c:v>
                </c:pt>
              </c:strCache>
            </c:strRef>
          </c:tx>
          <c:cat>
            <c:strRef>
              <c:f>Sheet1!$A$2:$A$5</c:f>
              <c:strCache>
                <c:ptCount val="4"/>
                <c:pt idx="0">
                  <c:v>Q1</c:v>
                </c:pt>
                <c:pt idx="1">
                  <c:v>Q2</c:v>
                </c:pt>
                <c:pt idx="2">
                  <c:v>Q3</c:v>
                </c:pt>
                <c:pt idx="3">
                  <c:v>Q4</c:v>
                </c:pt>
              </c:strCache>
            </c:strRef>
          </c:cat>
          <c:val>
            <c:numRef>
              <c:f>Sheet1!$C$2:$C$5</c:f>
              <c:numCache>
                <c:formatCode>General</c:formatCode>
                <c:ptCount val="4"/>
                <c:pt idx="0">
                  <c:v>100</c:v>
                </c:pt>
                <c:pt idx="1">
                  <c:v>130</c:v>
                </c:pt>
                <c:pt idx="2">
                  <c:v>160</c:v>
                </c:pt>
                <c:pt idx="3">
                  <c:v>190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Revenue</c:v>
                </c:pt>
              </c:strCache>
            </c:strRef>
          </c:tx>
          <c:marker>
            <c:symbol val="none"/>
          </c:marker>
          <c:cat>
            <c:strRef>
              <c:f>Sheet1!$A$2:$A$6</c:f>
              <c:strCache>
                <c:ptCount val="5"/>
                <c:pt idx="0">
                  <c:v>Jan</c:v>
                </c:pt>
                <c:pt idx="1">
                  <c:v>Feb</c:v>
                </c:pt>
                <c:pt idx="2">
                  <c:v>Mar</c:v>
                </c:pt>
                <c:pt idx="3">
                  <c:v>Apr</c:v>
                </c:pt>
                <c:pt idx="4">
                  <c:v>May</c:v>
                </c:pt>
              </c:strCache>
            </c:strRef>
          </c:cat>
          <c:val>
            <c:numRef>
              <c:f>Sheet1!$B$2:$B$6</c:f>
              <c:numCache>
                <c:formatCode>General</c:formatCode>
                <c:ptCount val="5"/>
                <c:pt idx="0">
                  <c:v>80</c:v>
                </c:pt>
                <c:pt idx="1">
                  <c:v>95</c:v>
                </c:pt>
                <c:pt idx="2">
                  <c:v>110</c:v>
                </c:pt>
                <c:pt idx="3">
                  <c:v>105</c:v>
                </c:pt>
                <c:pt idx="4">
                  <c:v>130</c:v>
                </c:pt>
              </c:numCache>
            </c:numRef>
          </c:val>
          <c:smooth val="0"/>
        </c:ser>
        <c:ser>
          <c:idx val="1"/>
          <c:order val="1"/>
          <c:tx>
            <c:strRef>
              <c:f>Sheet1!$C$1</c:f>
              <c:strCache>
                <c:ptCount val="1"/>
                <c:pt idx="0">
                  <c:v>Cost</c:v>
                </c:pt>
              </c:strCache>
            </c:strRef>
          </c:tx>
          <c:marker>
            <c:symbol val="none"/>
          </c:marker>
          <c:cat>
            <c:strRef>
              <c:f>Sheet1!$A$2:$A$6</c:f>
              <c:strCache>
                <c:ptCount val="5"/>
                <c:pt idx="0">
                  <c:v>Jan</c:v>
                </c:pt>
                <c:pt idx="1">
                  <c:v>Feb</c:v>
                </c:pt>
                <c:pt idx="2">
                  <c:v>Mar</c:v>
                </c:pt>
                <c:pt idx="3">
                  <c:v>Apr</c:v>
                </c:pt>
                <c:pt idx="4">
                  <c:v>May</c:v>
                </c:pt>
              </c:strCache>
            </c:strRef>
          </c:cat>
          <c:val>
            <c:numRef>
              <c:f>Sheet1!$C$2:$C$6</c:f>
              <c:numCache>
                <c:formatCode>General</c:formatCode>
                <c:ptCount val="5"/>
                <c:pt idx="0">
                  <c:v>60</c:v>
                </c:pt>
                <c:pt idx="1">
                  <c:v>65</c:v>
                </c:pt>
                <c:pt idx="2">
                  <c:v>70</c:v>
                </c:pt>
                <c:pt idx="3">
                  <c:v>75</c:v>
                </c:pt>
                <c:pt idx="4">
                  <c:v>80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Market Share</c:v>
                </c:pt>
              </c:strCache>
            </c:strRef>
          </c:tx>
          <c:cat>
            <c:strRef>
              <c:f>Sheet1!$A$2:$A$5</c:f>
              <c:strCache>
                <c:ptCount val="4"/>
                <c:pt idx="0">
                  <c:v>Desktop</c:v>
                </c:pt>
                <c:pt idx="1">
                  <c:v>Mobile</c:v>
                </c:pt>
                <c:pt idx="2">
                  <c:v>Tablet</c:v>
                </c:pt>
                <c:pt idx="3">
                  <c:v>Other</c:v>
                </c:pt>
              </c:strCache>
            </c:strRef>
          </c:cat>
          <c:val>
            <c:numRef>
              <c:f>Sheet1!$B$2:$B$5</c:f>
              <c:numCache>
                <c:formatCode>General</c:formatCode>
                <c:ptCount val="4"/>
                <c:pt idx="0">
                  <c:v>45</c:v>
                </c:pt>
                <c:pt idx="1">
                  <c:v>35</c:v>
                </c:pt>
                <c:pt idx="2">
                  <c:v>15</c:v>
                </c:pt>
                <c:pt idx="3">
                  <c:v>5</c:v>
                </c:pt>
              </c:numCache>
            </c:numRef>
          </c:val>
        </c:ser>
      </c:pieChart>
    </c:plotArea>
    <c:legend/>
    <c:dispBlanksAs val="gap"/>
  </c:chart>
  <c:txPr>
    <a:bodyPr/>
    <a:lstStyle/>
    <a:p>
      <a:pPr>
        <a:defRPr sz="1800"/>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Units Sold</c:v>
                </c:pt>
              </c:strCache>
            </c:strRef>
          </c:tx>
          <c:cat>
            <c:strRef>
              <c:f>Sheet1!$A$2:$A$4</c:f>
              <c:strCache>
                <c:ptCount val="3"/>
                <c:pt idx="0">
                  <c:v>Product A</c:v>
                </c:pt>
                <c:pt idx="1">
                  <c:v>Product B</c:v>
                </c:pt>
                <c:pt idx="2">
                  <c:v>Product C</c:v>
                </c:pt>
              </c:strCache>
            </c:strRef>
          </c:cat>
          <c:val>
            <c:numRef>
              <c:f>Sheet1!$B$2:$B$4</c:f>
              <c:numCache>
                <c:formatCode>General</c:formatCode>
                <c:ptCount val="3"/>
                <c:pt idx="0">
                  <c:v>250</c:v>
                </c:pt>
                <c:pt idx="1">
                  <c:v>180</c:v>
                </c:pt>
                <c:pt idx="2">
                  <c:v>320</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Responses</c:v>
                </c:pt>
              </c:strCache>
            </c:strRef>
          </c:tx>
          <c:cat>
            <c:strRef>
              <c:f>Sheet1!$A$2:$A$4</c:f>
              <c:strCache>
                <c:ptCount val="3"/>
                <c:pt idx="0">
                  <c:v>Yes</c:v>
                </c:pt>
                <c:pt idx="1">
                  <c:v>No</c:v>
                </c:pt>
                <c:pt idx="2">
                  <c:v>Maybe</c:v>
                </c:pt>
              </c:strCache>
            </c:strRef>
          </c:cat>
          <c:val>
            <c:numRef>
              <c:f>Sheet1!$B$2:$B$4</c:f>
              <c:numCache>
                <c:formatCode>General</c:formatCode>
                <c:ptCount val="3"/>
                <c:pt idx="0">
                  <c:v>60</c:v>
                </c:pt>
                <c:pt idx="1">
                  <c:v>25</c:v>
                </c:pt>
                <c:pt idx="2">
                  <c:v>15</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North</c:v>
                </c:pt>
                <c:pt idx="1">
                  <c:v>South</c:v>
                </c:pt>
                <c:pt idx="2">
                  <c:v>East</c:v>
                </c:pt>
                <c:pt idx="3">
                  <c:v>West</c:v>
                </c:pt>
              </c:strCache>
            </c:strRef>
          </c:cat>
          <c:val>
            <c:numRef>
              <c:f>Sheet1!$B$2:$B$5</c:f>
              <c:numCache>
                <c:formatCode>General</c:formatCode>
                <c:ptCount val="4"/>
                <c:pt idx="0">
                  <c:v>320</c:v>
                </c:pt>
                <c:pt idx="1">
                  <c:v>280</c:v>
                </c:pt>
                <c:pt idx="2">
                  <c:v>190</c:v>
                </c:pt>
                <c:pt idx="3">
                  <c:v>410</c:v>
                </c:pt>
              </c:numCache>
            </c:numRef>
          </c:val>
        </c:ser>
        <c:dLbls>
          <c:showLegendKey val="0"/>
          <c:showVal val="1"/>
          <c:showCatName val="0"/>
          <c:showSerName val="0"/>
          <c:showPercent val="0"/>
          <c:showBubbleSize val="0"/>
          <c:showLeaderLines val="1"/>
        </c:dLbls>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Browser Share</c:v>
                </c:pt>
              </c:strCache>
            </c:strRef>
          </c:tx>
          <c:cat>
            <c:strRef>
              <c:f>Sheet1!$A$2:$A$6</c:f>
              <c:strCache>
                <c:ptCount val="5"/>
                <c:pt idx="0">
                  <c:v>Chrome</c:v>
                </c:pt>
                <c:pt idx="1">
                  <c:v>Firefox</c:v>
                </c:pt>
                <c:pt idx="2">
                  <c:v>Safari</c:v>
                </c:pt>
                <c:pt idx="3">
                  <c:v>Edge</c:v>
                </c:pt>
                <c:pt idx="4">
                  <c:v>Other</c:v>
                </c:pt>
              </c:strCache>
            </c:strRef>
          </c:cat>
          <c:val>
            <c:numRef>
              <c:f>Sheet1!$B$2:$B$6</c:f>
              <c:numCache>
                <c:formatCode>General</c:formatCode>
                <c:ptCount val="5"/>
                <c:pt idx="0">
                  <c:v>65</c:v>
                </c:pt>
                <c:pt idx="1">
                  <c:v>10</c:v>
                </c:pt>
                <c:pt idx="2">
                  <c:v>18</c:v>
                </c:pt>
                <c:pt idx="3">
                  <c:v>5</c:v>
                </c:pt>
                <c:pt idx="4">
                  <c:v>2</c:v>
                </c:pt>
              </c:numCache>
            </c:numRef>
          </c:val>
          <c:dPt>
            <c:idx val="0"/>
            <c:spPr>
              <a:solidFill>
                <a:srgbClr val="4285F4"/>
              </a:solidFill>
            </c:spPr>
          </c:dPt>
          <c:dPt>
            <c:idx val="1"/>
            <c:spPr>
              <a:solidFill>
                <a:srgbClr val="FF7139"/>
              </a:solidFill>
            </c:spPr>
          </c:dPt>
          <c:dPt>
            <c:idx val="2"/>
            <c:spPr>
              <a:solidFill>
                <a:srgbClr val="000000"/>
              </a:solidFill>
            </c:spPr>
          </c:dPt>
          <c:dPt>
            <c:idx val="3"/>
            <c:spPr>
              <a:solidFill>
                <a:srgbClr val="0078D4"/>
              </a:solidFill>
            </c:spPr>
          </c:dPt>
          <c:dPt>
            <c:idx val="4"/>
            <c:spPr>
              <a:solidFill>
                <a:srgbClr val="888888"/>
              </a:solidFill>
            </c:spPr>
          </c:dPt>
        </c:ser>
        <c:dLbls>
          <c:showLegendKey val="0"/>
          <c:showVal val="0"/>
          <c:showCatName val="1"/>
          <c:showSerName val="0"/>
          <c:showPercent val="1"/>
          <c:showBubbleSize val="0"/>
          <c:showLeaderLines val="1"/>
        </c:dLbls>
      </c:pieChart>
    </c:plotArea>
    <c:legend/>
    <c:dispBlanksAs val="gap"/>
  </c:chart>
  <c:txPr>
    <a:bodyPr/>
    <a:lstStyle/>
    <a:p>
      <a:pPr>
        <a:defRPr sz="1800"/>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Actual</c:v>
                </c:pt>
              </c:strCache>
            </c:strRef>
          </c:tx>
          <c:spPr>
            <a:ln>
              <a:solidFill>
                <a:srgbClr val="008800"/>
              </a:solidFill>
            </a:ln>
          </c:spPr>
          <c:marker>
            <c:symbol val="none"/>
          </c:marker>
          <c:cat>
            <c:strRef>
              <c:f>Sheet1!$A$2:$A$5</c:f>
              <c:strCache>
                <c:ptCount val="4"/>
                <c:pt idx="0">
                  <c:v>Week 1</c:v>
                </c:pt>
                <c:pt idx="1">
                  <c:v>Week 2</c:v>
                </c:pt>
                <c:pt idx="2">
                  <c:v>Week 3</c:v>
                </c:pt>
                <c:pt idx="3">
                  <c:v>Week 4</c:v>
                </c:pt>
              </c:strCache>
            </c:strRef>
          </c:cat>
          <c:val>
            <c:numRef>
              <c:f>Sheet1!$B$2:$B$5</c:f>
              <c:numCache>
                <c:formatCode>General</c:formatCode>
                <c:ptCount val="4"/>
                <c:pt idx="0">
                  <c:v>10</c:v>
                </c:pt>
                <c:pt idx="1">
                  <c:v>25</c:v>
                </c:pt>
                <c:pt idx="2">
                  <c:v>40</c:v>
                </c:pt>
                <c:pt idx="3">
                  <c:v>55</c:v>
                </c:pt>
              </c:numCache>
            </c:numRef>
          </c:val>
          <c:smooth val="0"/>
        </c:ser>
        <c:ser>
          <c:idx val="1"/>
          <c:order val="1"/>
          <c:tx>
            <c:strRef>
              <c:f>Sheet1!$C$1</c:f>
              <c:strCache>
                <c:ptCount val="1"/>
                <c:pt idx="0">
                  <c:v>Target</c:v>
                </c:pt>
              </c:strCache>
            </c:strRef>
          </c:tx>
          <c:spPr>
            <a:ln>
              <a:solidFill>
                <a:srgbClr val="FF0000"/>
              </a:solidFill>
            </a:ln>
          </c:spPr>
          <c:marker>
            <c:symbol val="none"/>
          </c:marker>
          <c:cat>
            <c:strRef>
              <c:f>Sheet1!$A$2:$A$5</c:f>
              <c:strCache>
                <c:ptCount val="4"/>
                <c:pt idx="0">
                  <c:v>Week 1</c:v>
                </c:pt>
                <c:pt idx="1">
                  <c:v>Week 2</c:v>
                </c:pt>
                <c:pt idx="2">
                  <c:v>Week 3</c:v>
                </c:pt>
                <c:pt idx="3">
                  <c:v>Week 4</c:v>
                </c:pt>
              </c:strCache>
            </c:strRef>
          </c:cat>
          <c:val>
            <c:numRef>
              <c:f>Sheet1!$C$2:$C$5</c:f>
              <c:numCache>
                <c:formatCode>General</c:formatCode>
                <c:ptCount val="4"/>
                <c:pt idx="0">
                  <c:v>15</c:v>
                </c:pt>
                <c:pt idx="1">
                  <c:v>30</c:v>
                </c:pt>
                <c:pt idx="2">
                  <c:v>45</c:v>
                </c:pt>
                <c:pt idx="3">
                  <c:v>60</c:v>
                </c:pt>
              </c:numCache>
            </c:numRef>
          </c:val>
          <c:smooth val="0"/>
        </c:ser>
        <c:dLbls>
          <c:showLegendKey val="0"/>
          <c:showVal val="1"/>
          <c:showCatName val="0"/>
          <c:showSerName val="0"/>
          <c:showPercent val="0"/>
          <c:showBubbleSize val="0"/>
          <c:showLeaderLines val="1"/>
        </c:dLbls>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Group A</c:v>
                </c:pt>
              </c:strCache>
            </c:strRef>
          </c:tx>
          <c:spPr>
            <a:ln w="47625">
              <a:noFill/>
            </a:ln>
          </c:spPr>
          <c:xVal>
            <c:numRef>
              <c:f>Sheet1!$A$2:$A$5</c:f>
              <c:numCache>
                <c:formatCode>General</c:formatCode>
                <c:ptCount val="4"/>
                <c:pt idx="0">
                  <c:v>10</c:v>
                </c:pt>
                <c:pt idx="1">
                  <c:v>30</c:v>
                </c:pt>
                <c:pt idx="2">
                  <c:v>50</c:v>
                </c:pt>
                <c:pt idx="3">
                  <c:v>70</c:v>
                </c:pt>
              </c:numCache>
            </c:numRef>
          </c:xVal>
          <c:yVal>
            <c:numRef>
              <c:f>Sheet1!$B$2:$B$5</c:f>
              <c:numCache>
                <c:formatCode>General</c:formatCode>
                <c:ptCount val="4"/>
                <c:pt idx="0">
                  <c:v>20</c:v>
                </c:pt>
                <c:pt idx="1">
                  <c:v>50</c:v>
                </c:pt>
                <c:pt idx="2">
                  <c:v>40</c:v>
                </c:pt>
                <c:pt idx="3">
                  <c:v>80</c:v>
                </c:pt>
              </c:numCache>
            </c:numRef>
          </c:yVal>
          <c:smooth val="0"/>
        </c:ser>
        <c:ser>
          <c:idx val="1"/>
          <c:order val="1"/>
          <c:tx>
            <c:strRef>
              <c:f>Sheet1!$B$7</c:f>
              <c:strCache>
                <c:ptCount val="1"/>
                <c:pt idx="0">
                  <c:v>Group B</c:v>
                </c:pt>
              </c:strCache>
            </c:strRef>
          </c:tx>
          <c:spPr>
            <a:ln w="47625">
              <a:noFill/>
            </a:ln>
          </c:spPr>
          <c:xVal>
            <c:numRef>
              <c:f>Sheet1!$A$8:$A$11</c:f>
              <c:numCache>
                <c:formatCode>General</c:formatCode>
                <c:ptCount val="4"/>
                <c:pt idx="0">
                  <c:v>15</c:v>
                </c:pt>
                <c:pt idx="1">
                  <c:v>35</c:v>
                </c:pt>
                <c:pt idx="2">
                  <c:v>55</c:v>
                </c:pt>
                <c:pt idx="3">
                  <c:v>75</c:v>
                </c:pt>
              </c:numCache>
            </c:numRef>
          </c:xVal>
          <c:yVal>
            <c:numRef>
              <c:f>Sheet1!$B$8:$B$11</c:f>
              <c:numCache>
                <c:formatCode>General</c:formatCode>
                <c:ptCount val="4"/>
                <c:pt idx="0">
                  <c:v>60</c:v>
                </c:pt>
                <c:pt idx="1">
                  <c:v>30</c:v>
                </c:pt>
                <c:pt idx="2">
                  <c:v>70</c:v>
                </c:pt>
                <c:pt idx="3">
                  <c:v>45</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0.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areaChart>
        <c:grouping val="standard"/>
        <c:varyColors val="0"/>
        <c:ser>
          <c:idx val="0"/>
          <c:order val="0"/>
          <c:tx>
            <c:strRef>
              <c:f>Sheet1!$B$1</c:f>
              <c:strCache>
                <c:ptCount val="1"/>
                <c:pt idx="0">
                  <c:v>Downloads</c:v>
                </c:pt>
              </c:strCache>
            </c:strRef>
          </c:tx>
          <c:cat>
            <c:strRef>
              <c:f>Sheet1!$A$2:$A$6</c:f>
              <c:strCache>
                <c:ptCount val="5"/>
                <c:pt idx="0">
                  <c:v>Jan</c:v>
                </c:pt>
                <c:pt idx="1">
                  <c:v>Feb</c:v>
                </c:pt>
                <c:pt idx="2">
                  <c:v>Mar</c:v>
                </c:pt>
                <c:pt idx="3">
                  <c:v>Apr</c:v>
                </c:pt>
                <c:pt idx="4">
                  <c:v>May</c:v>
                </c:pt>
              </c:strCache>
            </c:strRef>
          </c:cat>
          <c:val>
            <c:numRef>
              <c:f>Sheet1!$B$2:$B$6</c:f>
              <c:numCache>
                <c:formatCode>General</c:formatCode>
                <c:ptCount val="5"/>
                <c:pt idx="0">
                  <c:v>120</c:v>
                </c:pt>
                <c:pt idx="1">
                  <c:v>180</c:v>
                </c:pt>
                <c:pt idx="2">
                  <c:v>150</c:v>
                </c:pt>
                <c:pt idx="3">
                  <c:v>200</c:v>
                </c:pt>
                <c:pt idx="4">
                  <c:v>250</c:v>
                </c:pt>
              </c:numCache>
            </c:numRef>
          </c:val>
        </c:ser>
        <c:ser>
          <c:idx val="1"/>
          <c:order val="1"/>
          <c:tx>
            <c:strRef>
              <c:f>Sheet1!$C$1</c:f>
              <c:strCache>
                <c:ptCount val="1"/>
                <c:pt idx="0">
                  <c:v>Uploads</c:v>
                </c:pt>
              </c:strCache>
            </c:strRef>
          </c:tx>
          <c:cat>
            <c:strRef>
              <c:f>Sheet1!$A$2:$A$6</c:f>
              <c:strCache>
                <c:ptCount val="5"/>
                <c:pt idx="0">
                  <c:v>Jan</c:v>
                </c:pt>
                <c:pt idx="1">
                  <c:v>Feb</c:v>
                </c:pt>
                <c:pt idx="2">
                  <c:v>Mar</c:v>
                </c:pt>
                <c:pt idx="3">
                  <c:v>Apr</c:v>
                </c:pt>
                <c:pt idx="4">
                  <c:v>May</c:v>
                </c:pt>
              </c:strCache>
            </c:strRef>
          </c:cat>
          <c:val>
            <c:numRef>
              <c:f>Sheet1!$C$2:$C$6</c:f>
              <c:numCache>
                <c:formatCode>General</c:formatCode>
                <c:ptCount val="5"/>
                <c:pt idx="0">
                  <c:v>80</c:v>
                </c:pt>
                <c:pt idx="1">
                  <c:v>100</c:v>
                </c:pt>
                <c:pt idx="2">
                  <c:v>130</c:v>
                </c:pt>
                <c:pt idx="3">
                  <c:v>110</c:v>
                </c:pt>
                <c:pt idx="4">
                  <c:v>170</c:v>
                </c:pt>
              </c:numCache>
            </c:numRef>
          </c:val>
        </c:ser>
        <c:dLbls>
          <c:showLegendKey val="0"/>
          <c:showVal val="0"/>
          <c:showCatName val="0"/>
          <c:showSerName val="0"/>
          <c:showPercent val="0"/>
          <c:showBubbleSize val="0"/>
        </c:dLbls>
        <c:axId val="-2101159928"/>
        <c:axId val="-2100718248"/>
      </c:areaChart>
      <c:catAx>
        <c:axId val="-2101159928"/>
        <c:scaling>
          <c:orientation val="minMax"/>
        </c:scaling>
        <c:delete val="0"/>
        <c:axPos val="b"/>
        <c:numFmt formatCode="General" sourceLinked="1"/>
        <c:majorTickMark val="out"/>
        <c:minorTickMark val="none"/>
        <c:tickLblPos val="nextTo"/>
        <c:crossAx val="-2100718248"/>
        <c:crosses val="autoZero"/>
        <c:auto val="1"/>
        <c:lblAlgn val="ctr"/>
        <c:lblOffset val="100"/>
        <c:noMultiLvlLbl val="0"/>
      </c:catAx>
      <c:valAx>
        <c:axId val="-2100718248"/>
        <c:scaling>
          <c:orientation val="minMax"/>
        </c:scaling>
        <c:delete val="0"/>
        <c:axPos val="l"/>
        <c:majorGridlines/>
        <c:numFmt formatCode="General" sourceLinked="1"/>
        <c:majorTickMark val="out"/>
        <c:minorTickMark val="none"/>
        <c:tickLblPos val="nextTo"/>
        <c:crossAx val="-2101159928"/>
        <c:crosses val="autoZero"/>
        <c:crossBetween val="midCat"/>
      </c:valAx>
    </c:plotArea>
    <c:legend>
      <c:legendPos val="r"/>
      <c:layout/>
      <c:overlay val="0"/>
    </c:legend>
    <c:plotVisOnly val="1"/>
    <c:dispBlanksAs val="zero"/>
    <c:showDLblsOverMax val="0"/>
  </c:chart>
  <c:txPr>
    <a:bodyPr/>
    <a:lstStyle/>
    <a:p>
      <a:pPr>
        <a:defRPr sz="1800"/>
      </a:pPr>
      <a:endParaRPr/>
    </a:p>
  </c:txPr>
  <c:externalData r:id="rId1">
    <c:autoUpdate val="0"/>
  </c:externalData>
</c:chartSpace>
</file>

<file path=ppt/charts/chart11.xml><?xml version="1.0" encoding="utf-8"?>
<c:chartSpace xmlns:c="http://schemas.openxmlformats.org/drawingml/2006/chart" xmlns:a="http://schemas.openxmlformats.org/drawingml/2006/main" xmlns:r="http://schemas.openxmlformats.org/officeDocument/2006/relationships">
  <c:date1904 val="0"/>
  <c:roundedCorners val="0"/>
  <mc:AlternateContent xmlns:mc="http://schemas.openxmlformats.org/markup-compatibility/2006">
    <mc:Choice xmlns:c14="http://schemas.microsoft.com/office/drawing/2007/8/2/chart" Requires="c14">
      <c14:style val="118"/>
    </mc:Choice>
    <mc:Fallback>
      <c:style val="18"/>
    </mc:Fallback>
  </mc:AlternateContent>
  <c:chart>
    <c:autoTitleDeleted val="0"/>
    <c:plotArea>
      <c:layout/>
      <c:radarChart>
        <c:radarStyle val="marker"/>
        <c:varyColors val="0"/>
        <c:ser>
          <c:idx val="0"/>
          <c:order val="0"/>
          <c:tx>
            <c:strRef>
              <c:f>Sheet1!$B$1</c:f>
              <c:strCache>
                <c:ptCount val="1"/>
                <c:pt idx="0">
                  <c:v>Character A</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Sheet1!$B$2:$B$7</c:f>
              <c:numCache>
                <c:formatCode>General</c:formatCode>
                <c:ptCount val="6"/>
                <c:pt idx="0">
                  <c:v>15</c:v>
                </c:pt>
                <c:pt idx="1">
                  <c:v>12</c:v>
                </c:pt>
                <c:pt idx="2">
                  <c:v>14</c:v>
                </c:pt>
                <c:pt idx="3">
                  <c:v>10</c:v>
                </c:pt>
                <c:pt idx="4">
                  <c:v>8</c:v>
                </c:pt>
                <c:pt idx="5">
                  <c:v>16</c:v>
                </c:pt>
              </c:numCache>
            </c:numRef>
          </c:val>
          <c:smooth val="0"/>
        </c:ser>
        <c:ser>
          <c:idx val="1"/>
          <c:order val="1"/>
          <c:tx>
            <c:strRef>
              <c:f>Sheet1!$C$1</c:f>
              <c:strCache>
                <c:ptCount val="1"/>
                <c:pt idx="0">
                  <c:v>Character B</c:v>
                </c:pt>
              </c:strCache>
            </c:strRef>
          </c:tx>
          <c:marker>
            <c:symbol val="none"/>
          </c:marker>
          <c:cat>
            <c:strRef>
              <c:f>Sheet1!$A$2:$A$7</c:f>
              <c:strCache>
                <c:ptCount val="6"/>
                <c:pt idx="0">
                  <c:v>Str</c:v>
                </c:pt>
                <c:pt idx="1">
                  <c:v>Dex</c:v>
                </c:pt>
                <c:pt idx="2">
                  <c:v>Con</c:v>
                </c:pt>
                <c:pt idx="3">
                  <c:v>Int</c:v>
                </c:pt>
                <c:pt idx="4">
                  <c:v>Wis</c:v>
                </c:pt>
                <c:pt idx="5">
                  <c:v>Cha</c:v>
                </c:pt>
              </c:strCache>
            </c:strRef>
          </c:cat>
          <c:val>
            <c:numRef>
              <c:f>Sheet1!$C$2:$C$7</c:f>
              <c:numCache>
                <c:formatCode>General</c:formatCode>
                <c:ptCount val="6"/>
                <c:pt idx="0">
                  <c:v>10</c:v>
                </c:pt>
                <c:pt idx="1">
                  <c:v>16</c:v>
                </c:pt>
                <c:pt idx="2">
                  <c:v>8</c:v>
                </c:pt>
                <c:pt idx="3">
                  <c:v>15</c:v>
                </c:pt>
                <c:pt idx="4">
                  <c:v>14</c:v>
                </c:pt>
                <c:pt idx="5">
                  <c:v>12</c:v>
                </c:pt>
              </c:numCache>
            </c:numRef>
          </c:val>
          <c:smooth val="0"/>
        </c:ser>
        <c:axId val="2073612648"/>
        <c:axId val="-2112772216"/>
      </c:radarChart>
      <c:catAx>
        <c:axId val="2073612648"/>
        <c:scaling>
          <c:orientation val="minMax"/>
        </c:scaling>
        <c:delete val="0"/>
        <c:axPos val="b"/>
        <c:majorGridlines/>
        <c:numFmt formatCode="m/d/yy" sourceLinked="1"/>
        <c:majorTickMark val="out"/>
        <c:minorTickMark val="none"/>
        <c:tickLblPos val="nextTo"/>
        <c:crossAx val="-2112772216"/>
        <c:crosses val="autoZero"/>
        <c:auto val="1"/>
        <c:lblAlgn val="ctr"/>
        <c:lblOffset val="100"/>
        <c:noMultiLvlLbl val="0"/>
      </c:catAx>
      <c:valAx>
        <c:axId val="-2112772216"/>
        <c:scaling>
          <c:orientation val="minMax"/>
        </c:scaling>
        <c:delete val="0"/>
        <c:axPos val="l"/>
        <c:majorGridlines/>
        <c:numFmt formatCode="General" sourceLinked="1"/>
        <c:majorTickMark val="cross"/>
        <c:minorTickMark val="none"/>
        <c:tickLblPos val="nextTo"/>
        <c:crossAx val="2073612648"/>
        <c:crosses val="autoZero"/>
        <c:crossBetween val="between"/>
      </c:valAx>
    </c:plotArea>
    <c:legend/>
    <c:plotVisOnly val="1"/>
    <c:dispBlanksAs val="gap"/>
    <c:showDLblsOverMax val="0"/>
  </c:chart>
  <c:txPr>
    <a:bodyPr/>
    <a:lstStyle/>
    <a:p>
      <a:pPr>
        <a:defRPr sz="1800"/>
      </a:pPr>
      <a:endParaRPr lang="en-US"/>
    </a:p>
  </c:txPr>
  <c:externalData r:id="rId1">
    <c:autoUpdate val="0"/>
  </c:externalData>
</c:chartSpace>
</file>

<file path=ppt/charts/chart12.xml><?xml version="1.0" encoding="utf-8"?>
<c:chartSpace xmlns:c="http://schemas.openxmlformats.org/drawingml/2006/chart" xmlns:a="http://schemas.openxmlformats.org/drawingml/2006/main" xmlns:r="http://schemas.openxmlformats.org/officeDocument/2006/relationships">
  <c:chart>
    <c:autoTitleDeleted val="0"/>
    <c:plotArea>
      <c:layout/>
      <c:bubbleChart>
        <c:varyColors val="0"/>
        <c:ser>
          <c:idx val="0"/>
          <c:order val="0"/>
          <c:tx>
            <c:strRef>
              <c:f>Sheet1!$B$1</c:f>
              <c:strCache>
                <c:ptCount val="1"/>
                <c:pt idx="0">
                  <c:v>Product X</c:v>
                </c:pt>
              </c:strCache>
            </c:strRef>
          </c:tx>
          <c:invertIfNegative val="0"/>
          <c:xVal>
            <c:numRef>
              <c:f>Sheet1!$A$2:$A$5</c:f>
              <c:numCache>
                <c:formatCode>General</c:formatCode>
                <c:ptCount val="4"/>
                <c:pt idx="0">
                  <c:v>10</c:v>
                </c:pt>
                <c:pt idx="1">
                  <c:v>25</c:v>
                </c:pt>
                <c:pt idx="2">
                  <c:v>40</c:v>
                </c:pt>
                <c:pt idx="3">
                  <c:v>55</c:v>
                </c:pt>
              </c:numCache>
            </c:numRef>
          </c:xVal>
          <c:yVal>
            <c:numRef>
              <c:f>Sheet1!$B$2:$B$5</c:f>
              <c:numCache>
                <c:formatCode>General</c:formatCode>
                <c:ptCount val="4"/>
                <c:pt idx="0">
                  <c:v>40</c:v>
                </c:pt>
                <c:pt idx="1">
                  <c:v>60</c:v>
                </c:pt>
                <c:pt idx="2">
                  <c:v>30</c:v>
                </c:pt>
                <c:pt idx="3">
                  <c:v>70</c:v>
                </c:pt>
              </c:numCache>
            </c:numRef>
          </c:yVal>
          <c:bubbleSize>
            <c:numRef>
              <c:f>Sheet1!$C$2:$C$5</c:f>
              <c:numCache>
                <c:formatCode>General</c:formatCode>
                <c:ptCount val="4"/>
                <c:pt idx="0">
                  <c:v>15</c:v>
                </c:pt>
                <c:pt idx="1">
                  <c:v>30</c:v>
                </c:pt>
                <c:pt idx="2">
                  <c:v>10</c:v>
                </c:pt>
                <c:pt idx="3">
                  <c:v>25</c:v>
                </c:pt>
              </c:numCache>
            </c:numRef>
          </c:bubbleSize>
          <c:bubble3D val="0"/>
        </c:ser>
        <c:ser>
          <c:idx val="1"/>
          <c:order val="1"/>
          <c:tx>
            <c:strRef>
              <c:f>Sheet1!$B$7</c:f>
              <c:strCache>
                <c:ptCount val="1"/>
                <c:pt idx="0">
                  <c:v>Product Y</c:v>
                </c:pt>
              </c:strCache>
            </c:strRef>
          </c:tx>
          <c:invertIfNegative val="0"/>
          <c:xVal>
            <c:numRef>
              <c:f>Sheet1!$A$8:$A$10</c:f>
              <c:numCache>
                <c:formatCode>General</c:formatCode>
                <c:ptCount val="3"/>
                <c:pt idx="0">
                  <c:v>15</c:v>
                </c:pt>
                <c:pt idx="1">
                  <c:v>30</c:v>
                </c:pt>
                <c:pt idx="2">
                  <c:v>50</c:v>
                </c:pt>
              </c:numCache>
            </c:numRef>
          </c:xVal>
          <c:yVal>
            <c:numRef>
              <c:f>Sheet1!$B$8:$B$10</c:f>
              <c:numCache>
                <c:formatCode>General</c:formatCode>
                <c:ptCount val="3"/>
                <c:pt idx="0">
                  <c:v>55</c:v>
                </c:pt>
                <c:pt idx="1">
                  <c:v>35</c:v>
                </c:pt>
                <c:pt idx="2">
                  <c:v>50</c:v>
                </c:pt>
              </c:numCache>
            </c:numRef>
          </c:yVal>
          <c:bubbleSize>
            <c:numRef>
              <c:f>Sheet1!$C$8:$C$10</c:f>
              <c:numCache>
                <c:formatCode>General</c:formatCode>
                <c:ptCount val="3"/>
                <c:pt idx="0">
                  <c:v>20</c:v>
                </c:pt>
                <c:pt idx="1">
                  <c:v>12</c:v>
                </c:pt>
                <c:pt idx="2">
                  <c:v>35</c:v>
                </c:pt>
              </c:numCache>
            </c:numRef>
          </c:bubbleSize>
          <c:bubble3D val="0"/>
        </c:ser>
        <c:dLbls>
          <c:showLegendKey val="0"/>
          <c:showVal val="0"/>
          <c:showCatName val="0"/>
          <c:showSerName val="0"/>
          <c:showPercent val="0"/>
          <c:showBubbleSize val="0"/>
        </c:dLbls>
        <c:bubbleScale val="100"/>
        <c:showNegBubbles val="0"/>
        <c:axId val="-2115720072"/>
        <c:axId val="-2115723560"/>
      </c:bubbleChart>
      <c:valAx>
        <c:axId val="-2115720072"/>
        <c:scaling>
          <c:orientation val="minMax"/>
        </c:scaling>
        <c:delete val="0"/>
        <c:axPos val="b"/>
        <c:numFmt formatCode="General" sourceLinked="1"/>
        <c:majorTickMark val="out"/>
        <c:minorTickMark val="none"/>
        <c:tickLblPos val="nextTo"/>
        <c:crossAx val="-2115723560"/>
        <c:crosses val="autoZero"/>
        <c:crossBetween val="midCat"/>
      </c:valAx>
      <c:valAx>
        <c:axId val="-2115723560"/>
        <c:scaling>
          <c:orientation val="minMax"/>
        </c:scaling>
        <c:delete val="0"/>
        <c:axPos val="l"/>
        <c:majorGridlines/>
        <c:numFmt formatCode="General" sourceLinked="1"/>
        <c:majorTickMark val="out"/>
        <c:minorTickMark val="none"/>
        <c:tickLblPos val="nextTo"/>
        <c:crossAx val="-21157200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3.xml><?xml version="1.0" encoding="utf-8"?>
<c:chartSpace xmlns:c="http://schemas.openxmlformats.org/drawingml/2006/chart" xmlns:a="http://schemas.openxmlformats.org/drawingml/2006/main" xmlns:r="http://schemas.openxmlformats.org/officeDocument/2006/relationships">
  <c:date1904 val="0"/>
  <c:chart>
    <c:autoTitleDeleted val="0"/>
    <c:plotArea>
      <c:stockChart>
        <c:ser>
          <c:idx val="0"/>
          <c:order val="0"/>
          <c:tx>
            <c:strRef>
              <c:f>Sheet1!$B$1</c:f>
              <c:strCache>
                <c:ptCount val="1"/>
                <c:pt idx="0">
                  <c:v>Open</c:v>
                </c:pt>
              </c:strCache>
            </c:strRef>
          </c:tx>
          <c:cat>
            <c:strRef>
              <c:f>Sheet1!$A$2:$A$6</c:f>
              <c:strCache>
                <c:ptCount val="5"/>
                <c:pt idx="0">
                  <c:v>Day 1</c:v>
                </c:pt>
                <c:pt idx="1">
                  <c:v>Day 2</c:v>
                </c:pt>
                <c:pt idx="2">
                  <c:v>Day 3</c:v>
                </c:pt>
                <c:pt idx="3">
                  <c:v>Day 4</c:v>
                </c:pt>
                <c:pt idx="4">
                  <c:v>Day 5</c:v>
                </c:pt>
              </c:strCache>
            </c:strRef>
          </c:cat>
          <c:val>
            <c:numRef>
              <c:f>Sheet1!$B$2:$B$6</c:f>
              <c:numCache>
                <c:formatCode>General</c:formatCode>
                <c:ptCount val="5"/>
                <c:pt idx="0">
                  <c:v>100</c:v>
                </c:pt>
                <c:pt idx="1">
                  <c:v>105</c:v>
                </c:pt>
                <c:pt idx="2">
                  <c:v>98</c:v>
                </c:pt>
                <c:pt idx="3">
                  <c:v>110</c:v>
                </c:pt>
                <c:pt idx="4">
                  <c:v>108</c:v>
                </c:pt>
              </c:numCache>
            </c:numRef>
          </c:val>
        </c:ser>
        <c:ser>
          <c:idx val="1"/>
          <c:order val="1"/>
          <c:tx>
            <c:strRef>
              <c:f>Sheet1!$C$1</c:f>
              <c:strCache>
                <c:ptCount val="1"/>
                <c:pt idx="0">
                  <c:v>High</c:v>
                </c:pt>
              </c:strCache>
            </c:strRef>
          </c:tx>
          <c:val>
            <c:numRef>
              <c:f>Sheet1!$C$2:$C$6</c:f>
              <c:numCache>
                <c:formatCode>General</c:formatCode>
                <c:ptCount val="5"/>
                <c:pt idx="0">
                  <c:v>115</c:v>
                </c:pt>
                <c:pt idx="1">
                  <c:v>118</c:v>
                </c:pt>
                <c:pt idx="2">
                  <c:v>112</c:v>
                </c:pt>
                <c:pt idx="3">
                  <c:v>120</c:v>
                </c:pt>
                <c:pt idx="4">
                  <c:v>122</c:v>
                </c:pt>
              </c:numCache>
            </c:numRef>
          </c:val>
        </c:ser>
        <c:ser>
          <c:idx val="2"/>
          <c:order val="2"/>
          <c:tx>
            <c:strRef>
              <c:f>Sheet1!$D$1</c:f>
              <c:strCache>
                <c:ptCount val="1"/>
                <c:pt idx="0">
                  <c:v>Low</c:v>
                </c:pt>
              </c:strCache>
            </c:strRef>
          </c:tx>
          <c:val>
            <c:numRef>
              <c:f>Sheet1!$D$2:$D$6</c:f>
              <c:numCache>
                <c:formatCode>General</c:formatCode>
                <c:ptCount val="5"/>
                <c:pt idx="0">
                  <c:v>95</c:v>
                </c:pt>
                <c:pt idx="1">
                  <c:v>100</c:v>
                </c:pt>
                <c:pt idx="2">
                  <c:v>90</c:v>
                </c:pt>
                <c:pt idx="3">
                  <c:v>105</c:v>
                </c:pt>
                <c:pt idx="4">
                  <c:v>102</c:v>
                </c:pt>
              </c:numCache>
            </c:numRef>
          </c:val>
        </c:ser>
        <c:ser>
          <c:idx val="3"/>
          <c:order val="3"/>
          <c:tx>
            <c:strRef>
              <c:f>Sheet1!$E$1</c:f>
              <c:strCache>
                <c:ptCount val="1"/>
                <c:pt idx="0">
                  <c:v>Close</c:v>
                </c:pt>
              </c:strCache>
            </c:strRef>
          </c:tx>
          <c:val>
            <c:numRef>
              <c:f>Sheet1!$E$2:$E$6</c:f>
              <c:numCache>
                <c:formatCode>General</c:formatCode>
                <c:ptCount val="5"/>
                <c:pt idx="0">
                  <c:v>108</c:v>
                </c:pt>
                <c:pt idx="1">
                  <c:v>102</c:v>
                </c:pt>
                <c:pt idx="2">
                  <c:v>107</c:v>
                </c:pt>
                <c:pt idx="3">
                  <c:v>115</c:v>
                </c:pt>
                <c:pt idx="4">
                  <c:v>118</c:v>
                </c:pt>
              </c:numCache>
            </c:numRef>
          </c:val>
        </c:ser>
        <c:axId val="10000001"/>
        <c:axId val="10000002"/>
      </c:stockChart>
      <c:catAx>
        <c:axId val="10000001"/>
        <c:scaling>
          <c:orientation val="minMax"/>
        </c:scaling>
        <c:delete val="0"/>
        <c:axPos val="b"/>
        <c:crossAx val="10000002"/>
      </c:catAx>
      <c:valAx>
        <c:axId val="10000002"/>
        <c:scaling>
          <c:orientation val="minMax"/>
        </c:scaling>
        <c:delete val="0"/>
        <c:axPos val="l"/>
        <c:crossAx val="10000001"/>
        <c:majorGridlines/>
      </c:valAx>
    </c:plotArea>
    <c:dispBlanksAs val="gap"/>
    <c:legend>
      <c:legendPos val="r"/>
      <c:overlay val="0"/>
    </c:legend>
  </c:chart>
  <c:txPr>
    <a:bodyPr/>
    <a:lstStyle/>
    <a:p>
      <a:pPr>
        <a:defRPr sz="1800"/>
      </a:pPr>
      <a:endParaRPr lang="en-US"/>
    </a:p>
  </c:txPr>
  <c:externalData r:id="rId1">
    <c:autoUpdate val="0"/>
  </c:externalData>
</c:chartSpace>
</file>

<file path=ppt/charts/chart14.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30</c:v>
                </c:pt>
                <c:pt idx="1">
                  <c:v>50</c:v>
                </c:pt>
                <c:pt idx="2">
                  <c:v>40</c:v>
                </c:pt>
              </c:numCache>
            </c:numRef>
          </c:val>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5.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S1</c:v>
                </c:pt>
              </c:strCache>
            </c:strRef>
          </c:tx>
          <c:marker>
            <c:symbol val="none"/>
          </c:marker>
          <c:cat>
            <c:strRef>
              <c:f>Sheet1!$A$2:$A$5</c:f>
              <c:strCache>
                <c:ptCount val="4"/>
                <c:pt idx="0">
                  <c:v>A</c:v>
                </c:pt>
                <c:pt idx="1">
                  <c:v>B</c:v>
                </c:pt>
                <c:pt idx="2">
                  <c:v>C</c:v>
                </c:pt>
                <c:pt idx="3">
                  <c:v>D</c:v>
                </c:pt>
              </c:strCache>
            </c:strRef>
          </c:cat>
          <c:val>
            <c:numRef>
              <c:f>Sheet1!$B$2:$B$5</c:f>
              <c:numCache>
                <c:formatCode>General</c:formatCode>
                <c:ptCount val="4"/>
                <c:pt idx="0">
                  <c:v>10</c:v>
                </c:pt>
                <c:pt idx="1">
                  <c:v>30</c:v>
                </c:pt>
                <c:pt idx="2">
                  <c:v>20</c:v>
                </c:pt>
                <c:pt idx="3">
                  <c:v>40</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6.xml><?xml version="1.0" encoding="utf-8"?>
<c:chartSpace xmlns:c="http://schemas.openxmlformats.org/drawingml/2006/chart" xmlns:a="http://schemas.openxmlformats.org/drawingml/2006/main" xmlns:r="http://schemas.openxmlformats.org/officeDocument/2006/relationships">
  <c:chart>
    <c:autoTitleDeleted val="0"/>
    <c:plotArea>
      <c:pieChart>
        <c:varyColors val="1"/>
        <c:ser>
          <c:idx val="0"/>
          <c:order val="0"/>
          <c:tx>
            <c:strRef>
              <c:f>Sheet1!$B$1</c:f>
              <c:strCache>
                <c:ptCount val="1"/>
                <c:pt idx="0">
                  <c:v>S1</c:v>
                </c:pt>
              </c:strCache>
            </c:strRef>
          </c:tx>
          <c:cat>
            <c:strRef>
              <c:f>Sheet1!$A$2:$A$4</c:f>
              <c:strCache>
                <c:ptCount val="3"/>
                <c:pt idx="0">
                  <c:v>X</c:v>
                </c:pt>
                <c:pt idx="1">
                  <c:v>Y</c:v>
                </c:pt>
                <c:pt idx="2">
                  <c:v>Z</c:v>
                </c:pt>
              </c:strCache>
            </c:strRef>
          </c:cat>
          <c:val>
            <c:numRef>
              <c:f>Sheet1!$B$2:$B$4</c:f>
              <c:numCache>
                <c:formatCode>General</c:formatCode>
                <c:ptCount val="3"/>
                <c:pt idx="0">
                  <c:v>40</c:v>
                </c:pt>
                <c:pt idx="1">
                  <c:v>35</c:v>
                </c:pt>
                <c:pt idx="2">
                  <c:v>25</c:v>
                </c:pt>
              </c:numCache>
            </c:numRef>
          </c:val>
        </c:ser>
      </c:pieChart>
    </c:plotArea>
    <c:dispBlanksAs val="gap"/>
  </c:chart>
  <c:txPr>
    <a:bodyPr/>
    <a:lstStyle/>
    <a:p>
      <a:pPr>
        <a:defRPr sz="1800"/>
      </a:pPr>
      <a:endParaRPr lang="en-US"/>
    </a:p>
  </c:txPr>
  <c:externalData r:id="rId1">
    <c:autoUpdate val="0"/>
  </c:externalData>
</c:chartSpace>
</file>

<file path=ppt/charts/chart1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clustered"/>
        <c:ser>
          <c:idx val="0"/>
          <c:order val="0"/>
          <c:tx>
            <c:strRef>
              <c:f>Sheet1!$B$1</c:f>
              <c:strCache>
                <c:ptCount val="1"/>
                <c:pt idx="0">
                  <c:v>S1</c:v>
                </c:pt>
              </c:strCache>
            </c:strRef>
          </c:tx>
          <c:cat>
            <c:strRef>
              <c:f>Sheet1!$A$2:$A$4</c:f>
              <c:strCache>
                <c:ptCount val="3"/>
                <c:pt idx="0">
                  <c:v>P</c:v>
                </c:pt>
                <c:pt idx="1">
                  <c:v>Q</c:v>
                </c:pt>
                <c:pt idx="2">
                  <c:v>R</c:v>
                </c:pt>
              </c:strCache>
            </c:strRef>
          </c:cat>
          <c:val>
            <c:numRef>
              <c:f>Sheet1!$B$2:$B$4</c:f>
              <c:numCache>
                <c:formatCode>General</c:formatCode>
                <c:ptCount val="3"/>
                <c:pt idx="0">
                  <c:v>25</c:v>
                </c:pt>
                <c:pt idx="1">
                  <c:v>40</c:v>
                </c:pt>
                <c:pt idx="2">
                  <c:v>35</c:v>
                </c:pt>
              </c:numCache>
            </c:numRef>
          </c:val>
        </c:ser>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18.xml><?xml version="1.0" encoding="utf-8"?>
<c:chartSpace xmlns:c="http://schemas.openxmlformats.org/drawingml/2006/chart" xmlns:a="http://schemas.openxmlformats.org/drawingml/2006/main" xmlns:r="http://schemas.openxmlformats.org/officeDocument/2006/relationships">
  <c:chart>
    <c:plotArea>
      <c:scatterChart>
        <c:scatterStyle val="lineMarker"/>
        <c:varyColors val="0"/>
        <c:ser>
          <c:idx val="0"/>
          <c:order val="0"/>
          <c:tx>
            <c:strRef>
              <c:f>Sheet1!$B$1</c:f>
              <c:strCache>
                <c:ptCount val="1"/>
                <c:pt idx="0">
                  <c:v>S1</c:v>
                </c:pt>
              </c:strCache>
            </c:strRef>
          </c:tx>
          <c:spPr>
            <a:ln w="47625">
              <a:noFill/>
            </a:ln>
          </c:spPr>
          <c:xVal>
            <c:numRef>
              <c:f>Sheet1!$A$2:$A$5</c:f>
              <c:numCache>
                <c:formatCode>General</c:formatCode>
                <c:ptCount val="4"/>
                <c:pt idx="0">
                  <c:v>5</c:v>
                </c:pt>
                <c:pt idx="1">
                  <c:v>15</c:v>
                </c:pt>
                <c:pt idx="2">
                  <c:v>25</c:v>
                </c:pt>
                <c:pt idx="3">
                  <c:v>35</c:v>
                </c:pt>
              </c:numCache>
            </c:numRef>
          </c:xVal>
          <c:yVal>
            <c:numRef>
              <c:f>Sheet1!$B$2:$B$5</c:f>
              <c:numCache>
                <c:formatCode>General</c:formatCode>
                <c:ptCount val="4"/>
                <c:pt idx="0">
                  <c:v>10</c:v>
                </c:pt>
                <c:pt idx="1">
                  <c:v>30</c:v>
                </c:pt>
                <c:pt idx="2">
                  <c:v>20</c:v>
                </c:pt>
                <c:pt idx="3">
                  <c:v>40</c:v>
                </c:pt>
              </c:numCache>
            </c:numRef>
          </c:yVal>
          <c:smooth val="0"/>
        </c:ser>
        <c:axId val="-2128940872"/>
        <c:axId val="-2129643912"/>
      </c:scatterChart>
      <c:valAx>
        <c:axId val="-2128940872"/>
        <c:scaling>
          <c:orientation val="minMax"/>
        </c:scaling>
        <c:delete val="0"/>
        <c:axPos val="b"/>
        <c:numFmt formatCode="General" sourceLinked="1"/>
        <c:majorTickMark val="out"/>
        <c:minorTickMark val="none"/>
        <c:tickLblPos val="nextTo"/>
        <c:crossAx val="-2129643912"/>
        <c:crosses val="autoZero"/>
        <c:crossBetween val="midCat"/>
      </c:valAx>
      <c:valAx>
        <c:axId val="-2129643912"/>
        <c:scaling>
          <c:orientation val="minMax"/>
        </c:scaling>
        <c:delete val="0"/>
        <c:axPos val="l"/>
        <c:majorGridlines/>
        <c:numFmt formatCode="General" sourceLinked="1"/>
        <c:majorTickMark val="out"/>
        <c:minorTickMark val="none"/>
        <c:tickLblPos val="nextTo"/>
        <c:crossAx val="-2128940872"/>
        <c:crosses val="autoZero"/>
        <c:crossBetween val="midCat"/>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19.xml><?xml version="1.0" encoding="utf-8"?>
<c:chartSpace xmlns:c="http://schemas.openxmlformats.org/drawingml/2006/chart" xmlns:a="http://schemas.openxmlformats.org/drawingml/2006/main" xmlns:r="http://schemas.openxmlformats.org/officeDocument/2006/relationships">
  <c:date1904 val="0"/>
  <c:roundedCorners val="0"/>
  <c:chart>
    <c:autoTitleDeleted val="0"/>
    <c:plotArea>
      <c:layout/>
      <c:doughnutChart>
        <c:varyColors val="1"/>
        <c:ser>
          <c:idx val="0"/>
          <c:order val="0"/>
          <c:tx>
            <c:strRef>
              <c:f>Sheet1!$B$1</c:f>
              <c:strCache>
                <c:ptCount val="1"/>
                <c:pt idx="0">
                  <c:v>S1</c:v>
                </c:pt>
              </c:strCache>
            </c:strRef>
          </c:tx>
          <c:cat>
            <c:strRef>
              <c:f>Sheet1!$A$2:$A$4</c:f>
              <c:strCache>
                <c:ptCount val="3"/>
                <c:pt idx="0">
                  <c:v>A</c:v>
                </c:pt>
                <c:pt idx="1">
                  <c:v>B</c:v>
                </c:pt>
                <c:pt idx="2">
                  <c:v>C</c:v>
                </c:pt>
              </c:strCache>
            </c:strRef>
          </c:cat>
          <c:val>
            <c:numRef>
              <c:f>Sheet1!$B$2:$B$4</c:f>
              <c:numCache>
                <c:formatCode>General</c:formatCode>
                <c:ptCount val="3"/>
                <c:pt idx="0">
                  <c:v>50</c:v>
                </c:pt>
                <c:pt idx="1">
                  <c:v>30</c:v>
                </c:pt>
                <c:pt idx="2">
                  <c:v>20</c:v>
                </c:pt>
              </c:numCache>
            </c:numRef>
          </c:val>
        </c:ser>
        <c:dLbls>
          <c:showLegendKey val="0"/>
          <c:showVal val="0"/>
          <c:showCatName val="0"/>
          <c:showSerName val="0"/>
          <c:showPercent val="0"/>
          <c:showBubbleSize val="0"/>
          <c:showLeaderLines val="1"/>
        </c:dLbls>
        <c:firstSliceAng val="0"/>
        <c:holeSize val="50"/>
      </c:doughnutChart>
    </c:plotArea>
    <c:legend>
      <c:legendPos val="r"/>
      <c:layout/>
      <c:overlay val="0"/>
    </c:legend>
    <c:plotVisOnly val="1"/>
    <c:dispBlanksAs val="gap"/>
    <c:showDLblsOverMax val="0"/>
  </c:chart>
  <c:txPr>
    <a:bodyPr/>
    <a:lstStyle/>
    <a:p>
      <a:pPr>
        <a:defRPr sz="1800"/>
      </a:pPr>
      <a:endParaRPr/>
    </a:p>
  </c:txPr>
  <c:externalData r:id="rId1">
    <c:autoUpdate val="0"/>
  </c:externalData>
</c:chartSpace>
</file>

<file path=ppt/charts/chart20.xml><?xml version="1.0" encoding="utf-8"?>
<c:chartSpace xmlns:c="http://schemas.openxmlformats.org/drawingml/2006/chart" xmlns:a="http://schemas.openxmlformats.org/drawingml/2006/main" xmlns:r="http://schemas.openxmlformats.org/officeDocument/2006/relationships">
  <c:date1904 val="0"/>
  <c:chart>
    <c:autoTitleDeleted val="0"/>
    <c:plotArea>
      <c:lineChart>
        <c:grouping val="standard"/>
        <c:varyColors val="0"/>
        <c:ser>
          <c:idx val="0"/>
          <c:order val="0"/>
          <c:tx>
            <c:strRef>
              <c:f>Sheet1!$B$1</c:f>
              <c:strCache>
                <c:ptCount val="1"/>
                <c:pt idx="0">
                  <c:v>Sales</c:v>
                </c:pt>
              </c:strCache>
            </c:strRef>
          </c:tx>
          <c:marker>
            <c:symbol val="none"/>
          </c:marker>
          <c:cat>
            <c:strRef>
              <c:f>Sheet1!$A$2:$A$7</c:f>
              <c:strCache>
                <c:ptCount val="6"/>
                <c:pt idx="0">
                  <c:v>Jan</c:v>
                </c:pt>
                <c:pt idx="1">
                  <c:v>Feb</c:v>
                </c:pt>
                <c:pt idx="2">
                  <c:v>Mar</c:v>
                </c:pt>
                <c:pt idx="3">
                  <c:v>Apr</c:v>
                </c:pt>
                <c:pt idx="4">
                  <c:v>May</c:v>
                </c:pt>
                <c:pt idx="5">
                  <c:v>Jun</c:v>
                </c:pt>
              </c:strCache>
            </c:strRef>
          </c:cat>
          <c:val>
            <c:numRef>
              <c:f>Sheet1!$B$2:$B$7</c:f>
              <c:numCache>
                <c:formatCode>General</c:formatCode>
                <c:ptCount val="6"/>
                <c:pt idx="0">
                  <c:v>20</c:v>
                </c:pt>
                <c:pt idx="1">
                  <c:v>35</c:v>
                </c:pt>
                <c:pt idx="2">
                  <c:v>28</c:v>
                </c:pt>
                <c:pt idx="3">
                  <c:v>45</c:v>
                </c:pt>
                <c:pt idx="4">
                  <c:v>52</c:v>
                </c:pt>
                <c:pt idx="5">
                  <c:v>60</c:v>
                </c:pt>
              </c:numCache>
            </c:numRef>
          </c:val>
          <c:smooth val="0"/>
          <c:trendline>
            <c:trendlineType val="linear"/>
            <c:spPr>
              <a:ln w="12700">
                <a:solidFill>
                  <a:srgbClr val="FF0000"/>
                </a:solidFill>
                <a:prstDash val="dash"/>
              </a:ln>
            </c:spPr>
          </c:trendline>
        </c:ser>
        <c:marker val="1"/>
        <c:smooth val="0"/>
        <c:axId val="2118791784"/>
        <c:axId val="2140495176"/>
      </c:lineChart>
      <c:catAx>
        <c:axId val="2118791784"/>
        <c:scaling>
          <c:orientation val="minMax"/>
        </c:scaling>
        <c:delete val="0"/>
        <c:axPos val="b"/>
        <c:majorTickMark val="out"/>
        <c:minorTickMark val="none"/>
        <c:tickLblPos val="nextTo"/>
        <c:crossAx val="2140495176"/>
        <c:crosses val="autoZero"/>
        <c:auto val="1"/>
        <c:lblAlgn val="ctr"/>
        <c:lblOffset val="100"/>
        <c:noMultiLvlLbl val="0"/>
      </c:catAx>
      <c:valAx>
        <c:axId val="2140495176"/>
        <c:scaling/>
        <c:delete val="0"/>
        <c:axPos val="l"/>
        <c:majorGridlines/>
        <c:majorTickMark val="out"/>
        <c:minorTickMark val="none"/>
        <c:tickLblPos val="nextTo"/>
        <c:crossAx val="2118791784"/>
        <c:crosses val="autoZero"/>
      </c:valAx>
    </c:plotArea>
    <c:legend>
      <c:legendPos val="r"/>
      <c:layout/>
      <c:overlay val="0"/>
    </c:legend>
    <c:plotVisOnly val="1"/>
    <c:dispBlanksAs val="gap"/>
    <c:showDLblsOverMax val="0"/>
  </c:chart>
  <c:txPr>
    <a:bodyPr/>
    <a:lstStyle/>
    <a:p>
      <a:pPr>
        <a:defRPr sz="1800"/>
      </a:pPr>
      <a:endParaRPr lang="en-US"/>
    </a:p>
  </c:txPr>
  <c:externalData r:id="rId1">
    <c:autoUpdate val="0"/>
  </c:externalData>
</c:chartSpace>
</file>

<file path=ppt/charts/chart21.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Measurement</c:v>
                </c:pt>
              </c:strCache>
            </c:strRef>
          </c:tx>
          <c:cat>
            <c:strRef>
              <c:f>Sheet1!$A$2:$A$5</c:f>
              <c:strCache>
                <c:ptCount val="4"/>
                <c:pt idx="0">
                  <c:v>Group A</c:v>
                </c:pt>
                <c:pt idx="1">
                  <c:v>Group B</c:v>
                </c:pt>
                <c:pt idx="2">
                  <c:v>Group C</c:v>
                </c:pt>
                <c:pt idx="3">
                  <c:v>Group D</c:v>
                </c:pt>
              </c:strCache>
            </c:strRef>
          </c:cat>
          <c:val>
            <c:numRef>
              <c:f>Sheet1!$B$2:$B$5</c:f>
              <c:numCache>
                <c:formatCode>General</c:formatCode>
                <c:ptCount val="4"/>
                <c:pt idx="0">
                  <c:v>85</c:v>
                </c:pt>
                <c:pt idx="1">
                  <c:v>92</c:v>
                </c:pt>
                <c:pt idx="2">
                  <c:v>78</c:v>
                </c:pt>
                <c:pt idx="3">
                  <c:v>95</c:v>
                </c:pt>
              </c:numCache>
            </c:numRef>
          </c:val>
          <c:errBars>
            <c:errDir val="y"/>
            <c:errBarType val="both"/>
            <c:errValType val="fixedVal"/>
            <c:val val="8"/>
          </c:errBars>
        </c:ser>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2.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clustered"/>
        <c:ser>
          <c:idx val="0"/>
          <c:order val="0"/>
          <c:tx>
            <c:strRef>
              <c:f>Sheet1!$B$1</c:f>
              <c:strCache>
                <c:ptCount val="1"/>
                <c:pt idx="0">
                  <c:v>Revenue</c:v>
                </c:pt>
              </c:strCache>
            </c:strRef>
          </c:tx>
          <c:cat>
            <c:strRef>
              <c:f>Sheet1!$A$2:$A$5</c:f>
              <c:strCache>
                <c:ptCount val="4"/>
                <c:pt idx="0">
                  <c:v>Q1</c:v>
                </c:pt>
                <c:pt idx="1">
                  <c:v>Q2</c:v>
                </c:pt>
                <c:pt idx="2">
                  <c:v>Q3</c:v>
                </c:pt>
                <c:pt idx="3">
                  <c:v>Q4</c:v>
                </c:pt>
              </c:strCache>
            </c:strRef>
          </c:cat>
          <c:val>
            <c:numRef>
              <c:f>Sheet1!$B$2:$B$5</c:f>
              <c:numCache>
                <c:formatCode>General</c:formatCode>
                <c:ptCount val="4"/>
                <c:pt idx="0">
                  <c:v>300</c:v>
                </c:pt>
                <c:pt idx="1">
                  <c:v>350</c:v>
                </c:pt>
                <c:pt idx="2">
                  <c:v>400</c:v>
                </c:pt>
                <c:pt idx="3">
                  <c:v>450</c:v>
                </c:pt>
              </c:numCache>
            </c:numRef>
          </c:val>
        </c:ser>
        <c:axId val="-2068027336"/>
        <c:axId val="-2113994440"/>
      </c:barChart>
      <c:lineChart>
        <c:grouping val="standard"/>
        <c:ser>
          <c:idx val="1"/>
          <c:order val="1"/>
          <c:tx>
            <c:strRef>
              <c:f>Sheet1!$C$1</c:f>
              <c:strCache>
                <c:ptCount val="1"/>
                <c:pt idx="0">
                  <c:v>Profit</c:v>
                </c:pt>
              </c:strCache>
            </c:strRef>
          </c:tx>
          <c:spPr>
            <a:ln w="25400">
              <a:solidFill>
                <a:srgbClr val="FF0000"/>
              </a:solidFill>
            </a:ln>
          </c:spPr>
          <c:cat>
            <c:strRef>
              <c:f>Sheet1!$A$2:$A$5</c:f>
              <c:strCache>
                <c:ptCount val="4"/>
                <c:pt idx="0">
                  <c:v>Q1</c:v>
                </c:pt>
                <c:pt idx="1">
                  <c:v>Q2</c:v>
                </c:pt>
                <c:pt idx="2">
                  <c:v>Q3</c:v>
                </c:pt>
                <c:pt idx="3">
                  <c:v>Q4</c:v>
                </c:pt>
              </c:strCache>
            </c:strRef>
          </c:cat>
          <c:val>
            <c:numRef>
              <c:f>Sheet1!$C$2:$C$5</c:f>
              <c:numCache>
                <c:formatCode>General</c:formatCode>
                <c:ptCount val="4"/>
                <c:pt idx="0">
                  <c:v>80</c:v>
                </c:pt>
                <c:pt idx="1">
                  <c:v>120</c:v>
                </c:pt>
                <c:pt idx="2">
                  <c:v>150</c:v>
                </c:pt>
                <c:pt idx="3">
                  <c:v>200</c:v>
                </c:pt>
              </c:numCache>
            </c:numRef>
          </c:val>
        </c:ser>
        <c:axId val="-2068027336"/>
        <c:axId val="-2113994440"/>
      </c:line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legend/>
    <c:dispBlanksAs val="gap"/>
  </c:chart>
  <c:txPr>
    <a:bodyPr/>
    <a:lstStyle/>
    <a:p>
      <a:pPr>
        <a:defRPr sz="1800"/>
      </a:pPr>
      <a:endParaRPr lang="en-US"/>
    </a:p>
  </c:txPr>
  <c:externalData r:id="rId1">
    <c:autoUpdate val="0"/>
  </c:externalData>
</c:chartSpace>
</file>

<file path=ppt/charts/chart23.xml><?xml version="1.0" encoding="utf-8"?>
<c:chartSpace xmlns:c="http://schemas.openxmlformats.org/drawingml/2006/chart" xmlns:a="http://schemas.openxmlformats.org/drawingml/2006/main" xmlns:r="http://schemas.openxmlformats.org/officeDocument/2006/relationships">
  <c:date1904 val="0"/>
  <c:chart>
    <c:view3D>
      <c:rotX val="15"/>
      <c:rotY val="20"/>
      <c:depthPercent val="100"/>
      <c:rAngAx val="1"/>
      <c:perspective val="30"/>
    </c:view3D>
    <c:autoTitleDeleted val="0"/>
    <c:plotArea>
      <c:surfaceChart>
        <c:wireframe val="0"/>
        <c:ser>
          <c:idx val="0"/>
          <c:order val="0"/>
          <c:tx>
            <c:strRef>
              <c:f>Sheet1!$B$1</c:f>
              <c:strCache>
                <c:ptCount val="1"/>
                <c:pt idx="0">
                  <c:v>Row 1</c:v>
                </c:pt>
              </c:strCache>
            </c:strRef>
          </c:tx>
          <c:cat>
            <c:strRef>
              <c:f>Sheet1!$A$2:$A$6</c:f>
              <c:strCache>
                <c:ptCount val="5"/>
                <c:pt idx="0">
                  <c:v>X1</c:v>
                </c:pt>
                <c:pt idx="1">
                  <c:v>X2</c:v>
                </c:pt>
                <c:pt idx="2">
                  <c:v>X3</c:v>
                </c:pt>
                <c:pt idx="3">
                  <c:v>X4</c:v>
                </c:pt>
                <c:pt idx="4">
                  <c:v>X5</c:v>
                </c:pt>
              </c:strCache>
            </c:strRef>
          </c:cat>
          <c:val>
            <c:numRef>
              <c:f>Sheet1!$B$2:$B$6</c:f>
              <c:numCache>
                <c:formatCode>General</c:formatCode>
                <c:ptCount val="5"/>
                <c:pt idx="0">
                  <c:v>10</c:v>
                </c:pt>
                <c:pt idx="1">
                  <c:v>25</c:v>
                </c:pt>
                <c:pt idx="2">
                  <c:v>40</c:v>
                </c:pt>
                <c:pt idx="3">
                  <c:v>30</c:v>
                </c:pt>
                <c:pt idx="4">
                  <c:v>15</c:v>
                </c:pt>
              </c:numCache>
            </c:numRef>
          </c:val>
        </c:ser>
        <c:ser>
          <c:idx val="1"/>
          <c:order val="1"/>
          <c:tx>
            <c:strRef>
              <c:f>Sheet1!$C$1</c:f>
              <c:strCache>
                <c:ptCount val="1"/>
                <c:pt idx="0">
                  <c:v>Row 2</c:v>
                </c:pt>
              </c:strCache>
            </c:strRef>
          </c:tx>
          <c:val>
            <c:numRef>
              <c:f>Sheet1!$C$2:$C$6</c:f>
              <c:numCache>
                <c:formatCode>General</c:formatCode>
                <c:ptCount val="5"/>
                <c:pt idx="0">
                  <c:v>20</c:v>
                </c:pt>
                <c:pt idx="1">
                  <c:v>35</c:v>
                </c:pt>
                <c:pt idx="2">
                  <c:v>50</c:v>
                </c:pt>
                <c:pt idx="3">
                  <c:v>45</c:v>
                </c:pt>
                <c:pt idx="4">
                  <c:v>30</c:v>
                </c:pt>
              </c:numCache>
            </c:numRef>
          </c:val>
        </c:ser>
        <c:ser>
          <c:idx val="2"/>
          <c:order val="2"/>
          <c:tx>
            <c:strRef>
              <c:f>Sheet1!$D$1</c:f>
              <c:strCache>
                <c:ptCount val="1"/>
                <c:pt idx="0">
                  <c:v>Row 3</c:v>
                </c:pt>
              </c:strCache>
            </c:strRef>
          </c:tx>
          <c:val>
            <c:numRef>
              <c:f>Sheet1!$D$2:$D$6</c:f>
              <c:numCache>
                <c:formatCode>General</c:formatCode>
                <c:ptCount val="5"/>
                <c:pt idx="0">
                  <c:v>35</c:v>
                </c:pt>
                <c:pt idx="1">
                  <c:v>50</c:v>
                </c:pt>
                <c:pt idx="2">
                  <c:v>60</c:v>
                </c:pt>
                <c:pt idx="3">
                  <c:v>55</c:v>
                </c:pt>
                <c:pt idx="4">
                  <c:v>40</c:v>
                </c:pt>
              </c:numCache>
            </c:numRef>
          </c:val>
        </c:ser>
        <c:ser>
          <c:idx val="3"/>
          <c:order val="3"/>
          <c:tx>
            <c:strRef>
              <c:f>Sheet1!$E$1</c:f>
              <c:strCache>
                <c:ptCount val="1"/>
                <c:pt idx="0">
                  <c:v>Row 4</c:v>
                </c:pt>
              </c:strCache>
            </c:strRef>
          </c:tx>
          <c:val>
            <c:numRef>
              <c:f>Sheet1!$E$2:$E$6</c:f>
              <c:numCache>
                <c:formatCode>General</c:formatCode>
                <c:ptCount val="5"/>
                <c:pt idx="0">
                  <c:v>25</c:v>
                </c:pt>
                <c:pt idx="1">
                  <c:v>40</c:v>
                </c:pt>
                <c:pt idx="2">
                  <c:v>45</c:v>
                </c:pt>
                <c:pt idx="3">
                  <c:v>50</c:v>
                </c:pt>
                <c:pt idx="4">
                  <c:v>35</c:v>
                </c:pt>
              </c:numCache>
            </c:numRef>
          </c:val>
        </c:ser>
        <c:bandFmts/>
        <c:axId val="111111"/>
        <c:axId val="222222"/>
        <c:axId val="333333"/>
      </c:surfaceChart>
      <c:catAx>
        <c:axId val="111111"/>
        <c:scaling>
          <c:orientation val="minMax"/>
        </c:scaling>
        <c:delete val="0"/>
        <c:axPos val="b"/>
        <c:crossAx val="222222"/>
      </c:catAx>
      <c:valAx>
        <c:axId val="222222"/>
        <c:scaling>
          <c:orientation val="minMax"/>
        </c:scaling>
        <c:delete val="0"/>
        <c:axPos val="l"/>
        <c:crossAx val="111111"/>
        <c:majorGridlines/>
      </c:valAx>
      <c:serAx>
        <c:axId val="333333"/>
        <c:scaling>
          <c:orientation val="minMax"/>
        </c:scaling>
        <c:delete val="0"/>
        <c:axPos val="b"/>
        <c:crossAx val="222222"/>
      </c:serAx>
    </c:plotArea>
    <c:dispBlanksAs val="gap"/>
  </c:chart>
  <c:txPr>
    <a:bodyPr/>
    <a:lstStyle/>
    <a:p>
      <a:pPr>
        <a:defRPr sz="1800"/>
      </a:pPr>
      <a:endParaRPr lang="en-US"/>
    </a:p>
  </c:txPr>
  <c:externalData r:id="rId1">
    <c:autoUpdate val="0"/>
  </c:externalData>
</c:chartSpace>
</file>

<file path=ppt/charts/chart24.xml><?xml version="1.0" encoding="utf-8"?>
<c:chartSpace xmlns:c="http://schemas.openxmlformats.org/drawingml/2006/chart" xmlns:a="http://schemas.openxmlformats.org/drawingml/2006/main" xmlns:r="http://schemas.openxmlformats.org/officeDocument/2006/relationships">
  <c:chart>
    <c:autoTitleDeleted val="0"/>
    <c:plotArea>
      <c:ofPieChart>
        <c:ofPieType val="pie"/>
        <c:varyColors val="1"/>
        <c:ser>
          <c:idx val="0"/>
          <c:order val="0"/>
          <c:tx>
            <c:strRef>
              <c:f>Sheet1!$B$1</c:f>
              <c:strCache>
                <c:ptCount val="1"/>
                <c:pt idx="0">
                  <c:v>Sales</c:v>
                </c:pt>
              </c:strCache>
            </c:strRef>
          </c:tx>
          <c:cat>
            <c:strRef>
              <c:f>Sheet1!$A$2:$A$6</c:f>
              <c:strCache>
                <c:ptCount val="5"/>
                <c:pt idx="0">
                  <c:v>Product A</c:v>
                </c:pt>
                <c:pt idx="1">
                  <c:v>Product B</c:v>
                </c:pt>
                <c:pt idx="2">
                  <c:v>Product C</c:v>
                </c:pt>
                <c:pt idx="3">
                  <c:v>Product D</c:v>
                </c:pt>
                <c:pt idx="4">
                  <c:v>Product E</c:v>
                </c:pt>
              </c:strCache>
            </c:strRef>
          </c:cat>
          <c:val>
            <c:numRef>
              <c:f>Sheet1!$B$2:$B$6</c:f>
              <c:numCache>
                <c:formatCode>General</c:formatCode>
                <c:ptCount val="5"/>
                <c:pt idx="0">
                  <c:v>40</c:v>
                </c:pt>
                <c:pt idx="1">
                  <c:v>25</c:v>
                </c:pt>
                <c:pt idx="2">
                  <c:v>15</c:v>
                </c:pt>
                <c:pt idx="3">
                  <c:v>12</c:v>
                </c:pt>
                <c:pt idx="4">
                  <c:v>8</c:v>
                </c:pt>
              </c:numCache>
            </c:numRef>
          </c:val>
        </c:ser>
        <c:gapWidth val="150"/>
        <c:splitPos val="2"/>
      </c:ofPieChart>
    </c:plotArea>
    <c:dispBlanksAs val="gap"/>
  </c:chart>
  <c:txPr>
    <a:bodyPr/>
    <a:lstStyle/>
    <a:p>
      <a:pPr>
        <a:defRPr sz="1800"/>
      </a:pPr>
      <a:endParaRPr lang="en-US"/>
    </a:p>
  </c:txPr>
  <c:externalData r:id="rId1">
    <c:autoUpdate val="0"/>
  </c:externalData>
</c:chartSpace>
</file>

<file path=ppt/charts/chart25.xml><?xml version="1.0" encoding="utf-8"?>
<c:chartSpace xmlns:c="http://schemas.openxmlformats.org/drawingml/2006/chart" xmlns:a="http://schemas.openxmlformats.org/drawingml/2006/main" xmlns:r="http://schemas.openxmlformats.org/officeDocument/2006/relationships">
  <c:date1904 val="0"/>
  <c:chart>
    <c:view3D>
      <c:rotX val="20"/>
      <c:rotY val="30"/>
      <c:depthPercent val="150"/>
      <c:rAngAx val="1"/>
      <c:perspective val="40"/>
    </c:view3D>
    <c:autoTitleDeleted val="0"/>
    <c:plotArea>
      <c:bar3DChart>
        <c:barDir val="col"/>
        <c:grouping val="clustered"/>
        <c:ser>
          <c:idx val="0"/>
          <c:order val="0"/>
          <c:tx>
            <c:strRef>
              <c:f>Sheet1!$B$1</c:f>
              <c:strCache>
                <c:ptCount val="1"/>
                <c:pt idx="0">
                  <c:v>Revenue</c:v>
                </c:pt>
              </c:strCache>
            </c:strRef>
          </c:tx>
          <c:cat>
            <c:strRef>
              <c:f>Sheet1!$A$2:$A$5</c:f>
              <c:strCache>
                <c:ptCount val="4"/>
                <c:pt idx="0">
                  <c:v>East</c:v>
                </c:pt>
                <c:pt idx="1">
                  <c:v>West</c:v>
                </c:pt>
                <c:pt idx="2">
                  <c:v>North</c:v>
                </c:pt>
                <c:pt idx="3">
                  <c:v>South</c:v>
                </c:pt>
              </c:strCache>
            </c:strRef>
          </c:cat>
          <c:val>
            <c:numRef>
              <c:f>Sheet1!$B$2:$B$5</c:f>
              <c:numCache>
                <c:formatCode>General</c:formatCode>
                <c:ptCount val="4"/>
                <c:pt idx="0">
                  <c:v>320</c:v>
                </c:pt>
                <c:pt idx="1">
                  <c:v>280</c:v>
                </c:pt>
                <c:pt idx="2">
                  <c:v>190</c:v>
                </c:pt>
                <c:pt idx="3">
                  <c:v>250</c:v>
                </c:pt>
              </c:numCache>
            </c:numRef>
          </c:val>
        </c:ser>
        <c:ser>
          <c:idx val="1"/>
          <c:order val="1"/>
          <c:tx>
            <c:strRef>
              <c:f>Sheet1!$C$1</c:f>
              <c:strCache>
                <c:ptCount val="1"/>
                <c:pt idx="0">
                  <c:v>Cost</c:v>
                </c:pt>
              </c:strCache>
            </c:strRef>
          </c:tx>
          <c:cat>
            <c:strRef>
              <c:f>Sheet1!$A$2:$A$5</c:f>
              <c:strCache>
                <c:ptCount val="4"/>
                <c:pt idx="0">
                  <c:v>East</c:v>
                </c:pt>
                <c:pt idx="1">
                  <c:v>West</c:v>
                </c:pt>
                <c:pt idx="2">
                  <c:v>North</c:v>
                </c:pt>
                <c:pt idx="3">
                  <c:v>South</c:v>
                </c:pt>
              </c:strCache>
            </c:strRef>
          </c:cat>
          <c:val>
            <c:numRef>
              <c:f>Sheet1!$C$2:$C$5</c:f>
              <c:numCache>
                <c:formatCode>General</c:formatCode>
                <c:ptCount val="4"/>
                <c:pt idx="0">
                  <c:v>200</c:v>
                </c:pt>
                <c:pt idx="1">
                  <c:v>180</c:v>
                </c:pt>
                <c:pt idx="2">
                  <c:v>140</c:v>
                </c:pt>
                <c:pt idx="3">
                  <c:v>160</c:v>
                </c:pt>
              </c:numCache>
            </c:numRef>
          </c:val>
        </c:ser>
        <c:axId val="-2068027336"/>
        <c:axId val="-2113994440"/>
      </c:bar3D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6.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bar"/>
        <c:grouping val="percentStacked"/>
        <c:ser>
          <c:idx val="0"/>
          <c:order val="0"/>
          <c:tx>
            <c:strRef>
              <c:f>Sheet1!$B$1</c:f>
              <c:strCache>
                <c:ptCount val="1"/>
                <c:pt idx="0">
                  <c:v>Male</c:v>
                </c:pt>
              </c:strCache>
            </c:strRef>
          </c:tx>
          <c:cat>
            <c:strRef>
              <c:f>Sheet1!$A$2:$A$2</c:f>
              <c:strCache>
                <c:ptCount val="1"/>
                <c:pt idx="0">
                  <c:v>Gender</c:v>
                </c:pt>
              </c:strCache>
            </c:strRef>
          </c:cat>
          <c:val>
            <c:numRef>
              <c:f>Sheet1!$B$2:$B$2</c:f>
              <c:numCache>
                <c:formatCode>General</c:formatCode>
                <c:ptCount val="1"/>
                <c:pt idx="0">
                  <c:v>58.1</c:v>
                </c:pt>
              </c:numCache>
            </c:numRef>
          </c:val>
        </c:ser>
        <c:ser>
          <c:idx val="1"/>
          <c:order val="1"/>
          <c:tx>
            <c:strRef>
              <c:f>Sheet1!$C$1</c:f>
              <c:strCache>
                <c:ptCount val="1"/>
                <c:pt idx="0">
                  <c:v>Female</c:v>
                </c:pt>
              </c:strCache>
            </c:strRef>
          </c:tx>
          <c:cat>
            <c:strRef>
              <c:f>Sheet1!$A$2:$A$2</c:f>
              <c:strCache>
                <c:ptCount val="1"/>
                <c:pt idx="0">
                  <c:v>Gender</c:v>
                </c:pt>
              </c:strCache>
            </c:strRef>
          </c:cat>
          <c:val>
            <c:numRef>
              <c:f>Sheet1!$C$2:$C$2</c:f>
              <c:numCache>
                <c:formatCode>General</c:formatCode>
                <c:ptCount val="1"/>
                <c:pt idx="0">
                  <c:v>41.9</c:v>
                </c:pt>
              </c:numCache>
            </c:numRef>
          </c:val>
        </c:ser>
        <c:overlap val="100"/>
        <c:axId val="-2068027336"/>
        <c:axId val="-2113994440"/>
      </c:barChart>
      <c:catAx>
        <c:axId val="-2068027336"/>
        <c:scaling>
          <c:orientation val="minMax"/>
        </c:scaling>
        <c:delete val="0"/>
        <c:axPos val="l"/>
        <c:majorTickMark val="out"/>
        <c:minorTickMark val="none"/>
        <c:tickLblPos val="nextTo"/>
        <c:crossAx val="-2113994440"/>
        <c:crosses val="autoZero"/>
        <c:auto val="1"/>
        <c:lblAlgn val="ctr"/>
        <c:lblOffset val="100"/>
        <c:noMultiLvlLbl val="0"/>
      </c:catAx>
      <c:valAx>
        <c:axId val="-2113994440"/>
        <c:scaling/>
        <c:delete val="0"/>
        <c:axPos val="b"/>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7.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stacked"/>
        <c:ser>
          <c:idx val="0"/>
          <c:order val="0"/>
          <c:tx>
            <c:strRef>
              <c:f>Sheet1!$B$1</c:f>
              <c:strCache>
                <c:ptCount val="1"/>
                <c:pt idx="0">
                  <c:v>Product A</c:v>
                </c:pt>
              </c:strCache>
            </c:strRef>
          </c:tx>
          <c:cat>
            <c:strRef>
              <c:f>Sheet1!$A$2:$A$5</c:f>
              <c:strCache>
                <c:ptCount val="4"/>
                <c:pt idx="0">
                  <c:v>Q1</c:v>
                </c:pt>
                <c:pt idx="1">
                  <c:v>Q2</c:v>
                </c:pt>
                <c:pt idx="2">
                  <c:v>Q3</c:v>
                </c:pt>
                <c:pt idx="3">
                  <c:v>Q4</c:v>
                </c:pt>
              </c:strCache>
            </c:strRef>
          </c:cat>
          <c:val>
            <c:numRef>
              <c:f>Sheet1!$B$2:$B$5</c:f>
              <c:numCache>
                <c:formatCode>General</c:formatCode>
                <c:ptCount val="4"/>
                <c:pt idx="0">
                  <c:v>100</c:v>
                </c:pt>
                <c:pt idx="1">
                  <c:v>120</c:v>
                </c:pt>
                <c:pt idx="2">
                  <c:v>90</c:v>
                </c:pt>
                <c:pt idx="3">
                  <c:v>150</c:v>
                </c:pt>
              </c:numCache>
            </c:numRef>
          </c:val>
        </c:ser>
        <c:ser>
          <c:idx val="1"/>
          <c:order val="1"/>
          <c:tx>
            <c:strRef>
              <c:f>Sheet1!$C$1</c:f>
              <c:strCache>
                <c:ptCount val="1"/>
                <c:pt idx="0">
                  <c:v>Product B</c:v>
                </c:pt>
              </c:strCache>
            </c:strRef>
          </c:tx>
          <c:cat>
            <c:strRef>
              <c:f>Sheet1!$A$2:$A$5</c:f>
              <c:strCache>
                <c:ptCount val="4"/>
                <c:pt idx="0">
                  <c:v>Q1</c:v>
                </c:pt>
                <c:pt idx="1">
                  <c:v>Q2</c:v>
                </c:pt>
                <c:pt idx="2">
                  <c:v>Q3</c:v>
                </c:pt>
                <c:pt idx="3">
                  <c:v>Q4</c:v>
                </c:pt>
              </c:strCache>
            </c:strRef>
          </c:cat>
          <c:val>
            <c:numRef>
              <c:f>Sheet1!$C$2:$C$5</c:f>
              <c:numCache>
                <c:formatCode>General</c:formatCode>
                <c:ptCount val="4"/>
                <c:pt idx="0">
                  <c:v>80</c:v>
                </c:pt>
                <c:pt idx="1">
                  <c:v>70</c:v>
                </c:pt>
                <c:pt idx="2">
                  <c:v>110</c:v>
                </c:pt>
                <c:pt idx="3">
                  <c:v>60</c:v>
                </c:pt>
              </c:numCache>
            </c:numRef>
          </c:val>
        </c:ser>
        <c:ser>
          <c:idx val="2"/>
          <c:order val="2"/>
          <c:tx>
            <c:strRef>
              <c:f>Sheet1!$D$1</c:f>
              <c:strCache>
                <c:ptCount val="1"/>
                <c:pt idx="0">
                  <c:v>Product C</c:v>
                </c:pt>
              </c:strCache>
            </c:strRef>
          </c:tx>
          <c:cat>
            <c:strRef>
              <c:f>Sheet1!$A$2:$A$5</c:f>
              <c:strCache>
                <c:ptCount val="4"/>
                <c:pt idx="0">
                  <c:v>Q1</c:v>
                </c:pt>
                <c:pt idx="1">
                  <c:v>Q2</c:v>
                </c:pt>
                <c:pt idx="2">
                  <c:v>Q3</c:v>
                </c:pt>
                <c:pt idx="3">
                  <c:v>Q4</c:v>
                </c:pt>
              </c:strCache>
            </c:strRef>
          </c:cat>
          <c:val>
            <c:numRef>
              <c:f>Sheet1!$D$2:$D$5</c:f>
              <c:numCache>
                <c:formatCode>General</c:formatCode>
                <c:ptCount val="4"/>
                <c:pt idx="0">
                  <c:v>50</c:v>
                </c:pt>
                <c:pt idx="1">
                  <c:v>40</c:v>
                </c:pt>
                <c:pt idx="2">
                  <c:v>30</c:v>
                </c:pt>
                <c:pt idx="3">
                  <c:v>80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harts/chart28.xml><?xml version="1.0" encoding="utf-8"?>
<c:chartSpace xmlns:c="http://schemas.openxmlformats.org/drawingml/2006/chart" xmlns:a="http://schemas.openxmlformats.org/drawingml/2006/main" xmlns:r="http://schemas.openxmlformats.org/officeDocument/2006/relationships">
  <c:date1904 val="0"/>
  <c:chart>
    <c:autoTitleDeleted val="0"/>
    <c:plotArea>
      <c:barChart>
        <c:barDir val="col"/>
        <c:grouping val="percentStacked"/>
        <c:ser>
          <c:idx val="0"/>
          <c:order val="0"/>
          <c:tx>
            <c:strRef>
              <c:f>Sheet1!$B$1</c:f>
              <c:strCache>
                <c:ptCount val="1"/>
                <c:pt idx="0">
                  <c:v>2024</c:v>
                </c:pt>
              </c:strCache>
            </c:strRef>
          </c:tx>
          <c:cat>
            <c:strRef>
              <c:f>Sheet1!$A$2:$A$4</c:f>
              <c:strCache>
                <c:ptCount val="3"/>
                <c:pt idx="0">
                  <c:v>East</c:v>
                </c:pt>
                <c:pt idx="1">
                  <c:v>West</c:v>
                </c:pt>
                <c:pt idx="2">
                  <c:v>North</c:v>
                </c:pt>
              </c:strCache>
            </c:strRef>
          </c:cat>
          <c:val>
            <c:numRef>
              <c:f>Sheet1!$B$2:$B$4</c:f>
              <c:numCache>
                <c:formatCode>General</c:formatCode>
                <c:ptCount val="3"/>
                <c:pt idx="0">
                  <c:v>300</c:v>
                </c:pt>
                <c:pt idx="1">
                  <c:v>200</c:v>
                </c:pt>
                <c:pt idx="2">
                  <c:v>150</c:v>
                </c:pt>
              </c:numCache>
            </c:numRef>
          </c:val>
        </c:ser>
        <c:ser>
          <c:idx val="1"/>
          <c:order val="1"/>
          <c:tx>
            <c:strRef>
              <c:f>Sheet1!$C$1</c:f>
              <c:strCache>
                <c:ptCount val="1"/>
                <c:pt idx="0">
                  <c:v>2025</c:v>
                </c:pt>
              </c:strCache>
            </c:strRef>
          </c:tx>
          <c:cat>
            <c:strRef>
              <c:f>Sheet1!$A$2:$A$4</c:f>
              <c:strCache>
                <c:ptCount val="3"/>
                <c:pt idx="0">
                  <c:v>East</c:v>
                </c:pt>
                <c:pt idx="1">
                  <c:v>West</c:v>
                </c:pt>
                <c:pt idx="2">
                  <c:v>North</c:v>
                </c:pt>
              </c:strCache>
            </c:strRef>
          </c:cat>
          <c:val>
            <c:numRef>
              <c:f>Sheet1!$C$2:$C$4</c:f>
              <c:numCache>
                <c:formatCode>General</c:formatCode>
                <c:ptCount val="3"/>
                <c:pt idx="0">
                  <c:v>250</c:v>
                </c:pt>
                <c:pt idx="1">
                  <c:v>350</c:v>
                </c:pt>
                <c:pt idx="2">
                  <c:v>200</c:v>
                </c:pt>
              </c:numCache>
            </c:numRef>
          </c:val>
        </c:ser>
        <c:overlap val="100"/>
        <c:axId val="-2068027336"/>
        <c:axId val="-2113994440"/>
      </c:barChart>
      <c:catAx>
        <c:axId val="-2068027336"/>
        <c:scaling>
          <c:orientation val="minMax"/>
        </c:scaling>
        <c:delete val="0"/>
        <c:axPos val="b"/>
        <c:majorTickMark val="out"/>
        <c:minorTickMark val="none"/>
        <c:tickLblPos val="nextTo"/>
        <c:crossAx val="-2113994440"/>
        <c:crosses val="autoZero"/>
        <c:auto val="1"/>
        <c:lblAlgn val="ctr"/>
        <c:lblOffset val="100"/>
        <c:noMultiLvlLbl val="0"/>
      </c:catAx>
      <c:valAx>
        <c:axId val="-2113994440"/>
        <c:scaling/>
        <c:delete val="0"/>
        <c:axPos val="l"/>
        <c:majorGridlines/>
        <c:majorTickMark val="out"/>
        <c:minorTickMark val="none"/>
        <c:tickLblPos val="nextTo"/>
        <c:crossAx val="-2068027336"/>
        <c:crosses val="autoZero"/>
      </c:valAx>
    </c:plotArea>
    <c:dispBlanksAs val="gap"/>
  </c:chart>
  <c:txPr>
    <a:bodyPr/>
    <a:lstStyle/>
    <a:p>
      <a:pPr>
        <a:defRPr sz="1800"/>
      </a:pPr>
      <a:endParaRPr lang="en-US"/>
    </a:p>
  </c:txPr>
  <c:externalData r:id="rId1">
    <c:autoUpdate val="0"/>
  </c:externalData>
</c:chartSpace>
</file>

<file path=ppt/comments/comment75.xml><?xml version="1.0" encoding="utf-8"?>
<p:cmLst xmlns:p="http://schemas.openxmlformats.org/presentationml/2006/main">
  <p:cm authorId="1" dt="2025-01-15T10:30:00.000" idx="1">
    <p:pos x="100" y="200"/>
    <p:text>This is a test comment on slide 74.</p:text>
  </p:cm>
  <p:cm authorId="1" dt="2025-01-15T11:00:00.000" idx="2">
    <p:pos x="300" y="400"/>
    <p:text>Second comment with review feedback.</p:text>
  </p:cm>
</p: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speaker notes for slide 74.</a:t>
            </a:r>
          </a:p>
          <a:p>
            <a:r>
              <a:t>Second paragraph of notes with key points.</a:t>
            </a:r>
          </a:p>
          <a:p>
            <a:r>
              <a:t>Remember to mention the round-trip preservation.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rgbClr val="1B3A6B"/>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a:defRPr sz="4400">
          <a:solidFill>
            <a:srgbClr val="FFFFFF"/>
          </a:solidFill>
        </a:defRPr>
      </a:lvl1pPr>
    </p:titleStyle>
    <p:bodyStyle>
      <a:lvl1pPr algn="l" marL="342900">
        <a:buChar char="•"/>
        <a:defRPr sz="2400">
          <a:solidFill>
            <a:srgbClr val="FFFFFF"/>
          </a:solidFill>
        </a:defRPr>
      </a:lvl1pPr>
      <a:lvl2pPr algn="l" marL="685800">
        <a:buChar char="–"/>
        <a:defRPr sz="2000">
          <a:solidFill>
            <a:srgbClr val="CCCCCC"/>
          </a:solidFill>
        </a:defRPr>
      </a:lvl2pPr>
    </p:bodyStyle>
    <p:otherStyle>
      <a:lvl1pPr>
        <a:defRPr sz="1800">
          <a:solidFill>
            <a:srgbClr val="999999"/>
          </a:solidFill>
        </a:defRPr>
      </a:lvl1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 TargetMode="Externa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click" TargetMode="External"/><Relationship Id="rId3" Type="http://schemas.openxmlformats.org/officeDocument/2006/relationships/hyperlink" Target="https://example.com/hover" TargetMode="External"/><Relationship Id="rId4" Type="http://schemas.openxmlformats.org/officeDocument/2006/relationships/hyperlink" Target="https://example.com/both-click" TargetMode="External"/><Relationship Id="rId5" Type="http://schemas.openxmlformats.org/officeDocument/2006/relationships/hyperlink" Target="https://example.com/both-hover" TargetMode="Externa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https://upload.wikimedia.org/wikipedia/commons/thumb/4/47/PNG_transparency_demonstration_1.png/280px-PNG_transparency_demonstration_1.png" TargetMode="External"/><Relationship Id="rId3" Type="http://schemas.openxmlformats.org/officeDocument/2006/relationships/image" Target="https://picsum.photos/id/237/200/300" TargetMode="Externa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xample.com/shape-link" TargetMode="Externa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 Id="rId3" Type="http://schemas.openxmlformats.org/officeDocument/2006/relationships/chart" Target="../charts/chart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9.xml"/><Relationship Id="rId3" Type="http://schemas.openxmlformats.org/officeDocument/2006/relationships/chart" Target="../charts/chart10.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2.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3.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4.xml"/><Relationship Id="rId3" Type="http://schemas.openxmlformats.org/officeDocument/2006/relationships/chart" Target="../charts/chart15.xml"/><Relationship Id="rId4" Type="http://schemas.openxmlformats.org/officeDocument/2006/relationships/chart" Target="../charts/chart16.xml"/><Relationship Id="rId5" Type="http://schemas.openxmlformats.org/officeDocument/2006/relationships/chart" Target="../charts/chart17.xml"/><Relationship Id="rId6" Type="http://schemas.openxmlformats.org/officeDocument/2006/relationships/chart" Target="../charts/chart18.xml"/><Relationship Id="rId7" Type="http://schemas.openxmlformats.org/officeDocument/2006/relationships/chart" Target="../charts/chart19.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0.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2.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3.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4.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5.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6.xml"/><Relationship Id="rId3" Type="http://schemas.openxmlformats.org/officeDocument/2006/relationships/chart" Target="../charts/chart27.xml"/><Relationship Id="rId4" Type="http://schemas.openxmlformats.org/officeDocument/2006/relationships/chart" Target="../charts/chart28.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comments" Target="../comments/comment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oleImage77.png"/><Relationship Id="rId3" Type="http://schemas.openxmlformats.org/officeDocument/2006/relationships/oleObject" Target="../embeddings/oleObject77.bin"/></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posterFrame78.png"/><Relationship Id="rId3" Type="http://schemas.openxmlformats.org/officeDocument/2006/relationships/video" Target="../media/video78.mp4"/></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Wmf1" Type="http://schemas.openxmlformats.org/officeDocument/2006/relationships/image" Target="../media/image_wmf1.wmf"/></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 Vertical Alignment (top / center / bottom)</a:t>
            </a:r>
          </a:p>
        </p:txBody>
      </p:sp>
      <p:sp>
        <p:nvSpPr>
          <p:cNvPr id="3" name="TextBox 2"/>
          <p:cNvSpPr txBox="1"/>
          <p:nvPr/>
        </p:nvSpPr>
        <p:spPr>
          <a:xfrm>
            <a:off x="457200" y="1097280"/>
            <a:ext cx="2560320" cy="2286000"/>
          </a:xfrm>
          <a:prstGeom prst="rect">
            <a:avLst/>
          </a:prstGeom>
          <a:solidFill>
            <a:srgbClr val="DCE6F0"/>
          </a:solidFill>
        </p:spPr>
        <p:txBody>
          <a:bodyPr wrap="square" anchor="t">
            <a:spAutoFit/>
          </a:bodyPr>
          <a:lstStyle/>
          <a:p>
            <a:pPr algn="l">
              <a:defRPr sz="1400">
                <a:solidFill>
                  <a:srgbClr val="000000"/>
                </a:solidFill>
              </a:defRPr>
            </a:pPr>
            <a:r>
              <a:t>TOP aligned text</a:t>
            </a:r>
          </a:p>
          <a:p>
            <a:r>
              <a:t>(anchor=t)</a:t>
            </a:r>
          </a:p>
        </p:txBody>
      </p:sp>
      <p:sp>
        <p:nvSpPr>
          <p:cNvPr id="4" name="TextBox 3"/>
          <p:cNvSpPr txBox="1"/>
          <p:nvPr/>
        </p:nvSpPr>
        <p:spPr>
          <a:xfrm>
            <a:off x="3291840" y="1097280"/>
            <a:ext cx="2560320" cy="2286000"/>
          </a:xfrm>
          <a:prstGeom prst="rect">
            <a:avLst/>
          </a:prstGeom>
          <a:solidFill>
            <a:srgbClr val="C8DCF0"/>
          </a:solidFill>
        </p:spPr>
        <p:txBody>
          <a:bodyPr wrap="square" anchor="ctr">
            <a:spAutoFit/>
          </a:bodyPr>
          <a:lstStyle/>
          <a:p>
            <a:pPr>
              <a:defRPr sz="1400">
                <a:solidFill>
                  <a:srgbClr val="000000"/>
                </a:solidFill>
              </a:defRPr>
            </a:pPr>
            <a:r>
              <a:t>CENTER aligned text</a:t>
            </a:r>
          </a:p>
          <a:p>
            <a:r>
              <a:t>(anchor=ctr)</a:t>
            </a:r>
          </a:p>
        </p:txBody>
      </p:sp>
      <p:sp>
        <p:nvSpPr>
          <p:cNvPr id="5" name="TextBox 4"/>
          <p:cNvSpPr txBox="1"/>
          <p:nvPr/>
        </p:nvSpPr>
        <p:spPr>
          <a:xfrm>
            <a:off x="6126480" y="1097280"/>
            <a:ext cx="2560320" cy="2286000"/>
          </a:xfrm>
          <a:prstGeom prst="rect">
            <a:avLst/>
          </a:prstGeom>
          <a:solidFill>
            <a:srgbClr val="B4D2F0"/>
          </a:solidFill>
        </p:spPr>
        <p:txBody>
          <a:bodyPr wrap="square" anchor="b">
            <a:spAutoFit/>
          </a:bodyPr>
          <a:lstStyle/>
          <a:p>
            <a:pPr>
              <a:defRPr sz="1400">
                <a:solidFill>
                  <a:srgbClr val="000000"/>
                </a:solidFill>
              </a:defRPr>
            </a:pPr>
            <a:r>
              <a:t>BOTTOM aligned text</a:t>
            </a:r>
          </a:p>
          <a:p>
            <a:r>
              <a:t>(anchor=b)</a:t>
            </a:r>
          </a:p>
        </p:txBody>
      </p:sp>
      <p:sp>
        <p:nvSpPr>
          <p:cNvPr id="6" name="TextBox 5"/>
          <p:cNvSpPr txBox="1"/>
          <p:nvPr/>
        </p:nvSpPr>
        <p:spPr>
          <a:xfrm>
            <a:off x="457200" y="3840480"/>
            <a:ext cx="3657600" cy="2286000"/>
          </a:xfrm>
          <a:prstGeom prst="rect">
            <a:avLst/>
          </a:prstGeom>
          <a:solidFill>
            <a:srgbClr val="F0E6C8"/>
          </a:solidFill>
        </p:spPr>
        <p:txBody>
          <a:bodyPr wrap="none" lIns="457200" tIns="457200" rIns="457200" bIns="457200">
            <a:spAutoFit/>
          </a:bodyPr>
          <a:lstStyle/>
          <a:p>
            <a:pPr>
              <a:defRPr sz="1200"/>
            </a:pPr>
            <a:r>
              <a:t>Large insets (lIns=36pt, tIns=36pt)</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2: Paragraph Spacing &amp; Indent</a:t>
            </a:r>
          </a:p>
        </p:txBody>
      </p:sp>
      <p:sp>
        <p:nvSpPr>
          <p:cNvPr id="3" name="TextBox 2"/>
          <p:cNvSpPr txBox="1"/>
          <p:nvPr/>
        </p:nvSpPr>
        <p:spPr>
          <a:xfrm>
            <a:off x="457200" y="1097280"/>
            <a:ext cx="8229600" cy="4572000"/>
          </a:xfrm>
          <a:prstGeom prst="rect">
            <a:avLst/>
          </a:prstGeom>
          <a:solidFill>
            <a:srgbClr val="F5F5FA"/>
          </a:solidFill>
        </p:spPr>
        <p:txBody>
          <a:bodyPr wrap="square">
            <a:spAutoFit/>
          </a:bodyPr>
          <a:lstStyle/>
          <a:p>
            <a:pPr>
              <a:defRPr sz="1400"/>
            </a:pPr>
            <a:r>
              <a:t>Paragraph 1: No special spacing or indent.</a:t>
            </a:r>
          </a:p>
          <a:p>
            <a:pPr>
              <a:defRPr sz="1400"/>
              <a:spcBef>
                <a:spcPts val="2400"/>
              </a:spcBef>
            </a:pPr>
            <a:r>
              <a:t>Paragraph 2: spcBef=24pt (gap above this line)</a:t>
            </a:r>
          </a:p>
          <a:p>
            <a:pPr marL="914400">
              <a:defRPr sz="1400"/>
            </a:pPr>
            <a:r>
              <a:t>Paragraph 3: marL=1in (indented from left)</a:t>
            </a:r>
          </a:p>
          <a:p>
            <a:pPr>
              <a:defRPr sz="1400"/>
              <a:spcAft>
                <a:spcPts val="1800"/>
              </a:spcAft>
            </a:pPr>
            <a:r>
              <a:t>Paragraph 4: spcAft=18pt (gap below this line)</a:t>
            </a:r>
          </a:p>
          <a:p>
            <a:pPr>
              <a:defRPr sz="1400"/>
            </a:pPr>
            <a:r>
              <a:t>Paragraph 5: After the 18pt gap. Should be visibly separated from P4.</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 Bullets &amp; Auto-Numbering</a:t>
            </a:r>
          </a:p>
        </p:txBody>
      </p:sp>
      <p:sp>
        <p:nvSpPr>
          <p:cNvPr id="3" name="TextBox 2"/>
          <p:cNvSpPr txBox="1"/>
          <p:nvPr/>
        </p:nvSpPr>
        <p:spPr>
          <a:xfrm>
            <a:off x="457200" y="1097280"/>
            <a:ext cx="3657600" cy="2286000"/>
          </a:xfrm>
          <a:prstGeom prst="rect">
            <a:avLst/>
          </a:prstGeom>
          <a:solidFill>
            <a:srgbClr val="E6F5E6"/>
          </a:solidFill>
        </p:spPr>
        <p:txBody>
          <a:bodyPr wrap="square">
            <a:spAutoFit/>
          </a:bodyPr>
          <a:lstStyle/>
          <a:p>
            <a:pPr marL="457200" indent="-228600">
              <a:defRPr sz="1400"/>
              <a:buChar char="•"/>
            </a:pPr>
            <a:r>
              <a:t>First bullet item</a:t>
            </a:r>
          </a:p>
          <a:p>
            <a:pPr marL="457200" indent="-228600">
              <a:defRPr sz="1400"/>
              <a:buChar char="•"/>
            </a:pPr>
            <a:r>
              <a:t>Second bullet item</a:t>
            </a:r>
          </a:p>
          <a:p>
            <a:pPr marL="457200" indent="-228600">
              <a:defRPr sz="1400"/>
              <a:buChar char="–"/>
            </a:pPr>
            <a:r>
              <a:t>Third with dash</a:t>
            </a:r>
          </a:p>
          <a:p>
            <a:pPr marL="457200" indent="-228600">
              <a:defRPr sz="1400"/>
              <a:buChar char="▶"/>
            </a:pPr>
            <a:r>
              <a:t>Fourth with arrow</a:t>
            </a:r>
          </a:p>
        </p:txBody>
      </p:sp>
      <p:sp>
        <p:nvSpPr>
          <p:cNvPr id="4" name="TextBox 3"/>
          <p:cNvSpPr txBox="1"/>
          <p:nvPr/>
        </p:nvSpPr>
        <p:spPr>
          <a:xfrm>
            <a:off x="4572000" y="1097280"/>
            <a:ext cx="4114800" cy="2286000"/>
          </a:xfrm>
          <a:prstGeom prst="rect">
            <a:avLst/>
          </a:prstGeom>
          <a:solidFill>
            <a:srgbClr val="E6E6F5"/>
          </a:solidFill>
        </p:spPr>
        <p:txBody>
          <a:bodyPr wrap="square">
            <a:spAutoFit/>
          </a:bodyPr>
          <a:lstStyle/>
          <a:p>
            <a:pPr marL="457200" indent="-228600">
              <a:defRPr sz="1400"/>
              <a:buAutoNum type="arabicPeriod"/>
            </a:pPr>
            <a:r>
              <a:t>Arabic period</a:t>
            </a:r>
          </a:p>
          <a:p>
            <a:pPr marL="457200" indent="-228600">
              <a:defRPr sz="1400"/>
              <a:buAutoNum type="arabicPeriod"/>
            </a:pPr>
            <a:r>
              <a:t>Second item</a:t>
            </a:r>
          </a:p>
          <a:p>
            <a:pPr marL="457200" indent="-228600">
              <a:defRPr sz="1400"/>
              <a:buAutoNum type="arabicPeriod"/>
            </a:pPr>
            <a:r>
              <a:t>Third item</a:t>
            </a:r>
          </a:p>
          <a:p>
            <a:pPr marL="457200" indent="-228600">
              <a:defRPr sz="1400"/>
              <a:buAutoNum type="arabicPeriod"/>
            </a:pPr>
            <a:r>
              <a:t>Fourth item</a:t>
            </a:r>
          </a:p>
        </p:txBody>
      </p:sp>
      <p:sp>
        <p:nvSpPr>
          <p:cNvPr id="5" name="TextBox 4"/>
          <p:cNvSpPr txBox="1"/>
          <p:nvPr/>
        </p:nvSpPr>
        <p:spPr>
          <a:xfrm>
            <a:off x="457200" y="3840480"/>
            <a:ext cx="3657600" cy="2286000"/>
          </a:xfrm>
          <a:prstGeom prst="rect">
            <a:avLst/>
          </a:prstGeom>
          <a:solidFill>
            <a:srgbClr val="F5F0E6"/>
          </a:solidFill>
        </p:spPr>
        <p:txBody>
          <a:bodyPr wrap="square">
            <a:spAutoFit/>
          </a:bodyPr>
          <a:lstStyle/>
          <a:p>
            <a:pPr marL="457200" indent="-228600">
              <a:defRPr sz="1400"/>
              <a:buAutoNum type="romanUcPeriod"/>
            </a:pPr>
            <a:r>
              <a:t>Roman upper item</a:t>
            </a:r>
          </a:p>
          <a:p>
            <a:pPr marL="457200" indent="-228600">
              <a:defRPr sz="1400"/>
              <a:buAutoNum type="romanUcPeriod"/>
            </a:pPr>
            <a:r>
              <a:t>Another item</a:t>
            </a:r>
          </a:p>
          <a:p>
            <a:pPr marL="457200" indent="-228600">
              <a:defRPr sz="1400"/>
              <a:buAutoNum type="romanUcPeriod"/>
            </a:pPr>
            <a:r>
              <a:t>Third one</a:t>
            </a:r>
          </a:p>
        </p:txBody>
      </p:sp>
      <p:sp>
        <p:nvSpPr>
          <p:cNvPr id="6" name="TextBox 5"/>
          <p:cNvSpPr txBox="1"/>
          <p:nvPr/>
        </p:nvSpPr>
        <p:spPr>
          <a:xfrm>
            <a:off x="4572000" y="3840480"/>
            <a:ext cx="4114800" cy="2286000"/>
          </a:xfrm>
          <a:prstGeom prst="rect">
            <a:avLst/>
          </a:prstGeom>
          <a:solidFill>
            <a:srgbClr val="F0F5F5"/>
          </a:solidFill>
        </p:spPr>
        <p:txBody>
          <a:bodyPr wrap="square">
            <a:spAutoFit/>
          </a:bodyPr>
          <a:lstStyle/>
          <a:p>
            <a:pPr marL="457200" indent="-228600">
              <a:defRPr sz="1400"/>
              <a:buAutoNum type="alphaLcParenR"/>
            </a:pPr>
            <a:r>
              <a:t>Alpha lower a</a:t>
            </a:r>
          </a:p>
          <a:p>
            <a:pPr marL="457200" indent="-228600">
              <a:defRPr sz="1400"/>
              <a:buAutoNum type="alphaLcParenR"/>
            </a:pPr>
            <a:r>
              <a:t>Alpha lower b</a:t>
            </a:r>
          </a:p>
          <a:p>
            <a:pPr marL="457200" indent="-228600">
              <a:defRPr sz="1400"/>
              <a:buAutoNum type="alphaLcParenR"/>
            </a:pPr>
            <a:r>
              <a:t>Alpha lower 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4: Run Decorations</a:t>
            </a:r>
          </a:p>
        </p:txBody>
      </p:sp>
      <p:sp>
        <p:nvSpPr>
          <p:cNvPr id="3" name="TextBox 2"/>
          <p:cNvSpPr txBox="1"/>
          <p:nvPr/>
        </p:nvSpPr>
        <p:spPr>
          <a:xfrm>
            <a:off x="457200" y="1097280"/>
            <a:ext cx="8229600" cy="4572000"/>
          </a:xfrm>
          <a:prstGeom prst="rect">
            <a:avLst/>
          </a:prstGeom>
          <a:noFill/>
        </p:spPr>
        <p:txBody>
          <a:bodyPr wrap="square">
            <a:spAutoFit/>
          </a:bodyPr>
          <a:lstStyle/>
          <a:p>
            <a:r>
              <a:rPr sz="1800" u="sng"/>
              <a:t>This text has single underline</a:t>
            </a:r>
          </a:p>
          <a:p>
            <a:r>
              <a:rPr sz="1800" strike="sngStrike"/>
              <a:t>This text has strikethrough</a:t>
            </a:r>
          </a:p>
          <a:p>
            <a:r>
              <a:rPr sz="1800" u="sng" strike="sngStrike"/>
              <a:t>Both underline AND strikethrough</a:t>
            </a:r>
          </a:p>
          <a:p>
            <a:r>
              <a:rPr sz="1800"/>
              <a:t>E = mc</a:t>
            </a:r>
            <a:r>
              <a:rPr sz="1800" baseline="30000"/>
              <a:t>2</a:t>
            </a:r>
          </a:p>
          <a:p>
            <a:r>
              <a:rPr sz="1800"/>
              <a:t>H</a:t>
            </a:r>
            <a:r>
              <a:rPr sz="1800" baseline="-25000"/>
              <a:t>2</a:t>
            </a:r>
            <a:r>
              <a:rPr sz="1800"/>
              <a:t>O (water)</a:t>
            </a:r>
          </a:p>
          <a:p>
            <a:r>
              <a:rPr b="1" sz="1800"/>
              <a:t>Bold </a:t>
            </a:r>
            <a:r>
              <a:rPr i="1" sz="1800"/>
              <a:t>Italic </a:t>
            </a:r>
            <a:r>
              <a:rPr b="1" i="1" u="sng" sz="1800"/>
              <a:t>BoldItalicUnderline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1B3A6B"/>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nchor="ctr">
            <a:spAutoFit/>
          </a:bodyPr>
          <a:lstStyle/>
          <a:p>
            <a:pPr>
              <a:defRPr sz="2800" b="1">
                <a:solidFill>
                  <a:srgbClr val="FFFFFF"/>
                </a:solidFill>
              </a:defRPr>
            </a:pPr>
            <a:r>
              <a:t>Slide 5: Combined Features</a:t>
            </a:r>
          </a:p>
        </p:txBody>
      </p:sp>
      <p:sp>
        <p:nvSpPr>
          <p:cNvPr id="3" name="TextBox 2"/>
          <p:cNvSpPr txBox="1"/>
          <p:nvPr/>
        </p:nvSpPr>
        <p:spPr>
          <a:xfrm>
            <a:off x="914400" y="1371600"/>
            <a:ext cx="7315200" cy="4572000"/>
          </a:xfrm>
          <a:prstGeom prst="rect">
            <a:avLst/>
          </a:prstGeom>
          <a:solidFill>
            <a:srgbClr val="F0F0FA"/>
          </a:solidFill>
        </p:spPr>
        <p:txBody>
          <a:bodyPr wrap="square" anchor="ctr" lIns="228600" tIns="228600">
            <a:spAutoFit/>
          </a:bodyPr>
          <a:lstStyle/>
          <a:p>
            <a:pPr marL="457200" indent="-228600">
              <a:defRPr sz="1600"/>
              <a:buChar char="•"/>
              <a:spcBef>
                <a:spcPts val="1200"/>
              </a:spcBef>
            </a:pPr>
            <a:r>
              <a:t>Center-anchored box with bullets</a:t>
            </a:r>
          </a:p>
          <a:p>
            <a:pPr marL="457200" indent="-228600">
              <a:defRPr sz="1600"/>
              <a:buChar char="•"/>
              <a:spcBef>
                <a:spcPts val="1200"/>
              </a:spcBef>
            </a:pPr>
            <a:r>
              <a:t>Second item with spacing</a:t>
            </a:r>
          </a:p>
          <a:p>
            <a:pPr marL="457200" indent="-228600">
              <a:defRPr sz="1600"/>
              <a:buChar char="•"/>
              <a:spcBef>
                <a:spcPts val="1200"/>
              </a:spcBef>
            </a:pPr>
            <a:r>
              <a:t>Third item with underline run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solidFill>
                  <a:srgbClr val="FFFFFF"/>
                </a:solidFill>
              </a:defRPr>
            </a:pPr>
            <a:r>
              <a:t>Slide 6: Inherits master navy bg</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C8DCFF"/>
                </a:solidFill>
              </a:defRPr>
            </a:pPr>
            <a:r>
              <a:t>Navy bg (#1B3A6B) = inheritance OK</a:t>
            </a:r>
          </a:p>
          <a:p>
            <a:pPr>
              <a:defRPr sz="1800">
                <a:solidFill>
                  <a:srgbClr val="FF9696"/>
                </a:solidFill>
              </a:defRPr>
            </a:pPr>
            <a:r>
              <a:t>White bg = inheritance FAILED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Slide 7: Placeholder Title (inherits 44pt ctr white)</a:t>
            </a:r>
          </a:p>
        </p:txBody>
      </p:sp>
      <p:sp>
        <p:nvSpPr>
          <p:cNvPr id="3" name="Content Placeholder 2"/>
          <p:cNvSpPr>
            <a:spLocks noGrp="1"/>
          </p:cNvSpPr>
          <p:nvPr>
            <p:ph idx="1"/>
          </p:nvPr>
        </p:nvSpPr>
        <p:spPr/>
        <p:txBody>
          <a:bodyPr/>
          <a:lstStyle/>
          <a:p>
            <a:r>
              <a:t>Level 0: Should inherit 24pt white from master bodyStyle</a:t>
            </a:r>
          </a:p>
          <a:p>
            <a:pPr lvl="1"/>
            <a:r>
              <a:t>Level 1: Should inherit 20pt lightgray from master bodyStyle lvl2</a:t>
            </a:r>
          </a:p>
          <a:p>
            <a:r>
              <a:t>Level 0 again: back to 24pt white</a:t>
            </a:r>
          </a:p>
        </p:txBody>
      </p:sp>
      <p:sp>
        <p:nvSpPr>
          <p:cNvPr id="4" name="TextBox 3"/>
          <p:cNvSpPr txBox="1"/>
          <p:nvPr/>
        </p:nvSpPr>
        <p:spPr>
          <a:xfrm>
            <a:off x="457200" y="5029200"/>
            <a:ext cx="8229600" cy="1371600"/>
          </a:xfrm>
          <a:prstGeom prst="rect">
            <a:avLst/>
          </a:prstGeom>
          <a:noFill/>
        </p:spPr>
        <p:txBody>
          <a:bodyPr wrap="square">
            <a:spAutoFit/>
          </a:bodyPr>
          <a:lstStyle/>
          <a:p>
            <a:pPr>
              <a:defRPr sz="1200">
                <a:solidFill>
                  <a:srgbClr val="B4C8FF"/>
                </a:solidFill>
              </a:defRPr>
            </a:pPr>
            <a:r>
              <a:t>^ Title should be 44pt centered white. Body bullets should be 24pt/20pt white/gray.</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228B22"/>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000" b="1">
                <a:solidFill>
                  <a:srgbClr val="FFFFFF"/>
                </a:solidFill>
              </a:defRPr>
            </a:pPr>
            <a:r>
              <a:t>Slide 8: Explicit green bg (#228B22) — overrides master</a:t>
            </a:r>
          </a:p>
        </p:txBody>
      </p:sp>
      <p:sp>
        <p:nvSpPr>
          <p:cNvPr id="3" name="TextBox 2"/>
          <p:cNvSpPr txBox="1"/>
          <p:nvPr/>
        </p:nvSpPr>
        <p:spPr>
          <a:xfrm>
            <a:off x="457200" y="1828800"/>
            <a:ext cx="8229600" cy="2743200"/>
          </a:xfrm>
          <a:prstGeom prst="rect">
            <a:avLst/>
          </a:prstGeom>
          <a:noFill/>
        </p:spPr>
        <p:txBody>
          <a:bodyPr wrap="square">
            <a:spAutoFit/>
          </a:bodyPr>
          <a:lstStyle/>
          <a:p>
            <a:pPr>
              <a:defRPr sz="1800">
                <a:solidFill>
                  <a:srgbClr val="DCFFDC"/>
                </a:solidFill>
              </a:defRPr>
            </a:pPr>
            <a:r>
              <a:t>This slide has an explicit green background. It should NOT show the master's navy.</a:t>
            </a:r>
          </a:p>
          <a:p>
            <a:pPr>
              <a:defRPr sz="1800">
                <a:solidFill>
                  <a:srgbClr val="FFFFFF"/>
                </a:solidFill>
              </a:defRPr>
            </a:pPr>
            <a:r>
              <a:t>If you see green, explicit bg override is working correctly.</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9: East Asian Fonts &amp; Theme References</a:t>
            </a:r>
          </a:p>
        </p:txBody>
      </p:sp>
      <p:sp>
        <p:nvSpPr>
          <p:cNvPr id="3" name="TextBox 2"/>
          <p:cNvSpPr txBox="1"/>
          <p:nvPr/>
        </p:nvSpPr>
        <p:spPr>
          <a:xfrm>
            <a:off x="457200" y="1097280"/>
            <a:ext cx="3657600" cy="1828800"/>
          </a:xfrm>
          <a:prstGeom prst="rect">
            <a:avLst/>
          </a:prstGeom>
          <a:solidFill>
            <a:srgbClr val="F0F0FF"/>
          </a:solidFill>
        </p:spPr>
        <p:txBody>
          <a:bodyPr wrap="square">
            <a:spAutoFit/>
          </a:bodyPr>
          <a:lstStyle/>
          <a:p>
            <a:r>
              <a:rPr sz="1800">
                <a:ea typeface="MS PGothic"/>
                <a:latin typeface="Arial"/>
              </a:rPr>
              <a:t>日本語テキスト（MS PGothic）</a:t>
            </a:r>
          </a:p>
          <a:p>
            <a:r>
              <a:rPr sz="1600">
                <a:ea typeface="+mj-ea"/>
                <a:latin typeface="+mj-lt"/>
              </a:rPr>
              <a:t>テーマ参照: +mj-ea / +mj-lt</a:t>
            </a:r>
          </a:p>
          <a:p>
            <a:r>
              <a:rPr sz="1400">
                <a:ea typeface="+mn-ea"/>
                <a:latin typeface="+mn-lt"/>
              </a:rPr>
              <a:t>マイナーフォント: +mn-ea / +mn-lt</a:t>
            </a:r>
          </a:p>
        </p:txBody>
      </p:sp>
      <p:sp>
        <p:nvSpPr>
          <p:cNvPr id="4" name="TextBox 3"/>
          <p:cNvSpPr txBox="1"/>
          <p:nvPr/>
        </p:nvSpPr>
        <p:spPr>
          <a:xfrm>
            <a:off x="4572000" y="1097280"/>
            <a:ext cx="4114800" cy="1828800"/>
          </a:xfrm>
          <a:prstGeom prst="rect">
            <a:avLst/>
          </a:prstGeom>
          <a:solidFill>
            <a:srgbClr val="FFF5EB"/>
          </a:solidFill>
        </p:spPr>
        <p:txBody>
          <a:bodyPr wrap="square">
            <a:spAutoFit/>
          </a:bodyPr>
          <a:lstStyle/>
          <a:p>
            <a:r>
              <a:rPr sz="1800">
                <a:ea typeface="Meiryo"/>
                <a:latin typeface="Segoe UI"/>
              </a:rPr>
              <a:t>Mixed: ABC + あいう + 123</a:t>
            </a:r>
          </a:p>
        </p:txBody>
      </p:sp>
      <p:sp>
        <p:nvSpPr>
          <p:cNvPr id="5" name="TextBox 4"/>
          <p:cNvSpPr txBox="1"/>
          <p:nvPr/>
        </p:nvSpPr>
        <p:spPr>
          <a:xfrm>
            <a:off x="457200" y="3657600"/>
            <a:ext cx="8229600" cy="1828800"/>
          </a:xfrm>
          <a:prstGeom prst="rect">
            <a:avLst/>
          </a:prstGeom>
          <a:noFill/>
        </p:spPr>
        <p:txBody>
          <a:bodyPr wrap="square">
            <a:spAutoFit/>
          </a:bodyPr>
          <a:lstStyle/>
          <a:p>
            <a:pPr>
              <a:defRPr sz="1200">
                <a:solidFill>
                  <a:srgbClr val="646464"/>
                </a:solidFill>
              </a:defRPr>
            </a:pPr>
            <a:r>
              <a:t>Verify: EA fonts should appear in font-family. Theme refs (+mj-ea/+mn-ea) should resolve to Yu Gothic.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10: Line Spacing (a:lnSpc)</a:t>
            </a:r>
          </a:p>
        </p:txBody>
      </p:sp>
      <p:sp>
        <p:nvSpPr>
          <p:cNvPr id="3" name="TextBox 2"/>
          <p:cNvSpPr txBox="1"/>
          <p:nvPr/>
        </p:nvSpPr>
        <p:spPr>
          <a:xfrm>
            <a:off x="457200" y="1097280"/>
            <a:ext cx="3657600" cy="2743200"/>
          </a:xfrm>
          <a:prstGeom prst="rect">
            <a:avLst/>
          </a:prstGeom>
          <a:solidFill>
            <a:srgbClr val="E6F5FF"/>
          </a:solidFill>
        </p:spPr>
        <p:txBody>
          <a:bodyPr wrap="square">
            <a:spAutoFit/>
          </a:bodyPr>
          <a:lstStyle/>
          <a:p>
            <a:pPr>
              <a:defRPr sz="1400"/>
              <a:lnSpc>
                <a:spcPct val="150000"/>
              </a:lnSpc>
            </a:pPr>
            <a:r>
              <a:t>Line 1: 150% spacing</a:t>
            </a:r>
          </a:p>
          <a:p>
            <a:pPr>
              <a:defRPr sz="1400"/>
              <a:lnSpc>
                <a:spcPct val="150000"/>
              </a:lnSpc>
            </a:pPr>
            <a:r>
              <a:t>Line 2: wider gap above</a:t>
            </a:r>
          </a:p>
          <a:p>
            <a:pPr>
              <a:defRPr sz="1400"/>
              <a:lnSpc>
                <a:spcPct val="150000"/>
              </a:lnSpc>
            </a:pPr>
            <a:r>
              <a:t>Line 3: still 150%</a:t>
            </a:r>
          </a:p>
        </p:txBody>
      </p:sp>
      <p:sp>
        <p:nvSpPr>
          <p:cNvPr id="4" name="TextBox 3"/>
          <p:cNvSpPr txBox="1"/>
          <p:nvPr/>
        </p:nvSpPr>
        <p:spPr>
          <a:xfrm>
            <a:off x="4572000" y="1097280"/>
            <a:ext cx="4114800" cy="2743200"/>
          </a:xfrm>
          <a:prstGeom prst="rect">
            <a:avLst/>
          </a:prstGeom>
          <a:solidFill>
            <a:srgbClr val="FFF0E6"/>
          </a:solidFill>
        </p:spPr>
        <p:txBody>
          <a:bodyPr wrap="square">
            <a:spAutoFit/>
          </a:bodyPr>
          <a:lstStyle/>
          <a:p>
            <a:pPr>
              <a:defRPr sz="1400"/>
              <a:lnSpc>
                <a:spcPts val="3600"/>
              </a:lnSpc>
            </a:pPr>
            <a:r>
              <a:t>Line 1: 36pt absolute</a:t>
            </a:r>
          </a:p>
          <a:p>
            <a:pPr>
              <a:defRPr sz="1400"/>
              <a:lnSpc>
                <a:spcPts val="3600"/>
              </a:lnSpc>
            </a:pPr>
            <a:r>
              <a:t>Line 2: fixed height</a:t>
            </a:r>
          </a:p>
          <a:p>
            <a:pPr>
              <a:defRPr sz="1400"/>
              <a:lnSpc>
                <a:spcPts val="3600"/>
              </a:lnSpc>
            </a:pPr>
            <a:r>
              <a:t>Line 3: still 36pt</a:t>
            </a:r>
          </a:p>
        </p:txBody>
      </p:sp>
      <p:sp>
        <p:nvSpPr>
          <p:cNvPr id="5" name="TextBox 4"/>
          <p:cNvSpPr txBox="1"/>
          <p:nvPr/>
        </p:nvSpPr>
        <p:spPr>
          <a:xfrm>
            <a:off x="457200" y="4114800"/>
            <a:ext cx="3657600" cy="2286000"/>
          </a:xfrm>
          <a:prstGeom prst="rect">
            <a:avLst/>
          </a:prstGeom>
          <a:solidFill>
            <a:srgbClr val="F5FFF0"/>
          </a:solidFill>
        </p:spPr>
        <p:txBody>
          <a:bodyPr wrap="square">
            <a:spAutoFit/>
          </a:bodyPr>
          <a:lstStyle/>
          <a:p>
            <a:pPr>
              <a:defRPr sz="1400"/>
              <a:lnSpc>
                <a:spcPct val="80000"/>
              </a:lnSpc>
            </a:pPr>
            <a:r>
              <a:t>Tight: 80% spacing</a:t>
            </a:r>
          </a:p>
          <a:p>
            <a:pPr>
              <a:defRPr sz="1400"/>
              <a:lnSpc>
                <a:spcPct val="80000"/>
              </a:lnSpc>
            </a:pPr>
            <a:r>
              <a:t>Lines should be close together</a:t>
            </a:r>
          </a:p>
          <a:p>
            <a:pPr>
              <a:defRPr sz="1400"/>
              <a:lnSpc>
                <a:spcPct val="80000"/>
              </a:lnSpc>
            </a:pPr>
            <a:r>
              <a:t>Third tight line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11: Character Spacing &amp; lstStyle</a:t>
            </a:r>
          </a:p>
        </p:txBody>
      </p:sp>
      <p:sp>
        <p:nvSpPr>
          <p:cNvPr id="3" name="TextBox 2"/>
          <p:cNvSpPr txBox="1"/>
          <p:nvPr/>
        </p:nvSpPr>
        <p:spPr>
          <a:xfrm>
            <a:off x="457200" y="1097280"/>
            <a:ext cx="8229600" cy="2286000"/>
          </a:xfrm>
          <a:prstGeom prst="rect">
            <a:avLst/>
          </a:prstGeom>
          <a:solidFill>
            <a:srgbClr val="F5F0FF"/>
          </a:solidFill>
        </p:spPr>
        <p:txBody>
          <a:bodyPr wrap="square">
            <a:spAutoFit/>
          </a:bodyPr>
          <a:lstStyle/>
          <a:p>
            <a:r>
              <a:rPr sz="1600"/>
              <a:t>Normal spacing (spc=0)</a:t>
            </a:r>
          </a:p>
          <a:p>
            <a:r>
              <a:rPr sz="1600" spc="300"/>
              <a:t>Wide spacing (spc=300, 3pt)</a:t>
            </a:r>
          </a:p>
          <a:p>
            <a:r>
              <a:rPr sz="1600" spc="1000"/>
              <a:t>Very wide (spc=1000, 10pt)</a:t>
            </a:r>
          </a:p>
          <a:p>
            <a:r>
              <a:rPr sz="1600" spc="-100"/>
              <a:t>Tight spacing (spc=-100, -1pt)</a:t>
            </a:r>
          </a:p>
        </p:txBody>
      </p:sp>
      <p:sp>
        <p:nvSpPr>
          <p:cNvPr id="4" name="TextBox 3"/>
          <p:cNvSpPr txBox="1"/>
          <p:nvPr/>
        </p:nvSpPr>
        <p:spPr>
          <a:xfrm>
            <a:off x="457200" y="3840480"/>
            <a:ext cx="8229600" cy="2286000"/>
          </a:xfrm>
          <a:prstGeom prst="rect">
            <a:avLst/>
          </a:prstGeom>
          <a:solidFill>
            <a:srgbClr val="FFFAEB"/>
          </a:solidFill>
        </p:spPr>
        <p:txBody>
          <a:bodyPr wrap="square">
            <a:spAutoFit/>
          </a:bodyPr>
          <a:lstStyle>
            <a:lvl1pPr>
              <a:defRPr sz="2000" b="1">
                <a:solidFill>
                  <a:srgbClr val="003366"/>
                </a:solidFill>
                <a:ea typeface="Meiryo"/>
              </a:defRPr>
            </a:lvl1pPr>
          </a:lstStyle>
          <a:p>
            <a:r>
              <a:t>lstStyle lvl1: inherits 20pt bold #003366 Meiryo</a:t>
            </a:r>
          </a:p>
          <a:p>
            <a:r>
              <a:t>Second paragraph: should also inherit lstStyle defaults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12: normAutofit (fontScale / lnSpcReduction)</a:t>
            </a:r>
          </a:p>
        </p:txBody>
      </p:sp>
      <p:sp>
        <p:nvSpPr>
          <p:cNvPr id="3" name="TextBox 2"/>
          <p:cNvSpPr txBox="1"/>
          <p:nvPr/>
        </p:nvSpPr>
        <p:spPr>
          <a:xfrm>
            <a:off x="457200" y="1097280"/>
            <a:ext cx="3657600" cy="1645920"/>
          </a:xfrm>
          <a:prstGeom prst="rect">
            <a:avLst/>
          </a:prstGeom>
          <a:solidFill>
            <a:srgbClr val="E8EAF6"/>
          </a:solidFill>
          <a:ln w="12700">
            <a:solidFill>
              <a:srgbClr val="3F51B5"/>
            </a:solidFill>
          </a:ln>
        </p:spPr>
        <p:txBody>
          <a:bodyPr wrap="square" lIns="91440" tIns="45720" rIns="91440" bIns="45720">
            <a:spAutoFit/>
            <a:normAutofit fontScale="80000"/>
          </a:bodyPr>
          <a:lstStyle/>
          <a:p>
            <a:r>
              <a:rPr sz="2000" b="1"/>
              <a:t>fontScale=80%</a:t>
            </a:r>
          </a:p>
          <a:p>
            <a:r>
              <a:rPr sz="1600"/>
              <a:t>Line 2: scaled down</a:t>
            </a:r>
          </a:p>
          <a:p>
            <a:r>
              <a:rPr sz="1600"/>
              <a:t>Line 3: smaller text</a:t>
            </a:r>
          </a:p>
          <a:p>
            <a:r>
              <a:rPr sz="1600"/>
              <a:t>Line 4: fits in box</a:t>
            </a:r>
          </a:p>
        </p:txBody>
      </p:sp>
      <p:sp>
        <p:nvSpPr>
          <p:cNvPr id="4" name="TextBox 3"/>
          <p:cNvSpPr txBox="1"/>
          <p:nvPr/>
        </p:nvSpPr>
        <p:spPr>
          <a:xfrm>
            <a:off x="4572000" y="1097280"/>
            <a:ext cx="3657600" cy="1645920"/>
          </a:xfrm>
          <a:prstGeom prst="rect">
            <a:avLst/>
          </a:prstGeom>
          <a:solidFill>
            <a:srgbClr val="FFF3E0"/>
          </a:solidFill>
          <a:ln w="12700">
            <a:solidFill>
              <a:srgbClr val="FF9800"/>
            </a:solidFill>
          </a:ln>
        </p:spPr>
        <p:txBody>
          <a:bodyPr wrap="square" lIns="91440" tIns="45720" rIns="91440" bIns="45720">
            <a:spAutoFit/>
            <a:normAutofit fontScale="62500" lnSpcReduction="20000"/>
          </a:bodyPr>
          <a:lstStyle/>
          <a:p>
            <a:r>
              <a:rPr sz="2000" b="1"/>
              <a:t>62.5% + lnSpc 20%</a:t>
            </a:r>
          </a:p>
          <a:p>
            <a:r>
              <a:rPr sz="1600"/>
              <a:t>Line 2: even smaller</a:t>
            </a:r>
          </a:p>
          <a:p>
            <a:r>
              <a:rPr sz="1600"/>
              <a:t>Line 3: tighter spacing</a:t>
            </a:r>
          </a:p>
          <a:p>
            <a:r>
              <a:rPr sz="1600"/>
              <a:t>Line 4: compact text</a:t>
            </a:r>
          </a:p>
        </p:txBody>
      </p:sp>
      <p:sp>
        <p:nvSpPr>
          <p:cNvPr id="5" name="TextBox 4"/>
          <p:cNvSpPr txBox="1"/>
          <p:nvPr/>
        </p:nvSpPr>
        <p:spPr>
          <a:xfrm>
            <a:off x="457200" y="3200400"/>
            <a:ext cx="3657600" cy="1645920"/>
          </a:xfrm>
          <a:prstGeom prst="rect">
            <a:avLst/>
          </a:prstGeom>
          <a:solidFill>
            <a:srgbClr val="E8F5E9"/>
          </a:solidFill>
          <a:ln w="12700">
            <a:solidFill>
              <a:srgbClr val="4CAF50"/>
            </a:solidFill>
          </a:ln>
        </p:spPr>
        <p:txBody>
          <a:bodyPr wrap="square" lIns="91440" tIns="45720" rIns="91440" bIns="45720">
            <a:spAutoFit/>
            <a:normAutofit/>
          </a:bodyPr>
          <a:lstStyle/>
          <a:p>
            <a:r>
              <a:rPr sz="2000" b="1"/>
              <a:t>normAutofit default</a:t>
            </a:r>
          </a:p>
          <a:p>
            <a:r>
              <a:rPr sz="1600"/>
              <a:t>Line 2: no scaling</a:t>
            </a:r>
          </a:p>
          <a:p>
            <a:r>
              <a:rPr sz="1600"/>
              <a:t>Line 3: same as original</a:t>
            </a:r>
          </a:p>
        </p:txBody>
      </p:sp>
      <p:sp>
        <p:nvSpPr>
          <p:cNvPr id="6" name="TextBox 5"/>
          <p:cNvSpPr txBox="1"/>
          <p:nvPr/>
        </p:nvSpPr>
        <p:spPr>
          <a:xfrm>
            <a:off x="4572000" y="3200400"/>
            <a:ext cx="3657600" cy="1645920"/>
          </a:xfrm>
          <a:prstGeom prst="rect">
            <a:avLst/>
          </a:prstGeom>
          <a:solidFill>
            <a:srgbClr val="F3E5F5"/>
          </a:solidFill>
          <a:ln w="12700">
            <a:solidFill>
              <a:srgbClr val="9C27B0"/>
            </a:solidFill>
          </a:ln>
        </p:spPr>
        <p:txBody>
          <a:bodyPr wrap="square" lIns="91440" tIns="45720" rIns="91440" bIns="45720">
            <a:spAutoFit/>
          </a:bodyPr>
          <a:lstStyle/>
          <a:p>
            <a:r>
              <a:rPr sz="2000" b="1"/>
              <a:t>No autofit (ref)</a:t>
            </a:r>
          </a:p>
          <a:p>
            <a:r>
              <a:rPr sz="1600"/>
              <a:t>Line 2: original size</a:t>
            </a:r>
          </a:p>
          <a:p>
            <a:r>
              <a:rPr sz="1600"/>
              <a:t>Line 3: may overflow</a:t>
            </a:r>
          </a:p>
        </p:txBody>
      </p:sp>
      <p:sp>
        <p:nvSpPr>
          <p:cNvPr id="7" name="TextBox 6"/>
          <p:cNvSpPr txBox="1"/>
          <p:nvPr/>
        </p:nvSpPr>
        <p:spPr>
          <a:xfrm>
            <a:off x="457200" y="5303520"/>
            <a:ext cx="8229600" cy="914400"/>
          </a:xfrm>
          <a:prstGeom prst="rect">
            <a:avLst/>
          </a:prstGeom>
          <a:noFill/>
        </p:spPr>
        <p:txBody>
          <a:bodyPr wrap="square">
            <a:spAutoFit/>
          </a:bodyPr>
          <a:lstStyle/>
          <a:p>
            <a:pPr>
              <a:defRPr sz="1200">
                <a:solidFill>
                  <a:srgbClr val="646464"/>
                </a:solidFill>
              </a:defRPr>
            </a:pPr>
            <a:r>
              <a:t>Compare: top-left (80%) should be visibly smaller than bottom-right (no autofit). Top-right (62.5%+20%) should be smallest and tightest.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13: Text Wrapping</a:t>
            </a:r>
          </a:p>
        </p:txBody>
      </p:sp>
      <p:sp>
        <p:nvSpPr>
          <p:cNvPr id="3" name="TextBox 2"/>
          <p:cNvSpPr txBox="1"/>
          <p:nvPr/>
        </p:nvSpPr>
        <p:spPr>
          <a:xfrm>
            <a:off x="457200" y="1097280"/>
            <a:ext cx="3657600" cy="2286000"/>
          </a:xfrm>
          <a:prstGeom prst="rect">
            <a:avLst/>
          </a:prstGeom>
          <a:solidFill>
            <a:srgbClr val="E6F0FF"/>
          </a:solidFill>
        </p:spPr>
        <p:txBody>
          <a:bodyPr wrap="square">
            <a:spAutoFit/>
          </a:bodyPr>
          <a:lstStyle/>
          <a:p>
            <a:pPr>
              <a:defRPr sz="1600"/>
            </a:pPr>
            <a:r>
              <a:t>This is a long paragraph of Latin text that should automatically wrap at the shape boundary. Word-level wrapping should break at spaces.</a:t>
            </a:r>
          </a:p>
          <a:p>
            <a:pPr>
              <a:defRPr sz="1400"/>
            </a:pPr>
            <a:r>
              <a:t>Another paragraph with a very long sentence that exercises the wrapping algorithm more thoroughly, including multiple lines of content.</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600">
                <a:ea typeface="Yu Gothic"/>
              </a:rPr>
              <a:t>日本語テキストの折り返しテスト。文字単位で折り返されるべきです。漢字とひらがなが混在しています。</a:t>
            </a:r>
          </a:p>
          <a:p>
            <a:r>
              <a:rPr sz="1400">
                <a:ea typeface="Yu Gothic"/>
              </a:rPr>
              <a:t>Mixed テキスト: ABC あいう 123 日本語 English words and 漢字が混在</a:t>
            </a:r>
          </a:p>
        </p:txBody>
      </p:sp>
      <p:sp>
        <p:nvSpPr>
          <p:cNvPr id="5" name="TextBox 4"/>
          <p:cNvSpPr txBox="1"/>
          <p:nvPr/>
        </p:nvSpPr>
        <p:spPr>
          <a:xfrm>
            <a:off x="457200" y="3840480"/>
            <a:ext cx="3657600" cy="1371600"/>
          </a:xfrm>
          <a:prstGeom prst="rect">
            <a:avLst/>
          </a:prstGeom>
          <a:solidFill>
            <a:srgbClr val="FFE6E6"/>
          </a:solidFill>
        </p:spPr>
        <p:txBody>
          <a:bodyPr wrap="none">
            <a:spAutoFit/>
          </a:bodyPr>
          <a:lstStyle/>
          <a:p>
            <a:pPr>
              <a:defRPr sz="1600"/>
            </a:pPr>
            <a:r>
              <a:t>wrap=none: This text should NOT wrap even though it is long and exceeds the box width</a:t>
            </a:r>
          </a:p>
        </p:txBody>
      </p:sp>
      <p:sp>
        <p:nvSpPr>
          <p:cNvPr id="6" name="TextBox 5"/>
          <p:cNvSpPr txBox="1"/>
          <p:nvPr/>
        </p:nvSpPr>
        <p:spPr>
          <a:xfrm>
            <a:off x="4572000" y="3840480"/>
            <a:ext cx="2286000" cy="2286000"/>
          </a:xfrm>
          <a:prstGeom prst="rect">
            <a:avLst/>
          </a:prstGeom>
          <a:solidFill>
            <a:srgbClr val="E6FFE6"/>
          </a:solidFill>
        </p:spPr>
        <p:txBody>
          <a:bodyPr wrap="square">
            <a:spAutoFit/>
          </a:bodyPr>
          <a:lstStyle/>
          <a:p>
            <a:pPr>
              <a:defRPr sz="2800"/>
            </a:pPr>
            <a:r>
              <a:t>Large font in narrow box</a:t>
            </a:r>
          </a:p>
          <a:p>
            <a:pPr>
              <a:defRPr sz="2000"/>
            </a:pPr>
            <a:r>
              <a:t>Should wrap to multiple lines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200" b="1"/>
            </a:pPr>
            <a:r>
              <a:t>Slide 14: Bullet Formatting (buFont / buSzPct / buSzPts / buClr)</a:t>
            </a:r>
          </a:p>
        </p:txBody>
      </p:sp>
      <p:sp>
        <p:nvSpPr>
          <p:cNvPr id="3" name="TextBox 2"/>
          <p:cNvSpPr txBox="1"/>
          <p:nvPr/>
        </p:nvSpPr>
        <p:spPr>
          <a:xfrm>
            <a:off x="457200" y="1097280"/>
            <a:ext cx="3657600" cy="2286000"/>
          </a:xfrm>
          <a:prstGeom prst="rect">
            <a:avLst/>
          </a:prstGeom>
          <a:solidFill>
            <a:srgbClr val="F0EBFF"/>
          </a:solidFill>
        </p:spPr>
        <p:txBody>
          <a:bodyPr wrap="square">
            <a:spAutoFit/>
          </a:bodyPr>
          <a:lstStyle/>
          <a:p>
            <a:pPr marL="457200" indent="-228600">
              <a:defRPr sz="1600"/>
              <a:buFont typeface="Wingdings"/>
              <a:buChar char="l"/>
            </a:pPr>
            <a:r>
              <a:t>Wingdings bullet font</a:t>
            </a:r>
          </a:p>
          <a:p>
            <a:pPr marL="457200" indent="-228600">
              <a:defRPr sz="1600"/>
              <a:buFont typeface="Symbol"/>
              <a:buChar char="·"/>
            </a:pPr>
            <a:r>
              <a:t>Symbol bullet font</a:t>
            </a:r>
          </a:p>
          <a:p>
            <a:pPr marL="457200" indent="-228600">
              <a:defRPr sz="1600"/>
              <a:buChar char="•"/>
            </a:pPr>
            <a:r>
              <a:t>Default font bullet</a:t>
            </a:r>
          </a:p>
        </p:txBody>
      </p:sp>
      <p:sp>
        <p:nvSpPr>
          <p:cNvPr id="4" name="TextBox 3"/>
          <p:cNvSpPr txBox="1"/>
          <p:nvPr/>
        </p:nvSpPr>
        <p:spPr>
          <a:xfrm>
            <a:off x="4572000" y="1097280"/>
            <a:ext cx="4114800" cy="2286000"/>
          </a:xfrm>
          <a:prstGeom prst="rect">
            <a:avLst/>
          </a:prstGeom>
          <a:solidFill>
            <a:srgbClr val="E6FFF0"/>
          </a:solidFill>
        </p:spPr>
        <p:txBody>
          <a:bodyPr wrap="square">
            <a:spAutoFit/>
          </a:bodyPr>
          <a:lstStyle/>
          <a:p>
            <a:pPr marL="457200" indent="-228600">
              <a:defRPr sz="1600"/>
              <a:buChar char="•"/>
              <a:buSzPct val="150000"/>
            </a:pPr>
            <a:r>
              <a:t>buSzPct=150000 (150%)</a:t>
            </a:r>
          </a:p>
          <a:p>
            <a:pPr marL="457200" indent="-228600">
              <a:defRPr sz="1600"/>
              <a:buChar char="•"/>
              <a:buSzPct val="75000"/>
            </a:pPr>
            <a:r>
              <a:t>buSzPct=75000 (75%)</a:t>
            </a:r>
          </a:p>
          <a:p>
            <a:pPr marL="457200" indent="-228600">
              <a:defRPr sz="1600"/>
              <a:buChar char="•"/>
              <a:buSzPts val="3200"/>
            </a:pPr>
            <a:r>
              <a:t>buSzPts=3200 (32pt)</a:t>
            </a:r>
          </a:p>
          <a:p>
            <a:pPr marL="457200" indent="-228600">
              <a:defRPr sz="1600"/>
              <a:buChar char="•"/>
              <a:buSzPts val="800"/>
            </a:pPr>
            <a:r>
              <a:t>buSzPts=800 (8pt)</a:t>
            </a:r>
          </a:p>
        </p:txBody>
      </p:sp>
      <p:sp>
        <p:nvSpPr>
          <p:cNvPr id="5" name="TextBox 4"/>
          <p:cNvSpPr txBox="1"/>
          <p:nvPr/>
        </p:nvSpPr>
        <p:spPr>
          <a:xfrm>
            <a:off x="457200" y="3840480"/>
            <a:ext cx="3657600" cy="2286000"/>
          </a:xfrm>
          <a:prstGeom prst="rect">
            <a:avLst/>
          </a:prstGeom>
          <a:solidFill>
            <a:srgbClr val="FFF5EB"/>
          </a:solidFill>
        </p:spPr>
        <p:txBody>
          <a:bodyPr wrap="square">
            <a:spAutoFit/>
          </a:bodyPr>
          <a:lstStyle/>
          <a:p>
            <a:pPr marL="457200" indent="-228600">
              <a:defRPr sz="1600"/>
              <a:buChar char="•"/>
              <a:buClr>
                <a:srgbClr val="FF0000"/>
              </a:buClr>
            </a:pPr>
            <a:r>
              <a:t>Red bullet</a:t>
            </a:r>
          </a:p>
          <a:p>
            <a:pPr marL="457200" indent="-228600">
              <a:defRPr sz="1600"/>
              <a:buChar char="•"/>
              <a:buClr>
                <a:srgbClr val="00AA00"/>
              </a:buClr>
            </a:pPr>
            <a:r>
              <a:t>Green bullet</a:t>
            </a:r>
          </a:p>
          <a:p>
            <a:pPr marL="457200" indent="-228600">
              <a:defRPr sz="1600"/>
              <a:buChar char="•"/>
              <a:buClr>
                <a:srgbClr val="0000FF"/>
              </a:buClr>
            </a:pPr>
            <a:r>
              <a:t>Blue bullet</a:t>
            </a:r>
          </a:p>
          <a:p>
            <a:pPr marL="457200" indent="-228600">
              <a:defRPr sz="1600"/>
              <a:buChar char="•"/>
            </a:pPr>
            <a:r>
              <a:t>No bullet color (inherits)</a:t>
            </a:r>
          </a:p>
        </p:txBody>
      </p:sp>
      <p:sp>
        <p:nvSpPr>
          <p:cNvPr id="6" name="TextBox 5"/>
          <p:cNvSpPr txBox="1"/>
          <p:nvPr/>
        </p:nvSpPr>
        <p:spPr>
          <a:xfrm>
            <a:off x="4572000" y="3840480"/>
            <a:ext cx="4114800" cy="2286000"/>
          </a:xfrm>
          <a:prstGeom prst="rect">
            <a:avLst/>
          </a:prstGeom>
          <a:solidFill>
            <a:srgbClr val="F5F0FF"/>
          </a:solidFill>
        </p:spPr>
        <p:txBody>
          <a:bodyPr wrap="square">
            <a:spAutoFit/>
          </a:bodyPr>
          <a:lstStyle/>
          <a:p>
            <a:pPr marL="457200" indent="-228600">
              <a:defRPr sz="1600"/>
              <a:buFont typeface="Wingdings"/>
              <a:buSzPct val="120000"/>
              <a:buClr>
                <a:srgbClr val="FF0000"/>
              </a:buClr>
              <a:buChar char="l"/>
            </a:pPr>
            <a:r>
              <a:t>Combined: Wingdings + 120% + red</a:t>
            </a:r>
          </a:p>
          <a:p>
            <a:pPr marL="457200" indent="-228600">
              <a:defRPr sz="1600"/>
              <a:buChar char="•"/>
            </a:pPr>
            <a:r>
              <a:t>Normal bullet for comparison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15: Capitalization (a:rPr cap)</a:t>
            </a:r>
          </a:p>
        </p:txBody>
      </p:sp>
      <p:sp>
        <p:nvSpPr>
          <p:cNvPr id="3" name="TextBox 2"/>
          <p:cNvSpPr txBox="1"/>
          <p:nvPr/>
        </p:nvSpPr>
        <p:spPr>
          <a:xfrm>
            <a:off x="457200" y="1097280"/>
            <a:ext cx="3657600" cy="2286000"/>
          </a:xfrm>
          <a:prstGeom prst="rect">
            <a:avLst/>
          </a:prstGeom>
          <a:solidFill>
            <a:srgbClr val="E6F5FF"/>
          </a:solidFill>
        </p:spPr>
        <p:txBody>
          <a:bodyPr wrap="square">
            <a:spAutoFit/>
          </a:bodyPr>
          <a:lstStyle/>
          <a:p>
            <a:r>
              <a:rPr sz="1800" cap="all"/>
              <a:t>cap=all: This Should Be All Caps</a:t>
            </a:r>
          </a:p>
          <a:p>
            <a:r>
              <a:rPr sz="1600"/>
              <a:t>Mixed: </a:t>
            </a:r>
            <a:r>
              <a:rPr sz="1600" cap="all"/>
              <a:t>all caps part</a:t>
            </a:r>
            <a:r>
              <a:rPr sz="1600"/>
              <a:t> and normal part</a:t>
            </a:r>
          </a:p>
          <a:p>
            <a:r>
              <a:rPr sz="1600"/>
              <a:t>No cap: Regular text for comparison</a:t>
            </a:r>
          </a:p>
        </p:txBody>
      </p:sp>
      <p:sp>
        <p:nvSpPr>
          <p:cNvPr id="4" name="TextBox 3"/>
          <p:cNvSpPr txBox="1"/>
          <p:nvPr/>
        </p:nvSpPr>
        <p:spPr>
          <a:xfrm>
            <a:off x="4572000" y="1097280"/>
            <a:ext cx="4114800" cy="2286000"/>
          </a:xfrm>
          <a:prstGeom prst="rect">
            <a:avLst/>
          </a:prstGeom>
          <a:solidFill>
            <a:srgbClr val="FFF5E6"/>
          </a:solidFill>
        </p:spPr>
        <p:txBody>
          <a:bodyPr wrap="square">
            <a:spAutoFit/>
          </a:bodyPr>
          <a:lstStyle/>
          <a:p>
            <a:r>
              <a:rPr sz="1800" cap="small"/>
              <a:t>cap=small: Small Caps Text</a:t>
            </a:r>
          </a:p>
          <a:p>
            <a:r>
              <a:rPr sz="1600"/>
              <a:t>No cap: Regular text</a:t>
            </a:r>
          </a:p>
          <a:p>
            <a:r>
              <a:rPr sz="1800" b="1" cap="small"/>
              <a:t>Bold Small Caps</a:t>
            </a:r>
          </a:p>
        </p:txBody>
      </p:sp>
      <p:sp>
        <p:nvSpPr>
          <p:cNvPr id="5" name="TextBox 4"/>
          <p:cNvSpPr txBox="1"/>
          <p:nvPr/>
        </p:nvSpPr>
        <p:spPr>
          <a:xfrm>
            <a:off x="457200" y="4114800"/>
            <a:ext cx="8229600" cy="1828800"/>
          </a:xfrm>
          <a:prstGeom prst="rect">
            <a:avLst/>
          </a:prstGeom>
          <a:noFill/>
        </p:spPr>
        <p:txBody>
          <a:bodyPr wrap="square">
            <a:spAutoFit/>
          </a:bodyPr>
          <a:lstStyle/>
          <a:p>
            <a:pPr>
              <a:defRPr sz="1200">
                <a:solidFill>
                  <a:srgbClr val="646464"/>
                </a:solidFill>
              </a:defRPr>
            </a:pPr>
            <a:r>
              <a:t>cap=all: lowercase a-z should display as UPPERCASE A-Z. cap=small: should display with SVG font-variant=small-caps.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bg>
    <p:bgPr>
      <a:solidFill>
        <a:srgbClr val="1A1A2E"/>
      </a:solidFill>
    </p:bgPr>
  </p:bg>
  <p:cSld>
    <p:spTree>
      <p:nvGrpSpPr>
        <p:cNvPr id="1" name=""/>
        <p:cNvGrpSpPr/>
        <p:nvPr/>
      </p:nvGrpSpPr>
      <p:grpSpPr/>
      <p:sp>
        <p:nvSpPr>
          <p:cNvPr id="2" name="Title 1"/>
          <p:cNvSpPr>
            <a:spLocks noGrp="1"/>
          </p:cNvSpPr>
          <p:nvPr>
            <p:ph type="ctrTitle"/>
          </p:nvPr>
        </p:nvSpPr>
        <p:spPr/>
        <p:txBody>
          <a:bodyPr/>
          <a:lstStyle/>
          <a:p/>
        </p:txBody>
      </p:sp>
      <p:sp>
        <p:nvSpPr>
          <p:cNvPr id="3" name="Subtitle 2"/>
          <p:cNvSpPr>
            <a:spLocks noGrp="1"/>
          </p:cNvSpPr>
          <p:nvPr>
            <p:ph type="subTitle" idx="1"/>
          </p:nvPr>
        </p:nvSpPr>
        <p:spPr/>
        <p:txBody>
          <a:bodyPr/>
          <a:lstStyle/>
          <a:p/>
        </p:txBody>
      </p:sp>
      <p:sp>
        <p:nvSpPr>
          <p:cNvPr id="4" name="TextBox 3"/>
          <p:cNvSpPr txBox="1"/>
          <p:nvPr/>
        </p:nvSpPr>
        <p:spPr>
          <a:xfrm>
            <a:off x="457200" y="457200"/>
            <a:ext cx="8229600" cy="1371600"/>
          </a:xfrm>
          <a:prstGeom prst="rect">
            <a:avLst/>
          </a:prstGeom>
          <a:noFill/>
        </p:spPr>
        <p:txBody>
          <a:bodyPr wrap="square">
            <a:spAutoFit/>
          </a:bodyPr>
          <a:lstStyle/>
          <a:p>
            <a:pPr>
              <a:defRPr sz="2800" b="1"/>
            </a:pPr>
            <a:r>
              <a:rPr>
                <a:solidFill>
                  <a:schemeClr val="tx1"/>
                </a:solidFill>
              </a:rPr>
              <a:t>Color Map Override: bg1=dk1, tx1=lt1</a:t>
            </a:r>
          </a:p>
        </p:txBody>
      </p:sp>
      <p:sp>
        <p:nvSpPr>
          <p:cNvPr id="5" name="TextBox 4"/>
          <p:cNvSpPr txBox="1"/>
          <p:nvPr/>
        </p:nvSpPr>
        <p:spPr>
          <a:xfrm>
            <a:off x="457200" y="2286000"/>
            <a:ext cx="8229600" cy="1828800"/>
          </a:xfrm>
          <a:prstGeom prst="rect">
            <a:avLst/>
          </a:prstGeom>
          <a:noFill/>
        </p:spPr>
        <p:txBody>
          <a:bodyPr wrap="square">
            <a:spAutoFit/>
          </a:bodyPr>
          <a:lstStyle/>
          <a:p>
            <a:pPr>
              <a:defRPr sz="1600"/>
            </a:pPr>
            <a:r>
              <a:rPr>
                <a:solidFill>
                  <a:schemeClr val="tx1"/>
                </a:solidFill>
              </a:rPr>
              <a:t>This slide has clrMapOvr swapping bg1/tx1. Text using scheme color tx1 should appear light (white) because tx1 maps to lt1.</a:t>
            </a:r>
          </a:p>
        </p:txBody>
      </p:sp>
    </p:spTree>
  </p:cSld>
  <p:clrMapOvr>
    <a:overrideClrMapping bg1="dk1" tx1="lt1" bg2="lt2" tx2="dk2" accent1="accent1" accent2="accent2" accent3="accent3" accent4="accent4" accent5="accent5" accent6="accent6" hlink="hlink" folHlink="folHlink"/>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371600"/>
          </a:xfrm>
          <a:prstGeom prst="rect">
            <a:avLst/>
          </a:prstGeom>
          <a:noFill/>
        </p:spPr>
        <p:txBody>
          <a:bodyPr wrap="square">
            <a:spAutoFit/>
          </a:bodyPr>
          <a:lstStyle/>
          <a:p>
            <a:pPr>
              <a:defRPr sz="2400" b="1"/>
            </a:pPr>
            <a:r>
              <a:rPr>
                <a:cs typeface="Arial"/>
              </a:rPr>
              <a:t>Complex Script Font (Arabic style)</a:t>
            </a:r>
          </a:p>
        </p:txBody>
      </p:sp>
      <p:sp>
        <p:nvSpPr>
          <p:cNvPr id="3" name="TextBox 2"/>
          <p:cNvSpPr txBox="1"/>
          <p:nvPr/>
        </p:nvSpPr>
        <p:spPr>
          <a:xfrm>
            <a:off x="457200" y="2286000"/>
            <a:ext cx="8229600" cy="1371600"/>
          </a:xfrm>
          <a:prstGeom prst="rect">
            <a:avLst/>
          </a:prstGeom>
          <a:noFill/>
        </p:spPr>
        <p:txBody>
          <a:bodyPr wrap="none">
            <a:spAutoFit/>
          </a:bodyPr>
          <a:lstStyle/>
          <a:p>
            <a:pPr>
              <a:defRPr sz="2400"/>
            </a:pPr>
            <a:r>
              <a:rPr>
                <a:sym typeface="Wingdings"/>
              </a:rPr>
              <a:t>Symbol Font Text</a:t>
            </a:r>
          </a:p>
        </p:txBody>
      </p:sp>
      <p:sp>
        <p:nvSpPr>
          <p:cNvPr id="4" name="TextBox 3"/>
          <p:cNvSpPr txBox="1"/>
          <p:nvPr/>
        </p:nvSpPr>
        <p:spPr>
          <a:xfrm>
            <a:off x="457200" y="4114800"/>
            <a:ext cx="8229600" cy="1371600"/>
          </a:xfrm>
          <a:prstGeom prst="rect">
            <a:avLst/>
          </a:prstGeom>
          <a:noFill/>
        </p:spPr>
        <p:txBody>
          <a:bodyPr wrap="none">
            <a:spAutoFit/>
          </a:bodyPr>
          <a:lstStyle/>
          <a:p>
            <a:pPr>
              <a:defRPr sz="2400"/>
            </a:pPr>
            <a:r>
              <a:rPr kern="1200"/>
              <a:t>Kerning enabled at 1200 hundredths-pt</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3657600" cy="1828800"/>
          </a:xfrm>
          <a:prstGeom prst="rect">
            <a:avLst/>
          </a:prstGeom>
          <a:noFill/>
        </p:spPr>
        <p:txBody>
          <a:bodyPr wrap="none" rot="2700000">
            <a:spAutoFit/>
          </a:bodyPr>
          <a:lstStyle/>
          <a:p>
            <a:pPr>
              <a:defRPr sz="2000"/>
            </a:pPr>
            <a:r>
              <a:t>Rotated text (45 degrees)</a:t>
            </a:r>
          </a:p>
        </p:txBody>
      </p:sp>
      <p:sp>
        <p:nvSpPr>
          <p:cNvPr id="3" name="TextBox 2"/>
          <p:cNvSpPr txBox="1"/>
          <p:nvPr/>
        </p:nvSpPr>
        <p:spPr>
          <a:xfrm>
            <a:off x="457200" y="2743200"/>
            <a:ext cx="8229600" cy="2743200"/>
          </a:xfrm>
          <a:prstGeom prst="rect">
            <a:avLst/>
          </a:prstGeom>
          <a:noFill/>
        </p:spPr>
        <p:txBody>
          <a:bodyPr wrap="square">
            <a:spAutoFit/>
          </a:bodyPr>
          <a:lstStyle/>
          <a:p>
            <a:pPr>
              <a:defRPr sz="1800"/>
              <a:tabLst>
                <a:tab pos="2743200" algn="l"/>
                <a:tab pos="5486400" algn="r"/>
              </a:tabLst>
            </a:pPr>
            <a:r>
              <a:t>Col1	Col2	Col3</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1828800" cy="4572000"/>
          </a:xfrm>
          <a:prstGeom prst="rect">
            <a:avLst/>
          </a:prstGeom>
          <a:noFill/>
        </p:spPr>
        <p:txBody>
          <a:bodyPr wrap="none" vert="vert">
            <a:spAutoFit/>
          </a:bodyPr>
          <a:lstStyle/>
          <a:p>
            <a:pPr>
              <a:defRPr sz="2000"/>
            </a:pPr>
            <a:r>
              <a:t>Vertical text</a:t>
            </a:r>
          </a:p>
        </p:txBody>
      </p:sp>
      <p:sp>
        <p:nvSpPr>
          <p:cNvPr id="3" name="TextBox 2"/>
          <p:cNvSpPr txBox="1"/>
          <p:nvPr/>
        </p:nvSpPr>
        <p:spPr>
          <a:xfrm>
            <a:off x="2743200" y="457200"/>
            <a:ext cx="1828800" cy="4572000"/>
          </a:xfrm>
          <a:prstGeom prst="rect">
            <a:avLst/>
          </a:prstGeom>
          <a:noFill/>
        </p:spPr>
        <p:txBody>
          <a:bodyPr wrap="none" vert="eaVert">
            <a:spAutoFit/>
          </a:bodyPr>
          <a:lstStyle/>
          <a:p>
            <a:pPr>
              <a:defRPr sz="2000"/>
            </a:pPr>
            <a:r>
              <a:t>EA Vertical</a:t>
            </a:r>
          </a:p>
        </p:txBody>
      </p:sp>
      <p:sp>
        <p:nvSpPr>
          <p:cNvPr id="4" name="TextBox 3"/>
          <p:cNvSpPr txBox="1"/>
          <p:nvPr/>
        </p:nvSpPr>
        <p:spPr>
          <a:xfrm>
            <a:off x="5029200" y="457200"/>
            <a:ext cx="3657600" cy="4572000"/>
          </a:xfrm>
          <a:prstGeom prst="rect">
            <a:avLst/>
          </a:prstGeom>
          <a:noFill/>
        </p:spPr>
        <p:txBody>
          <a:bodyPr wrap="square" numCol="2" spcCol="457200">
            <a:spAutoFit/>
          </a:bodyPr>
          <a:lstStyle/>
          <a:p>
            <a:pPr>
              <a:defRPr sz="1400"/>
            </a:pPr>
            <a:r>
              <a:t>This is column text that spans multiple columns. The text should flow from the first column to the second column when it reaches the bottom.</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1828800"/>
          </a:xfrm>
          <a:prstGeom prst="rect">
            <a:avLst/>
          </a:prstGeom>
          <a:noFill/>
        </p:spPr>
        <p:txBody>
          <a:bodyPr wrap="square">
            <a:spAutoFit/>
          </a:bodyPr>
          <a:lstStyle/>
          <a:p>
            <a:r>
              <a:rPr sz="2000" u="sng">
                <a:solidFill>
                  <a:srgbClr val="0066CC"/>
                </a:solidFill>
                <a:hlinkClick r:id="rId2"/>
              </a:rPr>
              <a:t>Click here to visit example.com</a:t>
            </a:r>
          </a:p>
        </p:txBody>
      </p:sp>
      <p:sp>
        <p:nvSpPr>
          <p:cNvPr id="3" name="TextBox 2"/>
          <p:cNvSpPr txBox="1"/>
          <p:nvPr/>
        </p:nvSpPr>
        <p:spPr>
          <a:xfrm>
            <a:off x="457200" y="2743200"/>
            <a:ext cx="8229600" cy="1828800"/>
          </a:xfrm>
          <a:prstGeom prst="rect">
            <a:avLst/>
          </a:prstGeom>
          <a:noFill/>
        </p:spPr>
        <p:txBody>
          <a:bodyPr wrap="square">
            <a:spAutoFit/>
          </a:bodyPr>
          <a:lstStyle/>
          <a:p>
            <a:pPr rtl="1">
              <a:defRPr sz="2000"/>
            </a:pPr>
            <a:r>
              <a:t>RTL paragraph text (right-to-left)</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pPr>
              <a:defRPr sz="2000"/>
              <a:buBlip>
                <a:blip r:embed="rId2"/>
              </a:buBlip>
            </a:pPr>
            <a:r>
              <a:t>Image bullet paragraph 1</a:t>
            </a:r>
          </a:p>
          <a:p>
            <a:pPr>
              <a:buBlip>
                <a:blip r:embed="rId2"/>
              </a:buBlip>
            </a:pPr>
            <a:r>
              <a:rPr lang="en-US" sz="2000"/>
              <a:t>Image bullet paragraph 2</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457200"/>
            <a:ext cx="8229600" cy="4572000"/>
          </a:xfrm>
          <a:prstGeom prst="rect">
            <a:avLst/>
          </a:prstGeom>
          <a:noFill/>
        </p:spPr>
        <p:txBody>
          <a:bodyPr wrap="square">
            <a:spAutoFit/>
          </a:bodyPr>
          <a:lstStyle/>
          <a:p>
            <a:r>
              <a:rPr sz="2400">
                <a:hlinkClick r:id="rId2"/>
              </a:rPr>
              <a:t>Click link</a:t>
            </a:r>
          </a:p>
          <a:p>
            <a:r>
              <a:rPr sz="2400">
                <a:hlinkHover r:id="rId3"/>
              </a:rPr>
              <a:t>Hover link</a:t>
            </a:r>
          </a:p>
          <a:p>
            <a:r>
              <a:rPr sz="2400">
                <a:hlinkClick r:id="rId4"/>
                <a:hlinkHover r:id="rId5"/>
              </a:rPr>
              <a:t>Both links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gradFill rotWithShape="1">
            <a:gsLst>
              <a:gs pos="0">
                <a:srgbClr val="FF0000"/>
              </a:gs>
              <a:gs pos="50000">
                <a:srgbClr val="FFFF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0deg</a:t>
            </a:r>
          </a:p>
        </p:txBody>
      </p:sp>
      <p:sp>
        <p:nvSpPr>
          <p:cNvPr id="3" name="Rectangle 2"/>
          <p:cNvSpPr/>
          <p:nvPr/>
        </p:nvSpPr>
        <p:spPr>
          <a:xfrm>
            <a:off x="3657600" y="457200"/>
            <a:ext cx="2743200" cy="1828800"/>
          </a:xfrm>
          <a:prstGeom prst="rect">
            <a:avLst/>
          </a:prstGeom>
          <a:gradFill rotWithShape="1">
            <a:gsLst>
              <a:gs pos="0">
                <a:srgbClr val="003366"/>
              </a:gs>
              <a:gs pos="100000">
                <a:srgbClr val="66CC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Linear 90deg</a:t>
            </a:r>
          </a:p>
        </p:txBody>
      </p:sp>
      <p:sp>
        <p:nvSpPr>
          <p:cNvPr id="4" name="Rectangle 3"/>
          <p:cNvSpPr/>
          <p:nvPr/>
        </p:nvSpPr>
        <p:spPr>
          <a:xfrm>
            <a:off x="6858000" y="457200"/>
            <a:ext cx="1828800" cy="1828800"/>
          </a:xfrm>
          <a:prstGeom prst="rect">
            <a:avLst/>
          </a:prstGeom>
          <a:gradFill rotWithShape="0">
            <a:gsLst>
              <a:gs pos="0">
                <a:srgbClr val="00FF00"/>
              </a:gs>
              <a:gs pos="100000">
                <a:srgbClr val="006600"/>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Linear 45deg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2286000"/>
          </a:xfrm>
          <a:prstGeom prst="rect">
            <a:avLst/>
          </a:prstGeom>
          <a:gradFill rotWithShape="1">
            <a:gsLst>
              <a:gs pos="0">
                <a:srgbClr val="FFFFFF"/>
              </a:gs>
              <a:gs pos="100000">
                <a:srgbClr val="FF6600"/>
              </a:gs>
            </a:gsLst>
            <a:path path="circle">
              <a:fillToRect l="50000" t="50000" r="50000" b="50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Radial circle</a:t>
            </a:r>
          </a:p>
        </p:txBody>
      </p:sp>
      <p:sp>
        <p:nvSpPr>
          <p:cNvPr id="3" name="Rectangle 2"/>
          <p:cNvSpPr/>
          <p:nvPr/>
        </p:nvSpPr>
        <p:spPr>
          <a:xfrm>
            <a:off x="3657600" y="457200"/>
            <a:ext cx="2743200" cy="2286000"/>
          </a:xfrm>
          <a:prstGeom prst="rect">
            <a:avLst/>
          </a:prstGeom>
          <a:gradFill rotWithShape="1">
            <a:gsLst>
              <a:gs pos="0">
                <a:srgbClr val="FFFF00"/>
              </a:gs>
              <a:gs pos="50000">
                <a:srgbClr val="FF0000"/>
              </a:gs>
              <a:gs pos="100000">
                <a:srgbClr val="660000"/>
              </a:gs>
            </a:gsLst>
            <a:path path="rect">
              <a:fillToRect l="25000" t="25000" r="75000" b="75000"/>
            </a:path>
          </a:gra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Radial rect</a:t>
            </a:r>
          </a:p>
        </p:txBody>
      </p:sp>
      <p:sp>
        <p:nvSpPr>
          <p:cNvPr id="4" name="Oval 3"/>
          <p:cNvSpPr/>
          <p:nvPr/>
        </p:nvSpPr>
        <p:spPr>
          <a:xfrm>
            <a:off x="6858000" y="457200"/>
            <a:ext cx="1828800" cy="2286000"/>
          </a:xfrm>
          <a:prstGeom prst="ellipse">
            <a:avLst/>
          </a:prstGeom>
          <a:gradFill>
            <a:gsLst>
              <a:gs pos="0">
                <a:srgbClr val="9933FF"/>
              </a:gs>
              <a:gs pos="100000">
                <a:srgbClr val="330066"/>
              </a:gs>
            </a:gsLst>
            <a:lin ang="162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solidFill>
                  <a:srgbClr val="FFFFFF"/>
                </a:solidFill>
              </a:defRPr>
            </a:pPr>
            <a:r>
              <a:t>Ellipse grad</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gradFill>
          <a:gsLst>
            <a:gs pos="0">
              <a:srgbClr val="1B2838"/>
            </a:gs>
            <a:gs pos="50000">
              <a:srgbClr val="2A475E"/>
            </a:gs>
            <a:gs pos="100000">
              <a:srgbClr val="66C0F4"/>
            </a:gs>
          </a:gsLst>
          <a:lin ang="5400000" scaled="0"/>
        </a:gradFill>
        <a:effectLst/>
      </p:bgPr>
    </p:bg>
    <p:spTree>
      <p:nvGrpSpPr>
        <p:cNvPr id="1" name=""/>
        <p:cNvGrpSpPr/>
        <p:nvPr/>
      </p:nvGrpSpPr>
      <p:grpSpPr/>
      <p:sp>
        <p:nvSpPr>
          <p:cNvPr id="2" name="TextBox 1"/>
          <p:cNvSpPr txBox="1"/>
          <p:nvPr/>
        </p:nvSpPr>
        <p:spPr>
          <a:xfrm>
            <a:off x="914400" y="1828800"/>
            <a:ext cx="7315200" cy="2743200"/>
          </a:xfrm>
          <a:prstGeom prst="rect">
            <a:avLst/>
          </a:prstGeom>
          <a:noFill/>
        </p:spPr>
        <p:txBody>
          <a:bodyPr wrap="none">
            <a:spAutoFit/>
          </a:bodyPr>
          <a:lstStyle/>
          <a:p>
            <a:pPr algn="ctr">
              <a:defRPr sz="3600">
                <a:solidFill>
                  <a:srgbClr val="FFFFFF"/>
                </a:solidFill>
              </a:defRPr>
            </a:pPr>
            <a:r>
              <a:t>Gradient Background</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743200" cy="1828800"/>
          </a:xfrm>
          <a:prstGeom prst="rect">
            <a:avLst/>
          </a:prstGeom>
          <a:solidFill>
            <a:srgbClr val="FF0000">
              <a:alpha val="50000"/>
            </a:srgbClr>
          </a:solidFill>
        </p:spPr>
        <p:style>
          <a:lnRef idx="1">
            <a:schemeClr val="accent1"/>
          </a:lnRef>
          <a:fillRef idx="3">
            <a:schemeClr val="accent1"/>
          </a:fillRef>
          <a:effectRef idx="2">
            <a:schemeClr val="accent1"/>
          </a:effectRef>
          <a:fontRef idx="minor">
            <a:schemeClr val="lt1"/>
          </a:fontRef>
        </p:style>
        <p:txBody>
          <a:bodyPr rtlCol="0" anchor="ctr"/>
          <a:lstStyle/>
          <a:p>
            <a:pPr>
              <a:defRPr sz="1800"/>
            </a:pPr>
            <a:r>
              <a:t>Alpha 50%</a:t>
            </a:r>
          </a:p>
        </p:txBody>
      </p:sp>
      <p:sp>
        <p:nvSpPr>
          <p:cNvPr id="3" name="Rectangle 2"/>
          <p:cNvSpPr/>
          <p:nvPr/>
        </p:nvSpPr>
        <p:spPr>
          <a:xfrm>
            <a:off x="3657600" y="457200"/>
            <a:ext cx="2743200" cy="1828800"/>
          </a:xfrm>
          <a:prstGeom prst="rect">
            <a:avLst/>
          </a:prstGeom>
          <a:gradFill rotWithShape="1">
            <a:gsLst>
              <a:gs pos="0">
                <a:srgbClr val="0000FF">
                  <a:alpha val="80000"/>
                </a:srgbClr>
              </a:gs>
              <a:gs pos="100000">
                <a:srgbClr val="0000FF">
                  <a:alpha val="20000"/>
                </a:srgbClr>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800">
                <a:solidFill>
                  <a:srgbClr val="FFFFFF"/>
                </a:solidFill>
              </a:defRPr>
            </a:pPr>
            <a:r>
              <a:t>Alpha Gradient</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914400" y="914400"/>
            <a:ext cx="3657600" cy="2743200"/>
          </a:xfrm>
          <a:prstGeom prst="rect">
            <a:avLst/>
          </a:prstGeom>
          <a:blipFill>
            <a:blip r:embed="rId2"/>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ltDnDiag">
            <a:fgClr>
              <a:srgbClr val="000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ltDnDiag</a:t>
            </a:r>
          </a:p>
        </p:txBody>
      </p:sp>
      <p:sp>
        <p:nvSpPr>
          <p:cNvPr id="3" name="Rectangle 2"/>
          <p:cNvSpPr/>
          <p:nvPr/>
        </p:nvSpPr>
        <p:spPr>
          <a:xfrm>
            <a:off x="3200400" y="457200"/>
            <a:ext cx="2286000" cy="1828800"/>
          </a:xfrm>
          <a:prstGeom prst="rect">
            <a:avLst/>
          </a:prstGeom>
          <a:pattFill prst="smCheck">
            <a:fgClr>
              <a:srgbClr val="FF0000"/>
            </a:fgClr>
            <a:bgClr>
              <a:srgbClr val="FFFF00"/>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smCheck</a:t>
            </a:r>
          </a:p>
        </p:txBody>
      </p:sp>
      <p:sp>
        <p:nvSpPr>
          <p:cNvPr id="4" name="Rectangle 3"/>
          <p:cNvSpPr/>
          <p:nvPr/>
        </p:nvSpPr>
        <p:spPr>
          <a:xfrm>
            <a:off x="5943600" y="457200"/>
            <a:ext cx="2286000" cy="1828800"/>
          </a:xfrm>
          <a:prstGeom prst="rect">
            <a:avLst/>
          </a:prstGeom>
          <a:pattFill prst="dkHorz">
            <a:fgClr>
              <a:srgbClr val="003366"/>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dkHorz</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gradFill rotWithShape="1" tileFlip="x">
            <a:gsLst>
              <a:gs pos="0">
                <a:srgbClr val="FF0000"/>
              </a:gs>
              <a:gs pos="100000">
                <a:srgbClr val="0000FF"/>
              </a:gs>
            </a:gsLst>
            <a:lin ang="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a:t>
            </a:r>
          </a:p>
        </p:txBody>
      </p:sp>
      <p:sp>
        <p:nvSpPr>
          <p:cNvPr id="3" name="Rectangle 2"/>
          <p:cNvSpPr/>
          <p:nvPr/>
        </p:nvSpPr>
        <p:spPr>
          <a:xfrm>
            <a:off x="3200400" y="457200"/>
            <a:ext cx="2286000" cy="1828800"/>
          </a:xfrm>
          <a:prstGeom prst="rect">
            <a:avLst/>
          </a:prstGeom>
          <a:gradFill rotWithShape="1" tileFlip="y">
            <a:gsLst>
              <a:gs pos="0">
                <a:srgbClr val="00FF00"/>
              </a:gs>
              <a:gs pos="100000">
                <a:srgbClr val="FF00FF"/>
              </a:gs>
            </a:gsLst>
            <a:lin ang="54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tileFlip=y</a:t>
            </a:r>
          </a:p>
        </p:txBody>
      </p:sp>
      <p:sp>
        <p:nvSpPr>
          <p:cNvPr id="4" name="Rectangle 3"/>
          <p:cNvSpPr/>
          <p:nvPr/>
        </p:nvSpPr>
        <p:spPr>
          <a:xfrm>
            <a:off x="5943600" y="457200"/>
            <a:ext cx="2286000" cy="1828800"/>
          </a:xfrm>
          <a:prstGeom prst="rect">
            <a:avLst/>
          </a:prstGeom>
          <a:gradFill rotWithShape="1" tileFlip="xy">
            <a:gsLst>
              <a:gs pos="0">
                <a:srgbClr val="FFFF00"/>
              </a:gs>
              <a:gs pos="50000">
                <a:srgbClr val="FF6600"/>
              </a:gs>
              <a:gs pos="100000">
                <a:srgbClr val="0066FF"/>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tileFlip=xy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2286000" cy="1828800"/>
          </a:xfrm>
          <a:prstGeom prst="rect">
            <a:avLst/>
          </a:prstGeom>
          <a:pattFill prst="pct50">
            <a:fgClr>
              <a:srgbClr val="333333"/>
            </a:fgClr>
            <a:bgClr>
              <a:srgbClr val="CCCC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pct50</a:t>
            </a:r>
          </a:p>
        </p:txBody>
      </p:sp>
      <p:sp>
        <p:nvSpPr>
          <p:cNvPr id="3" name="Rectangle 2"/>
          <p:cNvSpPr/>
          <p:nvPr/>
        </p:nvSpPr>
        <p:spPr>
          <a:xfrm>
            <a:off x="3200400" y="457200"/>
            <a:ext cx="2286000" cy="1828800"/>
          </a:xfrm>
          <a:prstGeom prst="rect">
            <a:avLst/>
          </a:prstGeom>
          <a:pattFill prst="dnDiag">
            <a:fgClr>
              <a:srgbClr val="00008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dnDiag</a:t>
            </a:r>
          </a:p>
        </p:txBody>
      </p:sp>
      <p:sp>
        <p:nvSpPr>
          <p:cNvPr id="4" name="Rectangle 3"/>
          <p:cNvSpPr/>
          <p:nvPr/>
        </p:nvSpPr>
        <p:spPr>
          <a:xfrm>
            <a:off x="5943600" y="457200"/>
            <a:ext cx="2286000" cy="1828800"/>
          </a:xfrm>
          <a:prstGeom prst="rect">
            <a:avLst/>
          </a:prstGeom>
          <a:pattFill prst="cross">
            <a:fgClr>
              <a:srgbClr val="FF0000"/>
            </a:fgClr>
            <a:bgClr>
              <a:srgbClr val="FFFFCC"/>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cross</a:t>
            </a:r>
          </a:p>
        </p:txBody>
      </p:sp>
      <p:sp>
        <p:nvSpPr>
          <p:cNvPr id="5" name="Rectangle 4"/>
          <p:cNvSpPr/>
          <p:nvPr/>
        </p:nvSpPr>
        <p:spPr>
          <a:xfrm>
            <a:off x="457200" y="2743200"/>
            <a:ext cx="2286000" cy="1828800"/>
          </a:xfrm>
          <a:prstGeom prst="rect">
            <a:avLst/>
          </a:prstGeom>
          <a:pattFill prst="lgCheck">
            <a:fgClr>
              <a:srgbClr val="008000"/>
            </a:fgClr>
            <a:bgClr>
              <a:srgbClr val="FF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lgCheck</a:t>
            </a:r>
          </a:p>
        </p:txBody>
      </p:sp>
      <p:sp>
        <p:nvSpPr>
          <p:cNvPr id="6" name="Rectangle 5"/>
          <p:cNvSpPr/>
          <p:nvPr/>
        </p:nvSpPr>
        <p:spPr>
          <a:xfrm>
            <a:off x="3200400" y="2743200"/>
            <a:ext cx="2286000" cy="1828800"/>
          </a:xfrm>
          <a:prstGeom prst="rect">
            <a:avLst/>
          </a:prstGeom>
          <a:pattFill prst="solidDmnd">
            <a:fgClr>
              <a:srgbClr val="800080"/>
            </a:fgClr>
            <a:bgClr>
              <a:srgbClr val="FFE0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solidDmnd</a:t>
            </a:r>
          </a:p>
        </p:txBody>
      </p:sp>
      <p:sp>
        <p:nvSpPr>
          <p:cNvPr id="7" name="Rectangle 6"/>
          <p:cNvSpPr/>
          <p:nvPr/>
        </p:nvSpPr>
        <p:spPr>
          <a:xfrm>
            <a:off x="5943600" y="2743200"/>
            <a:ext cx="2286000" cy="1828800"/>
          </a:xfrm>
          <a:prstGeom prst="rect">
            <a:avLst/>
          </a:prstGeom>
          <a:pattFill prst="trellis">
            <a:fgClr>
              <a:srgbClr val="004040"/>
            </a:fgClr>
            <a:bgClr>
              <a:srgbClr val="E0FFFF"/>
            </a:bgClr>
          </a:patt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trellis</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57200"/>
            <a:ext cx="3657600" cy="2743200"/>
          </a:xfrm>
          <a:prstGeom prst="rect">
            <a:avLst/>
          </a:prstGeom>
          <a:blipFill>
            <a:blip r:embed="rId2"/>
            <a:tile tx="0" ty="0" sx="50000" sy="50000" flip="xy" algn="tl"/>
          </a:blipFill>
        </p:spPr>
        <p:style>
          <a:lnRef idx="1">
            <a:schemeClr val="accent1"/>
          </a:lnRef>
          <a:fillRef idx="3">
            <a:schemeClr val="accent1"/>
          </a:fillRef>
          <a:effectRef idx="2">
            <a:schemeClr val="accent1"/>
          </a:effectRef>
          <a:fontRef idx="minor">
            <a:schemeClr val="lt1"/>
          </a:fontRef>
        </p:style>
        <p:txBody>
          <a:bodyPr rtlCol="0" anchor="ctr"/>
          <a:lstStyle/>
          <a:p>
            <a:pPr>
              <a:defRPr sz="1400"/>
            </a:pPr>
            <a:r>
              <a:t>Tile fill</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32: Line Stroke Styles</a:t>
            </a:r>
          </a:p>
        </p:txBody>
      </p:sp>
      <p:sp>
        <p:nvSpPr>
          <p:cNvPr id="3" name="Rectangle 2"/>
          <p:cNvSpPr/>
          <p:nvPr/>
        </p:nvSpPr>
        <p:spPr>
          <a:xfrm>
            <a:off x="914400" y="914400"/>
            <a:ext cx="7315200" cy="0"/>
          </a:xfrm>
          <a:prstGeom prst="line">
            <a:avLst/>
          </a:prstGeom>
          <a:noFill/>
          <a:ln w="25400">
            <a:solidFill>
              <a:srgbClr val="0000FF"/>
            </a:solidFill>
            <a:prstDash val="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2880" y="685800"/>
            <a:ext cx="731520" cy="274320"/>
          </a:xfrm>
          <a:prstGeom prst="rect">
            <a:avLst/>
          </a:prstGeom>
          <a:noFill/>
        </p:spPr>
        <p:txBody>
          <a:bodyPr wrap="none">
            <a:spAutoFit/>
          </a:bodyPr>
          <a:lstStyle/>
          <a:p>
            <a:pPr>
              <a:defRPr sz="900">
                <a:solidFill>
                  <a:srgbClr val="FFFFFF"/>
                </a:solidFill>
              </a:defRPr>
            </a:pPr>
            <a:r>
              <a:t>dash</a:t>
            </a:r>
          </a:p>
        </p:txBody>
      </p:sp>
      <p:sp>
        <p:nvSpPr>
          <p:cNvPr id="5" name="Rectangle 4"/>
          <p:cNvSpPr/>
          <p:nvPr/>
        </p:nvSpPr>
        <p:spPr>
          <a:xfrm>
            <a:off x="914400" y="1737360"/>
            <a:ext cx="7315200" cy="0"/>
          </a:xfrm>
          <a:prstGeom prst="line">
            <a:avLst/>
          </a:prstGeom>
          <a:noFill/>
          <a:ln w="25400">
            <a:solidFill>
              <a:srgbClr val="0066CC"/>
            </a:solidFill>
            <a:prstDash val="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82880" y="1508760"/>
            <a:ext cx="731520" cy="274320"/>
          </a:xfrm>
          <a:prstGeom prst="rect">
            <a:avLst/>
          </a:prstGeom>
          <a:noFill/>
        </p:spPr>
        <p:txBody>
          <a:bodyPr wrap="none">
            <a:spAutoFit/>
          </a:bodyPr>
          <a:lstStyle/>
          <a:p>
            <a:pPr>
              <a:defRPr sz="900">
                <a:solidFill>
                  <a:srgbClr val="FFFFFF"/>
                </a:solidFill>
              </a:defRPr>
            </a:pPr>
            <a:r>
              <a:t>dot</a:t>
            </a:r>
          </a:p>
        </p:txBody>
      </p:sp>
      <p:sp>
        <p:nvSpPr>
          <p:cNvPr id="7" name="Rectangle 6"/>
          <p:cNvSpPr/>
          <p:nvPr/>
        </p:nvSpPr>
        <p:spPr>
          <a:xfrm>
            <a:off x="914400" y="2560320"/>
            <a:ext cx="7315200" cy="0"/>
          </a:xfrm>
          <a:prstGeom prst="line">
            <a:avLst/>
          </a:prstGeom>
          <a:noFill/>
          <a:ln w="25400">
            <a:solidFill>
              <a:srgbClr val="009900"/>
            </a:solidFill>
            <a:prstDash val="dash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182880" y="2331720"/>
            <a:ext cx="731520" cy="274320"/>
          </a:xfrm>
          <a:prstGeom prst="rect">
            <a:avLst/>
          </a:prstGeom>
          <a:noFill/>
        </p:spPr>
        <p:txBody>
          <a:bodyPr wrap="none">
            <a:spAutoFit/>
          </a:bodyPr>
          <a:lstStyle/>
          <a:p>
            <a:pPr>
              <a:defRPr sz="900">
                <a:solidFill>
                  <a:srgbClr val="FFFFFF"/>
                </a:solidFill>
              </a:defRPr>
            </a:pPr>
            <a:r>
              <a:t>dashDot</a:t>
            </a:r>
          </a:p>
        </p:txBody>
      </p:sp>
      <p:sp>
        <p:nvSpPr>
          <p:cNvPr id="9" name="Rectangle 8"/>
          <p:cNvSpPr/>
          <p:nvPr/>
        </p:nvSpPr>
        <p:spPr>
          <a:xfrm>
            <a:off x="914400" y="3383280"/>
            <a:ext cx="7315200" cy="0"/>
          </a:xfrm>
          <a:prstGeom prst="line">
            <a:avLst/>
          </a:prstGeom>
          <a:noFill/>
          <a:ln w="25400">
            <a:solidFill>
              <a:srgbClr val="CC6600"/>
            </a:solidFill>
            <a:prstDash val="lg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82880" y="3154680"/>
            <a:ext cx="731520" cy="274320"/>
          </a:xfrm>
          <a:prstGeom prst="rect">
            <a:avLst/>
          </a:prstGeom>
          <a:noFill/>
        </p:spPr>
        <p:txBody>
          <a:bodyPr wrap="none">
            <a:spAutoFit/>
          </a:bodyPr>
          <a:lstStyle/>
          <a:p>
            <a:pPr>
              <a:defRPr sz="900">
                <a:solidFill>
                  <a:srgbClr val="FFFFFF"/>
                </a:solidFill>
              </a:defRPr>
            </a:pPr>
            <a:r>
              <a:t>lgDash</a:t>
            </a:r>
          </a:p>
        </p:txBody>
      </p:sp>
      <p:sp>
        <p:nvSpPr>
          <p:cNvPr id="11" name="Rectangle 10"/>
          <p:cNvSpPr/>
          <p:nvPr/>
        </p:nvSpPr>
        <p:spPr>
          <a:xfrm>
            <a:off x="914400" y="4206240"/>
            <a:ext cx="7315200" cy="0"/>
          </a:xfrm>
          <a:prstGeom prst="line">
            <a:avLst/>
          </a:prstGeom>
          <a:noFill/>
          <a:ln w="25400">
            <a:solidFill>
              <a:srgbClr val="990099"/>
            </a:solidFill>
            <a:prstDash val="sysDot"/>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82880" y="3977639"/>
            <a:ext cx="731520" cy="274320"/>
          </a:xfrm>
          <a:prstGeom prst="rect">
            <a:avLst/>
          </a:prstGeom>
          <a:noFill/>
        </p:spPr>
        <p:txBody>
          <a:bodyPr wrap="none">
            <a:spAutoFit/>
          </a:bodyPr>
          <a:lstStyle/>
          <a:p>
            <a:pPr>
              <a:defRPr sz="900">
                <a:solidFill>
                  <a:srgbClr val="FFFFFF"/>
                </a:solidFill>
              </a:defRPr>
            </a:pPr>
            <a:r>
              <a:t>sysDot</a:t>
            </a:r>
          </a:p>
        </p:txBody>
      </p:sp>
      <p:sp>
        <p:nvSpPr>
          <p:cNvPr id="13" name="Rectangle 12"/>
          <p:cNvSpPr/>
          <p:nvPr/>
        </p:nvSpPr>
        <p:spPr>
          <a:xfrm>
            <a:off x="914400" y="5029200"/>
            <a:ext cx="7315200" cy="0"/>
          </a:xfrm>
          <a:prstGeom prst="line">
            <a:avLst/>
          </a:prstGeom>
          <a:noFill/>
          <a:ln w="25400">
            <a:solidFill>
              <a:srgbClr val="CC0000"/>
            </a:solidFill>
            <a:prstDash val="sys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82880" y="4800600"/>
            <a:ext cx="731520" cy="274320"/>
          </a:xfrm>
          <a:prstGeom prst="rect">
            <a:avLst/>
          </a:prstGeom>
          <a:noFill/>
        </p:spPr>
        <p:txBody>
          <a:bodyPr wrap="none">
            <a:spAutoFit/>
          </a:bodyPr>
          <a:lstStyle/>
          <a:p>
            <a:pPr>
              <a:defRPr sz="900">
                <a:solidFill>
                  <a:srgbClr val="FFFFFF"/>
                </a:solidFill>
              </a:defRPr>
            </a:pPr>
            <a:r>
              <a:t>sysDash</a:t>
            </a:r>
          </a:p>
        </p:txBody>
      </p:sp>
      <p:sp>
        <p:nvSpPr>
          <p:cNvPr id="15" name="Rectangle 14"/>
          <p:cNvSpPr/>
          <p:nvPr/>
        </p:nvSpPr>
        <p:spPr>
          <a:xfrm>
            <a:off x="914400" y="5852160"/>
            <a:ext cx="7315200" cy="0"/>
          </a:xfrm>
          <a:prstGeom prst="line">
            <a:avLst/>
          </a:prstGeom>
          <a:noFill/>
          <a:ln w="25400">
            <a:solidFill>
              <a:srgbClr val="FF6600"/>
            </a:solidFill>
            <a:custDash>
              <a:ds d="400000" sp="100000"/>
              <a:ds d="100000" sp="100000"/>
            </a:custDash>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82880" y="5623560"/>
            <a:ext cx="731520" cy="274320"/>
          </a:xfrm>
          <a:prstGeom prst="rect">
            <a:avLst/>
          </a:prstGeom>
          <a:noFill/>
        </p:spPr>
        <p:txBody>
          <a:bodyPr wrap="none">
            <a:spAutoFit/>
          </a:bodyPr>
          <a:lstStyle/>
          <a:p>
            <a:pPr>
              <a:defRPr sz="900">
                <a:solidFill>
                  <a:srgbClr val="FFFFFF"/>
                </a:solidFill>
              </a:defRPr>
            </a:pPr>
            <a:r>
              <a:t>custDash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457200"/>
          </a:xfrm>
          <a:prstGeom prst="rect">
            <a:avLst/>
          </a:prstGeom>
          <a:noFill/>
        </p:spPr>
        <p:txBody>
          <a:bodyPr wrap="none">
            <a:spAutoFit/>
          </a:bodyPr>
          <a:lstStyle/>
          <a:p>
            <a:pPr>
              <a:defRPr sz="2000" b="1"/>
            </a:pPr>
            <a:r>
              <a:t>Slide 33: Arrow Lines</a:t>
            </a:r>
          </a:p>
        </p:txBody>
      </p:sp>
      <p:sp>
        <p:nvSpPr>
          <p:cNvPr id="3" name="Rectangle 2"/>
          <p:cNvSpPr/>
          <p:nvPr/>
        </p:nvSpPr>
        <p:spPr>
          <a:xfrm>
            <a:off x="457200" y="1097280"/>
            <a:ext cx="3657600" cy="0"/>
          </a:xfrm>
          <a:prstGeom prst="line">
            <a:avLst/>
          </a:prstGeom>
          <a:noFill/>
          <a:ln w="25400">
            <a:solidFill>
              <a:srgbClr val="FF0000"/>
            </a:solidFill>
            <a:headEnd type="triangle" w="med" len="med"/>
            <a:tailEnd type="stealth" w="lg" len="lg"/>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57200" y="1188720"/>
            <a:ext cx="3657600" cy="274320"/>
          </a:xfrm>
          <a:prstGeom prst="rect">
            <a:avLst/>
          </a:prstGeom>
          <a:noFill/>
        </p:spPr>
        <p:txBody>
          <a:bodyPr wrap="none">
            <a:spAutoFit/>
          </a:bodyPr>
          <a:lstStyle/>
          <a:p>
            <a:pPr>
              <a:defRPr sz="900">
                <a:solidFill>
                  <a:srgbClr val="FFFFFF"/>
                </a:solidFill>
              </a:defRPr>
            </a:pPr>
            <a:r>
              <a:t>triangle head + stealth tail</a:t>
            </a:r>
          </a:p>
        </p:txBody>
      </p:sp>
      <p:sp>
        <p:nvSpPr>
          <p:cNvPr id="5" name="Rectangle 4"/>
          <p:cNvSpPr/>
          <p:nvPr/>
        </p:nvSpPr>
        <p:spPr>
          <a:xfrm>
            <a:off x="457200" y="1828800"/>
            <a:ext cx="3657600" cy="0"/>
          </a:xfrm>
          <a:prstGeom prst="line">
            <a:avLst/>
          </a:prstGeom>
          <a:noFill/>
          <a:ln w="19050">
            <a:solidFill>
              <a:srgbClr val="008000"/>
            </a:solidFill>
            <a:headEnd type="diamond" w="med" len="med"/>
            <a:tailEnd type="oval" w="med" len="me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57200" y="1920240"/>
            <a:ext cx="3657600" cy="274320"/>
          </a:xfrm>
          <a:prstGeom prst="rect">
            <a:avLst/>
          </a:prstGeom>
          <a:noFill/>
        </p:spPr>
        <p:txBody>
          <a:bodyPr wrap="none">
            <a:spAutoFit/>
          </a:bodyPr>
          <a:lstStyle/>
          <a:p>
            <a:pPr>
              <a:defRPr sz="900">
                <a:solidFill>
                  <a:srgbClr val="FFFFFF"/>
                </a:solidFill>
              </a:defRPr>
            </a:pPr>
            <a:r>
              <a:t>diamond head + oval tail</a:t>
            </a:r>
          </a:p>
        </p:txBody>
      </p:sp>
      <p:sp>
        <p:nvSpPr>
          <p:cNvPr id="7" name="Rectangle 6"/>
          <p:cNvSpPr/>
          <p:nvPr/>
        </p:nvSpPr>
        <p:spPr>
          <a:xfrm>
            <a:off x="457200" y="2560320"/>
            <a:ext cx="3657600" cy="0"/>
          </a:xfrm>
          <a:prstGeom prst="line">
            <a:avLst/>
          </a:prstGeom>
          <a:noFill/>
          <a:ln w="25400">
            <a:solidFill>
              <a:srgbClr val="0000FF"/>
            </a:solidFill>
            <a:headEnd type="arrow" w="med" len="med"/>
            <a:tailEnd type="triangle" w="sm" len="sm"/>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57200" y="2651760"/>
            <a:ext cx="3657600" cy="274320"/>
          </a:xfrm>
          <a:prstGeom prst="rect">
            <a:avLst/>
          </a:prstGeom>
          <a:noFill/>
        </p:spPr>
        <p:txBody>
          <a:bodyPr wrap="none">
            <a:spAutoFit/>
          </a:bodyPr>
          <a:lstStyle/>
          <a:p>
            <a:pPr>
              <a:defRPr sz="900">
                <a:solidFill>
                  <a:srgbClr val="FFFFFF"/>
                </a:solidFill>
              </a:defRPr>
            </a:pPr>
            <a:r>
              <a:t>arrow head + triangle tail (sm)</a:t>
            </a:r>
          </a:p>
        </p:txBody>
      </p:sp>
      <p:sp>
        <p:nvSpPr>
          <p:cNvPr id="9" name="Rectangle 8"/>
          <p:cNvSpPr/>
          <p:nvPr/>
        </p:nvSpPr>
        <p:spPr>
          <a:xfrm>
            <a:off x="4572000" y="1097280"/>
            <a:ext cx="4114800" cy="0"/>
          </a:xfrm>
          <a:prstGeom prst="line">
            <a:avLst/>
          </a:prstGeom>
          <a:noFill/>
          <a:ln w="38100" cap="rnd">
            <a:solidFill>
              <a:srgbClr val="800080"/>
            </a:solidFill>
            <a:prstDash val="dash"/>
            <a:round/>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0" y="1188720"/>
            <a:ext cx="4114800" cy="274320"/>
          </a:xfrm>
          <a:prstGeom prst="rect">
            <a:avLst/>
          </a:prstGeom>
          <a:noFill/>
        </p:spPr>
        <p:txBody>
          <a:bodyPr wrap="none">
            <a:spAutoFit/>
          </a:bodyPr>
          <a:lstStyle/>
          <a:p>
            <a:pPr>
              <a:defRPr sz="900">
                <a:solidFill>
                  <a:srgbClr val="FFFFFF"/>
                </a:solidFill>
              </a:defRPr>
            </a:pPr>
            <a:r>
              <a:t>dash + round cap + round join</a:t>
            </a:r>
          </a:p>
        </p:txBody>
      </p:sp>
      <p:sp>
        <p:nvSpPr>
          <p:cNvPr id="11" name="Rectangle 10"/>
          <p:cNvSpPr/>
          <p:nvPr/>
        </p:nvSpPr>
        <p:spPr>
          <a:xfrm>
            <a:off x="4572000" y="1828800"/>
            <a:ext cx="4114800" cy="0"/>
          </a:xfrm>
          <a:prstGeom prst="line">
            <a:avLst/>
          </a:prstGeom>
          <a:noFill/>
          <a:ln w="25400" cap="sq">
            <a:solidFill>
              <a:srgbClr val="006699"/>
            </a:solidFill>
            <a:prstDash val="lgDash"/>
            <a:beve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72000" y="1920240"/>
            <a:ext cx="4114800" cy="274320"/>
          </a:xfrm>
          <a:prstGeom prst="rect">
            <a:avLst/>
          </a:prstGeom>
          <a:noFill/>
        </p:spPr>
        <p:txBody>
          <a:bodyPr wrap="none">
            <a:spAutoFit/>
          </a:bodyPr>
          <a:lstStyle/>
          <a:p>
            <a:pPr>
              <a:defRPr sz="900">
                <a:solidFill>
                  <a:srgbClr val="FFFFFF"/>
                </a:solidFill>
              </a:defRPr>
            </a:pPr>
            <a:r>
              <a:t>lgDash + sq cap + bevel join</a:t>
            </a:r>
          </a:p>
        </p:txBody>
      </p:sp>
      <p:sp>
        <p:nvSpPr>
          <p:cNvPr id="13" name="Rectangle 12"/>
          <p:cNvSpPr/>
          <p:nvPr/>
        </p:nvSpPr>
        <p:spPr>
          <a:xfrm>
            <a:off x="4572000" y="2560320"/>
            <a:ext cx="4114800" cy="0"/>
          </a:xfrm>
          <a:prstGeom prst="line">
            <a:avLst/>
          </a:prstGeom>
          <a:noFill/>
          <a:ln w="25400">
            <a:solidFill>
              <a:srgbClr val="FF6600"/>
            </a:solidFill>
            <a:miter lim="800000"/>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72000" y="2651760"/>
            <a:ext cx="4114800" cy="274320"/>
          </a:xfrm>
          <a:prstGeom prst="rect">
            <a:avLst/>
          </a:prstGeom>
          <a:noFill/>
        </p:spPr>
        <p:txBody>
          <a:bodyPr wrap="none">
            <a:spAutoFit/>
          </a:bodyPr>
          <a:lstStyle/>
          <a:p>
            <a:pPr>
              <a:defRPr sz="900">
                <a:solidFill>
                  <a:srgbClr val="FFFFFF"/>
                </a:solidFill>
              </a:defRPr>
            </a:pPr>
            <a:r>
              <a:t>miter join (lim=800000)</a:t>
            </a:r>
          </a:p>
        </p:txBody>
      </p:sp>
      <p:sp>
        <p:nvSpPr>
          <p:cNvPr id="15" name="Rectangle 14"/>
          <p:cNvSpPr/>
          <p:nvPr/>
        </p:nvSpPr>
        <p:spPr>
          <a:xfrm>
            <a:off x="457200" y="3657600"/>
            <a:ext cx="3657600" cy="1828800"/>
          </a:xfrm>
          <a:prstGeom prst="rect">
            <a:avLst/>
          </a:prstGeom>
          <a:ln w="25400" cap="rnd">
            <a:solidFill>
              <a:srgbClr val="FF00FF"/>
            </a:solidFill>
            <a:prstDash val="dashDot"/>
            <a:round/>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Rect: dashDot + rnd cap</a:t>
            </a:r>
          </a:p>
        </p:txBody>
      </p:sp>
      <p:sp>
        <p:nvSpPr>
          <p:cNvPr id="16" name="Rectangle 15"/>
          <p:cNvSpPr/>
          <p:nvPr/>
        </p:nvSpPr>
        <p:spPr>
          <a:xfrm>
            <a:off x="4572000" y="3657600"/>
            <a:ext cx="4114800" cy="731520"/>
          </a:xfrm>
          <a:prstGeom prst="rect">
            <a:avLst/>
          </a:prstGeom>
          <a:ln w="38100" cmpd="dbl">
            <a:solidFill>
              <a:srgbClr val="333333"/>
            </a:solid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Compound: dbl</a:t>
            </a:r>
          </a:p>
        </p:txBody>
      </p:sp>
      <p:sp>
        <p:nvSpPr>
          <p:cNvPr id="17" name="Rectangle 16"/>
          <p:cNvSpPr/>
          <p:nvPr/>
        </p:nvSpPr>
        <p:spPr>
          <a:xfrm>
            <a:off x="4572000" y="4754880"/>
            <a:ext cx="4114800" cy="731520"/>
          </a:xfrm>
          <a:prstGeom prst="rect">
            <a:avLst/>
          </a:prstGeom>
          <a:ln w="25400">
            <a:noFill/>
          </a:ln>
        </p:spPr>
        <p:style>
          <a:lnRef idx="1">
            <a:schemeClr val="accent1"/>
          </a:lnRef>
          <a:fillRef idx="3">
            <a:schemeClr val="accent1"/>
          </a:fillRef>
          <a:effectRef idx="2">
            <a:schemeClr val="accent1"/>
          </a:effectRef>
          <a:fontRef idx="minor">
            <a:schemeClr val="lt1"/>
          </a:fontRef>
        </p:style>
        <p:txBody>
          <a:bodyPr rtlCol="0" anchor="ctr"/>
          <a:lstStyle/>
          <a:p>
            <a:pPr>
              <a:defRPr sz="1200"/>
            </a:pPr>
            <a:r>
              <a:t>Line noFill</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34: Group Shapes</a:t>
            </a:r>
          </a:p>
        </p:txBody>
      </p:sp>
      <p:grpSp>
        <p:nvGrpSpPr>
          <p:cNvPr id="100" name="Group 1"/>
          <p:cNvGrpSpPr/>
          <p:nvPr/>
        </p:nvGrpSpPr>
        <p:grpSpPr>
          <a:xfrm>
            <a:off x="457200" y="1371600"/>
            <a:ext cx="3657600" cy="2743200"/>
            <a:chOff x="0" y="0"/>
            <a:chExt cx="3657600" cy="2743200"/>
          </a:xfrm>
        </p:grpSpPr>
        <p:sp>
          <p:nvSpPr>
            <p:cNvPr id="101" name="Rect1"/>
            <p:cNvSpPr/>
            <p:nvPr/>
          </p:nvSpPr>
          <p:spPr>
            <a:xfrm>
              <a:off x="0" y="0"/>
              <a:ext cx="1828800" cy="1371600"/>
            </a:xfrm>
            <a:prstGeom prst="rect">
              <a:avLst/>
            </a:prstGeom>
            <a:solidFill>
              <a:srgbClr val="FF6B6B"/>
            </a:solidFill>
            <a:ln w="12700">
              <a:solidFill>
                <a:srgbClr val="333333"/>
              </a:solidFill>
            </a:ln>
          </p:spPr>
          <p:txBody>
            <a:bodyPr/>
            <a:lstStyle/>
            <a:p>
              <a:r>
                <a:rPr lang="en-US" sz="1400"/>
                <a:t>Child 1 (red)</a:t>
              </a:r>
            </a:p>
          </p:txBody>
        </p:sp>
        <p:sp>
          <p:nvSpPr>
            <p:cNvPr id="102" name="Rect2"/>
            <p:cNvSpPr/>
            <p:nvPr/>
          </p:nvSpPr>
          <p:spPr>
            <a:xfrm>
              <a:off x="1828800" y="1371600"/>
              <a:ext cx="1828800" cy="1371600"/>
            </a:xfrm>
            <a:prstGeom prst="ellipse">
              <a:avLst/>
            </a:prstGeom>
            <a:solidFill>
              <a:srgbClr val="4ECDC4"/>
            </a:solidFill>
            <a:ln w="12700">
              <a:solidFill>
                <a:srgbClr val="333333"/>
              </a:solidFill>
            </a:ln>
          </p:spPr>
          <p:txBody>
            <a:bodyPr/>
            <a:lstStyle/>
            <a:p>
              <a:r>
                <a:rPr lang="en-US" sz="1400"/>
                <a:t>Child 2 (teal)</a:t>
              </a:r>
            </a:p>
          </p:txBody>
        </p:sp>
      </p:grpSp>
      <p:grpSp>
        <p:nvGrpSpPr>
          <p:cNvPr id="200" name="Outer Group"/>
          <p:cNvGrpSpPr/>
          <p:nvPr/>
        </p:nvGrpSpPr>
        <p:grpSpPr>
          <a:xfrm>
            <a:off x="4572000" y="1371600"/>
            <a:ext cx="4572000" cy="2743200"/>
            <a:chOff x="0" y="0"/>
            <a:chExt cx="4572000" cy="2743200"/>
          </a:xfrm>
        </p:grpSpPr>
        <p:sp>
          <p:nvSpPr>
            <p:cNvPr id="201" name="Outer Rect"/>
            <p:cNvSpPr/>
            <p:nvPr/>
          </p:nvSpPr>
          <p:spPr>
            <a:xfrm>
              <a:off x="0" y="0"/>
              <a:ext cx="4572000" cy="2743200"/>
            </a:xfrm>
            <a:prstGeom prst="rect">
              <a:avLst/>
            </a:prstGeom>
            <a:solidFill>
              <a:srgbClr val="E8E8E8"/>
            </a:solidFill>
            <a:ln w="12700">
              <a:solidFill>
                <a:srgbClr val="999999"/>
              </a:solidFill>
            </a:ln>
          </p:spPr>
          <p:txBody>
            <a:bodyPr/>
            <a:lstStyle/>
            <a:p>
              <a:r>
                <a:rPr lang="en-US" sz="1200"/>
                <a:t>Outer bg</a:t>
              </a:r>
            </a:p>
          </p:txBody>
        </p:sp>
        <p:grpSp>
          <p:nvGrpSpPr>
            <p:cNvPr id="210" name="Inner Group"/>
            <p:cNvGrpSpPr/>
            <p:nvPr/>
          </p:nvGrpSpPr>
          <p:grpSpPr>
            <a:xfrm>
              <a:off x="457200" y="457200"/>
              <a:ext cx="3657600" cy="1828800"/>
              <a:chOff x="0" y="0"/>
              <a:chExt cx="3657600" cy="1828800"/>
            </a:xfrm>
          </p:grpSpPr>
          <p:sp>
            <p:nvSpPr>
              <p:cNvPr id="211" name="Inner Circle"/>
              <p:cNvSpPr/>
              <p:nvPr/>
            </p:nvSpPr>
            <p:spPr>
              <a:xfrm>
                <a:off x="0" y="0"/>
                <a:ext cx="1828800" cy="1828800"/>
              </a:xfrm>
              <a:prstGeom prst="ellipse">
                <a:avLst/>
              </a:prstGeom>
              <a:solidFill>
                <a:srgbClr val="FFD93D"/>
              </a:solidFill>
            </p:spPr>
            <p:txBody>
              <a:bodyPr anchor="ctr"/>
              <a:lstStyle/>
              <a:p>
                <a:pPr algn="ctr"/>
                <a:r>
                  <a:rPr lang="en-US" sz="1400" b="1"/>
                  <a:t>Nested A</a:t>
                </a:r>
              </a:p>
            </p:txBody>
          </p:sp>
          <p:sp>
            <p:nvSpPr>
              <p:cNvPr id="212" name="Inner Rect"/>
              <p:cNvSpPr/>
              <p:nvPr/>
            </p:nvSpPr>
            <p:spPr>
              <a:xfrm>
                <a:off x="1828800" y="0"/>
                <a:ext cx="1828800" cy="1828800"/>
              </a:xfrm>
              <a:prstGeom prst="roundRect">
                <a:avLst/>
              </a:prstGeom>
              <a:solidFill>
                <a:srgbClr val="6C5CE7"/>
              </a:solidFill>
            </p:spPr>
            <p:txBody>
              <a:bodyPr anchor="ctr"/>
              <a:lstStyle/>
              <a:p>
                <a:pPr algn="ctr"/>
                <a:r>
                  <a:rPr lang="en-US" sz="1400" b="1">
                    <a:solidFill>
                      <a:srgbClr val="FFFFFF"/>
                    </a:solidFill>
                  </a:rPr>
                  <a:t>Nested B</a:t>
                </a:r>
              </a:p>
            </p:txBody>
          </p:sp>
        </p:grpSp>
      </p:grpSp>
      <p:sp>
        <p:nvSpPr>
          <p:cNvPr id="213" name="TextBox 212"/>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simple group (red rect + teal ellipse). Right: nested group (outer bg + inner circle + rounded rect).</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548640"/>
          </a:xfrm>
          <a:prstGeom prst="rect">
            <a:avLst/>
          </a:prstGeom>
          <a:noFill/>
        </p:spPr>
        <p:txBody>
          <a:bodyPr wrap="none">
            <a:spAutoFit/>
          </a:bodyPr>
          <a:lstStyle/>
          <a:p>
            <a:pPr>
              <a:defRPr sz="2400" b="1"/>
            </a:pPr>
            <a:r>
              <a:t>Slide 35: Connectors (p:cxnSp)</a:t>
            </a:r>
          </a:p>
        </p:txBody>
      </p:sp>
      <p:cxnSp>
        <p:nvCxnSpPr>
          <p:cNvPr id="300" name="Straight Connector"/>
          <p:cNvCxnSpPr/>
          <p:nvPr/>
        </p:nvCxnSpPr>
        <p:spPr>
          <a:xfrm>
            <a:off x="457200" y="1371600"/>
            <a:ext cx="3657600" cy="0"/>
          </a:xfrm>
          <a:prstGeom prst="straightConnector1">
            <a:avLst/>
          </a:prstGeom>
          <a:ln w="25400">
            <a:solidFill>
              <a:srgbClr val="FF0000"/>
            </a:solidFill>
            <a:tailEnd type="triangle"/>
          </a:ln>
        </p:spPr>
      </p:cxnSp>
      <p:cxnSp>
        <p:nvCxnSpPr>
          <p:cNvPr id="301" name="Diagonal Connector"/>
          <p:cNvCxnSpPr/>
          <p:nvPr/>
        </p:nvCxnSpPr>
        <p:spPr>
          <a:xfrm>
            <a:off x="457200" y="2286000"/>
            <a:ext cx="3657600" cy="1828800"/>
          </a:xfrm>
          <a:prstGeom prst="straightConnector1">
            <a:avLst/>
          </a:prstGeom>
          <a:ln w="19050">
            <a:solidFill>
              <a:srgbClr val="0066CC"/>
            </a:solidFill>
            <a:prstDash val="dash"/>
            <a:headEnd type="diamond"/>
            <a:tailEnd type="stealth"/>
          </a:ln>
        </p:spPr>
      </p:cxnSp>
      <p:cxnSp>
        <p:nvCxnSpPr>
          <p:cNvPr id="302" name="Bent Connector"/>
          <p:cNvCxnSpPr/>
          <p:nvPr/>
        </p:nvCxnSpPr>
        <p:spPr>
          <a:xfrm>
            <a:off x="5029200" y="1371600"/>
            <a:ext cx="3657600" cy="1371600"/>
          </a:xfrm>
          <a:prstGeom prst="bentConnector3">
            <a:avLst>
              <a:gd name="adj1" fmla="val 50000"/>
            </a:avLst>
          </a:prstGeom>
          <a:ln w="25400">
            <a:solidFill>
              <a:srgbClr val="009900"/>
            </a:solidFill>
            <a:tailEnd type="triangle"/>
          </a:ln>
        </p:spPr>
      </p:cxnSp>
      <p:cxnSp>
        <p:nvCxnSpPr>
          <p:cNvPr id="303" name="Curved Connector"/>
          <p:cNvCxnSpPr/>
          <p:nvPr/>
        </p:nvCxnSpPr>
        <p:spPr>
          <a:xfrm>
            <a:off x="5029200" y="3200400"/>
            <a:ext cx="3657600" cy="1371600"/>
          </a:xfrm>
          <a:prstGeom prst="curvedConnector3">
            <a:avLst>
              <a:gd name="adj1" fmla="val 50000"/>
            </a:avLst>
          </a:prstGeom>
          <a:ln w="25400">
            <a:solidFill>
              <a:srgbClr val="FF6600"/>
            </a:solidFill>
            <a:headEnd type="oval"/>
            <a:tailEnd type="arrow"/>
          </a:ln>
        </p:spPr>
      </p:cxnSp>
      <p:sp>
        <p:nvSpPr>
          <p:cNvPr id="304" name="TextBox 303"/>
          <p:cNvSpPr txBox="1"/>
          <p:nvPr/>
        </p:nvSpPr>
        <p:spPr>
          <a:xfrm>
            <a:off x="457200" y="5029200"/>
            <a:ext cx="8229600" cy="914400"/>
          </a:xfrm>
          <a:prstGeom prst="rect">
            <a:avLst/>
          </a:prstGeom>
          <a:noFill/>
        </p:spPr>
        <p:txBody>
          <a:bodyPr wrap="none">
            <a:spAutoFit/>
          </a:bodyPr>
          <a:lstStyle/>
          <a:p>
            <a:pPr>
              <a:defRPr sz="1200">
                <a:solidFill>
                  <a:srgbClr val="646464"/>
                </a:solidFill>
              </a:defRPr>
            </a:pPr>
            <a:r>
              <a:t>Left: straight + diagonal. Right: bent (green) + curved (orange).</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0" name="prst_triangle"/>
          <p:cNvSpPr/>
          <p:nvPr/>
        </p:nvSpPr>
        <p:spPr>
          <a:xfrm>
            <a:off x="457200" y="457200"/>
            <a:ext cx="1143000" cy="1143000"/>
          </a:xfrm>
          <a:prstGeom prst="triangle">
            <a:avLst/>
          </a:prstGeom>
          <a:solidFill>
            <a:srgbClr val="FF6B6B"/>
          </a:solidFill>
          <a:ln w="12700">
            <a:solidFill>
              <a:srgbClr val="333333"/>
            </a:solidFill>
          </a:ln>
        </p:spPr>
        <p:txBody>
          <a:bodyPr/>
          <a:lstStyle/>
          <a:p>
            <a:r>
              <a:rPr lang="en-US" sz="900"/>
              <a:t>triangle</a:t>
            </a:r>
          </a:p>
        </p:txBody>
      </p:sp>
      <p:sp>
        <p:nvSpPr>
          <p:cNvPr id="0" name="prst_diamond"/>
          <p:cNvSpPr/>
          <p:nvPr/>
        </p:nvSpPr>
        <p:spPr>
          <a:xfrm>
            <a:off x="1981200" y="457200"/>
            <a:ext cx="1143000" cy="1143000"/>
          </a:xfrm>
          <a:prstGeom prst="diamond">
            <a:avLst/>
          </a:prstGeom>
          <a:solidFill>
            <a:srgbClr val="4ECDC4"/>
          </a:solidFill>
          <a:ln w="12700">
            <a:solidFill>
              <a:srgbClr val="333333"/>
            </a:solidFill>
          </a:ln>
        </p:spPr>
        <p:txBody>
          <a:bodyPr/>
          <a:lstStyle/>
          <a:p>
            <a:r>
              <a:rPr lang="en-US" sz="900"/>
              <a:t>diamond</a:t>
            </a:r>
          </a:p>
        </p:txBody>
      </p:sp>
      <p:sp>
        <p:nvSpPr>
          <p:cNvPr id="0" name="prst_pentagon"/>
          <p:cNvSpPr/>
          <p:nvPr/>
        </p:nvSpPr>
        <p:spPr>
          <a:xfrm>
            <a:off x="3505200" y="457200"/>
            <a:ext cx="1143000" cy="1143000"/>
          </a:xfrm>
          <a:prstGeom prst="pentagon">
            <a:avLst/>
          </a:prstGeom>
          <a:solidFill>
            <a:srgbClr val="FFD93D"/>
          </a:solidFill>
          <a:ln w="12700">
            <a:solidFill>
              <a:srgbClr val="333333"/>
            </a:solidFill>
          </a:ln>
        </p:spPr>
        <p:txBody>
          <a:bodyPr/>
          <a:lstStyle/>
          <a:p>
            <a:r>
              <a:rPr lang="en-US" sz="900"/>
              <a:t>pentagon</a:t>
            </a:r>
          </a:p>
        </p:txBody>
      </p:sp>
      <p:sp>
        <p:nvSpPr>
          <p:cNvPr id="0" name="prst_hexagon"/>
          <p:cNvSpPr/>
          <p:nvPr/>
        </p:nvSpPr>
        <p:spPr>
          <a:xfrm>
            <a:off x="5029200" y="457200"/>
            <a:ext cx="1143000" cy="1143000"/>
          </a:xfrm>
          <a:prstGeom prst="hexagon">
            <a:avLst/>
          </a:prstGeom>
          <a:solidFill>
            <a:srgbClr val="6C5CE7"/>
          </a:solidFill>
          <a:ln w="12700">
            <a:solidFill>
              <a:srgbClr val="333333"/>
            </a:solidFill>
          </a:ln>
        </p:spPr>
        <p:txBody>
          <a:bodyPr/>
          <a:lstStyle/>
          <a:p>
            <a:r>
              <a:rPr lang="en-US" sz="900"/>
              <a:t>hexagon</a:t>
            </a:r>
          </a:p>
        </p:txBody>
      </p:sp>
      <p:sp>
        <p:nvSpPr>
          <p:cNvPr id="0" name="prst_rightArrow"/>
          <p:cNvSpPr/>
          <p:nvPr/>
        </p:nvSpPr>
        <p:spPr>
          <a:xfrm>
            <a:off x="6553200" y="457200"/>
            <a:ext cx="1143000" cy="1143000"/>
          </a:xfrm>
          <a:prstGeom prst="rightArrow">
            <a:avLst/>
          </a:prstGeom>
          <a:solidFill>
            <a:srgbClr val="74B9FF"/>
          </a:solidFill>
          <a:ln w="12700">
            <a:solidFill>
              <a:srgbClr val="333333"/>
            </a:solidFill>
          </a:ln>
        </p:spPr>
        <p:txBody>
          <a:bodyPr/>
          <a:lstStyle/>
          <a:p>
            <a:r>
              <a:rPr lang="en-US" sz="900"/>
              <a:t>rightArrow</a:t>
            </a:r>
          </a:p>
        </p:txBody>
      </p:sp>
      <p:sp>
        <p:nvSpPr>
          <p:cNvPr id="0" name="prst_star5"/>
          <p:cNvSpPr/>
          <p:nvPr/>
        </p:nvSpPr>
        <p:spPr>
          <a:xfrm>
            <a:off x="8077200" y="457200"/>
            <a:ext cx="1143000" cy="1143000"/>
          </a:xfrm>
          <a:prstGeom prst="star5">
            <a:avLst/>
          </a:prstGeom>
          <a:solidFill>
            <a:srgbClr val="FDCB6E"/>
          </a:solidFill>
          <a:ln w="12700">
            <a:solidFill>
              <a:srgbClr val="333333"/>
            </a:solidFill>
          </a:ln>
        </p:spPr>
        <p:txBody>
          <a:bodyPr/>
          <a:lstStyle/>
          <a:p>
            <a:r>
              <a:rPr lang="en-US" sz="900"/>
              <a:t>star5</a:t>
            </a:r>
          </a:p>
        </p:txBody>
      </p:sp>
      <p:sp>
        <p:nvSpPr>
          <p:cNvPr id="0" name="prst_heart"/>
          <p:cNvSpPr/>
          <p:nvPr/>
        </p:nvSpPr>
        <p:spPr>
          <a:xfrm>
            <a:off x="457200" y="2286000"/>
            <a:ext cx="1143000" cy="1143000"/>
          </a:xfrm>
          <a:prstGeom prst="heart">
            <a:avLst/>
          </a:prstGeom>
          <a:solidFill>
            <a:srgbClr val="E17055"/>
          </a:solidFill>
          <a:ln w="12700">
            <a:solidFill>
              <a:srgbClr val="333333"/>
            </a:solidFill>
          </a:ln>
        </p:spPr>
        <p:txBody>
          <a:bodyPr/>
          <a:lstStyle/>
          <a:p>
            <a:r>
              <a:rPr lang="en-US" sz="900"/>
              <a:t>heart</a:t>
            </a:r>
          </a:p>
        </p:txBody>
      </p:sp>
      <p:sp>
        <p:nvSpPr>
          <p:cNvPr id="0" name="prst_plus"/>
          <p:cNvSpPr/>
          <p:nvPr/>
        </p:nvSpPr>
        <p:spPr>
          <a:xfrm>
            <a:off x="1981200" y="2286000"/>
            <a:ext cx="1143000" cy="1143000"/>
          </a:xfrm>
          <a:prstGeom prst="plus">
            <a:avLst/>
          </a:prstGeom>
          <a:solidFill>
            <a:srgbClr val="00CEC9"/>
          </a:solidFill>
          <a:ln w="12700">
            <a:solidFill>
              <a:srgbClr val="333333"/>
            </a:solidFill>
          </a:ln>
        </p:spPr>
        <p:txBody>
          <a:bodyPr/>
          <a:lstStyle/>
          <a:p>
            <a:r>
              <a:rPr lang="en-US" sz="900"/>
              <a:t>plus</a:t>
            </a:r>
          </a:p>
        </p:txBody>
      </p:sp>
      <p:sp>
        <p:nvSpPr>
          <p:cNvPr id="0" name="prst_flowChartDecision"/>
          <p:cNvSpPr/>
          <p:nvPr/>
        </p:nvSpPr>
        <p:spPr>
          <a:xfrm>
            <a:off x="3505200" y="2286000"/>
            <a:ext cx="1143000" cy="1143000"/>
          </a:xfrm>
          <a:prstGeom prst="flowChartDecision">
            <a:avLst/>
          </a:prstGeom>
          <a:solidFill>
            <a:srgbClr val="A29BFE"/>
          </a:solidFill>
          <a:ln w="12700">
            <a:solidFill>
              <a:srgbClr val="333333"/>
            </a:solidFill>
          </a:ln>
        </p:spPr>
        <p:txBody>
          <a:bodyPr/>
          <a:lstStyle/>
          <a:p>
            <a:r>
              <a:rPr lang="en-US" sz="900"/>
              <a:t>flowChartDecision</a:t>
            </a:r>
          </a:p>
        </p:txBody>
      </p:sp>
      <p:sp>
        <p:nvSpPr>
          <p:cNvPr id="0" name="prst_chevron"/>
          <p:cNvSpPr/>
          <p:nvPr/>
        </p:nvSpPr>
        <p:spPr>
          <a:xfrm>
            <a:off x="5029200" y="2286000"/>
            <a:ext cx="1143000" cy="1143000"/>
          </a:xfrm>
          <a:prstGeom prst="chevron">
            <a:avLst/>
          </a:prstGeom>
          <a:solidFill>
            <a:srgbClr val="55EFC4"/>
          </a:solidFill>
          <a:ln w="12700">
            <a:solidFill>
              <a:srgbClr val="333333"/>
            </a:solidFill>
          </a:ln>
        </p:spPr>
        <p:txBody>
          <a:bodyPr/>
          <a:lstStyle/>
          <a:p>
            <a:r>
              <a:rPr lang="en-US" sz="900"/>
              <a:t>chevron</a:t>
            </a:r>
          </a:p>
        </p:txBody>
      </p:sp>
      <p:sp>
        <p:nvSpPr>
          <p:cNvPr id="0" name="prst_parallelogram"/>
          <p:cNvSpPr/>
          <p:nvPr/>
        </p:nvSpPr>
        <p:spPr>
          <a:xfrm>
            <a:off x="6553200" y="2286000"/>
            <a:ext cx="1143000" cy="1143000"/>
          </a:xfrm>
          <a:prstGeom prst="parallelogram">
            <a:avLst/>
          </a:prstGeom>
          <a:solidFill>
            <a:srgbClr val="FF7675"/>
          </a:solidFill>
          <a:ln w="12700">
            <a:solidFill>
              <a:srgbClr val="333333"/>
            </a:solidFill>
          </a:ln>
        </p:spPr>
        <p:txBody>
          <a:bodyPr/>
          <a:lstStyle/>
          <a:p>
            <a:r>
              <a:rPr lang="en-US" sz="900"/>
              <a:t>parallelogram</a:t>
            </a:r>
          </a:p>
        </p:txBody>
      </p:sp>
      <p:sp>
        <p:nvSpPr>
          <p:cNvPr id="0" name="prst_octagon"/>
          <p:cNvSpPr/>
          <p:nvPr/>
        </p:nvSpPr>
        <p:spPr>
          <a:xfrm>
            <a:off x="8077200" y="2286000"/>
            <a:ext cx="1143000" cy="1143000"/>
          </a:xfrm>
          <a:prstGeom prst="octagon">
            <a:avLst/>
          </a:prstGeom>
          <a:solidFill>
            <a:srgbClr val="FFEAA7"/>
          </a:solidFill>
          <a:ln w="12700">
            <a:solidFill>
              <a:srgbClr val="333333"/>
            </a:solidFill>
          </a:ln>
        </p:spPr>
        <p:txBody>
          <a:bodyPr/>
          <a:lstStyle/>
          <a:p>
            <a:r>
              <a:rPr lang="en-US" sz="900"/>
              <a:t>octagon</a:t>
            </a:r>
          </a:p>
        </p:txBody>
      </p:sp>
      <p:sp>
        <p:nvSpPr>
          <p:cNvPr id="0" name="rightArrow_adj"/>
          <p:cNvSpPr/>
          <p:nvPr/>
        </p:nvSpPr>
        <p:spPr>
          <a:xfrm>
            <a:off x="457200" y="4114800"/>
            <a:ext cx="2286000" cy="914400"/>
          </a:xfrm>
          <a:prstGeom prst="rightArrow">
            <a:avLst>
              <a:gd name="adj1" fmla="val 70000"/>
              <a:gd name="adj2" fmla="val 30000"/>
            </a:avLst>
          </a:prstGeom>
          <a:solidFill>
            <a:srgbClr val="74B9FF"/>
          </a:solidFill>
          <a:ln w="12700">
            <a:solidFill>
              <a:srgbClr val="333333"/>
            </a:solidFill>
          </a:ln>
        </p:spPr>
        <p:txBody>
          <a:bodyPr/>
          <a:lstStyle/>
          <a:p>
            <a:r>
              <a:rPr lang="en-US" sz="900"/>
              <a:t>rightArrow</a:t>
            </a:r>
          </a:p>
        </p:txBody>
      </p:sp>
      <p:sp>
        <p:nvSpPr>
          <p:cNvPr id="0" name="star5_adj"/>
          <p:cNvSpPr/>
          <p:nvPr/>
        </p:nvSpPr>
        <p:spPr>
          <a:xfrm>
            <a:off x="3200400" y="4114800"/>
            <a:ext cx="1143000" cy="1143000"/>
          </a:xfrm>
          <a:prstGeom prst="star5">
            <a:avLst>
              <a:gd name="adj" fmla="val 40000"/>
            </a:avLst>
          </a:prstGeom>
          <a:solidFill>
            <a:srgbClr val="FDCB6E"/>
          </a:solidFill>
          <a:ln w="12700">
            <a:solidFill>
              <a:srgbClr val="333333"/>
            </a:solidFill>
          </a:ln>
        </p:spPr>
        <p:txBody>
          <a:bodyPr/>
          <a:lstStyle/>
          <a:p>
            <a:r>
              <a:rPr lang="en-US" sz="900"/>
              <a:t>star5</a:t>
            </a:r>
          </a:p>
        </p:txBody>
      </p:sp>
      <p:sp>
        <p:nvSpPr>
          <p:cNvPr id="2" name="TextBox 1"/>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Preset geometry: triangle, diamond, pentagon, hexagon, rightArrow, star5, heart, plus, flowChartDecision, chevron, parallelogram, octagon</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CustomStar"/>
          <p:cNvSpPr/>
          <p:nvPr/>
        </p:nvSpPr>
        <p:spPr>
          <a:xfrm>
            <a:off x="457200" y="457200"/>
            <a:ext cx="1828800" cy="1828800"/>
          </a:xfrm>
          <a:custGeom>
            <a:avLst/>
            <a:gdLst/>
            <a:pathLst>
              <a:path w="200" h="200">
                <a:moveTo>
                  <a:pt x="100" y="0"/>
                </a:moveTo>
                <a:lnTo>
                  <a:pt x="130" y="70"/>
                </a:lnTo>
                <a:lnTo>
                  <a:pt x="200" y="80"/>
                </a:lnTo>
                <a:lnTo>
                  <a:pt x="150" y="130"/>
                </a:lnTo>
                <a:lnTo>
                  <a:pt x="160" y="200"/>
                </a:lnTo>
                <a:lnTo>
                  <a:pt x="100" y="170"/>
                </a:lnTo>
                <a:lnTo>
                  <a:pt x="40" y="200"/>
                </a:lnTo>
                <a:lnTo>
                  <a:pt x="50" y="130"/>
                </a:lnTo>
                <a:lnTo>
                  <a:pt x="0" y="80"/>
                </a:lnTo>
                <a:lnTo>
                  <a:pt x="70" y="70"/>
                </a:lnTo>
                <a:close/>
              </a:path>
            </a:pathLst>
          </a:custGeom>
          <a:solidFill>
            <a:srgbClr val="FFD700"/>
          </a:solidFill>
          <a:ln w="19050">
            <a:solidFill>
              <a:srgbClr val="B8860B"/>
            </a:solidFill>
          </a:ln>
        </p:spPr>
      </p:sp>
      <p:sp>
        <p:nvSpPr>
          <p:cNvPr id="101" name="CustomCurve"/>
          <p:cNvSpPr/>
          <p:nvPr/>
        </p:nvSpPr>
        <p:spPr>
          <a:xfrm>
            <a:off x="2743200" y="457200"/>
            <a:ext cx="1828800" cy="1828800"/>
          </a:xfrm>
          <a:custGeom>
            <a:avLst/>
            <a:gdLst/>
            <a:pathLst>
              <a:path w="100" h="100">
                <a:moveTo>
                  <a:pt x="0" y="100"/>
                </a:moveTo>
                <a:cubicBezTo>
                  <a:pt x="0" y="0"/>
                  <a:pt x="100" y="0"/>
                  <a:pt x="100" y="100"/>
                </a:cubicBezTo>
                <a:close/>
              </a:path>
            </a:pathLst>
          </a:custGeom>
          <a:solidFill>
            <a:srgbClr val="87CEEB"/>
          </a:solidFill>
          <a:ln w="12700">
            <a:solidFill>
              <a:srgbClr val="4169E1"/>
            </a:solidFill>
          </a:ln>
        </p:spPr>
      </p:sp>
      <p:sp>
        <p:nvSpPr>
          <p:cNvPr id="102" name="CustomGuide"/>
          <p:cNvSpPr/>
          <p:nvPr/>
        </p:nvSpPr>
        <p:spPr>
          <a:xfrm>
            <a:off x="5029200" y="457200"/>
            <a:ext cx="1828800" cy="1828800"/>
          </a:xfrm>
          <a:custGeom>
            <a:avLst>
              <a:gd name="adj" fmla="val 50000"/>
            </a:avLst>
            <a:gdLst>
              <a:gd name="x1" fmla="*/ w adj 100000"/>
              <a:gd name="y1" fmla="*/ h adj 100000"/>
            </a:gdLst>
            <a:pathLst>
              <a:path>
                <a:moveTo>
                  <a:pt x="0" y="0"/>
                </a:moveTo>
                <a:lnTo>
                  <a:pt x="x1" y="0"/>
                </a:lnTo>
                <a:lnTo>
                  <a:pt x="x1" y="y1"/>
                </a:lnTo>
                <a:lnTo>
                  <a:pt x="0" y="y1"/>
                </a:lnTo>
                <a:close/>
              </a:path>
            </a:pathLst>
          </a:custGeom>
          <a:solidFill>
            <a:srgbClr val="98FB98"/>
          </a:solidFill>
          <a:ln w="12700">
            <a:solidFill>
              <a:srgbClr val="228B22"/>
            </a:solidFill>
          </a:ln>
        </p:spPr>
      </p:sp>
      <p:sp>
        <p:nvSpPr>
          <p:cNvPr id="103" name="TextBox 102"/>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Custom geometry (a:custGeom): freeform star, bezier curve, guide-based rect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1" name="Gear6"/>
          <p:cNvSpPr/>
          <p:nvPr/>
        </p:nvSpPr>
        <p:spPr>
          <a:xfrm>
            <a:off x="457200" y="457200"/>
            <a:ext cx="2286000" cy="2286000"/>
          </a:xfrm>
          <a:prstGeom prst="gear6">
            <a:avLst/>
          </a:prstGeom>
          <a:solidFill>
            <a:srgbClr val="4472C4"/>
          </a:solidFill>
          <a:ln w="12700">
            <a:solidFill>
              <a:srgbClr val="2F528F"/>
            </a:solidFill>
          </a:ln>
        </p:spPr>
      </p:sp>
      <p:sp>
        <p:nvSpPr>
          <p:cNvPr id="202" name="Gear9"/>
          <p:cNvSpPr/>
          <p:nvPr/>
        </p:nvSpPr>
        <p:spPr>
          <a:xfrm>
            <a:off x="3429000" y="457200"/>
            <a:ext cx="2286000" cy="2286000"/>
          </a:xfrm>
          <a:prstGeom prst="gear9">
            <a:avLst/>
          </a:prstGeom>
          <a:solidFill>
            <a:srgbClr val="ED7D31"/>
          </a:solidFill>
          <a:ln w="12700">
            <a:solidFill>
              <a:srgbClr val="AE5A21"/>
            </a:solidFill>
          </a:ln>
        </p:spPr>
      </p:sp>
      <p:sp>
        <p:nvSpPr>
          <p:cNvPr id="203" name="Gear6Deep"/>
          <p:cNvSpPr/>
          <p:nvPr/>
        </p:nvSpPr>
        <p:spPr>
          <a:xfrm>
            <a:off x="6400800" y="457200"/>
            <a:ext cx="2286000" cy="2286000"/>
          </a:xfrm>
          <a:prstGeom prst="gear6">
            <a:avLst>
              <a:gd name="adj" fmla="val 50000"/>
            </a:avLst>
          </a:prstGeom>
          <a:solidFill>
            <a:srgbClr val="70AD47"/>
          </a:solidFill>
          <a:ln w="12700">
            <a:solidFill>
              <a:srgbClr val="507E32"/>
            </a:solidFill>
          </a:ln>
        </p:spPr>
      </p:sp>
      <p:sp>
        <p:nvSpPr>
          <p:cNvPr id="204" name="TextBox 2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Gear shapes: gear6 (default), gear9 (default), gear6 (adj=50000 deeper teeth)</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Triangle"/>
          <p:cNvSpPr/>
          <p:nvPr/>
        </p:nvSpPr>
        <p:spPr>
          <a:xfrm>
            <a:off x="457200" y="457200"/>
            <a:ext cx="2286000" cy="2286000"/>
          </a:xfrm>
          <a:prstGeom prst="triangle">
            <a:avLst/>
          </a:prstGeom>
          <a:solidFill>
            <a:srgbClr val="FFD700"/>
          </a:solidFill>
          <a:ln w="12700">
            <a:solidFill>
              <a:srgbClr val="B8860B"/>
            </a:solidFill>
          </a:ln>
        </p:spPr>
        <p:txBody>
          <a:bodyPr anchor="ctr"/>
          <a:lstStyle/>
          <a:p>
            <a:pPr algn="ctr"/>
            <a:r>
              <a:rPr lang="en-US" sz="1400"/>
              <a:t>Text in Triangle</a:t>
            </a:r>
          </a:p>
        </p:txBody>
      </p:sp>
      <p:sp>
        <p:nvSpPr>
          <p:cNvPr id="302" name="Diamond"/>
          <p:cNvSpPr/>
          <p:nvPr/>
        </p:nvSpPr>
        <p:spPr>
          <a:xfrm>
            <a:off x="3429000" y="457200"/>
            <a:ext cx="2286000" cy="2286000"/>
          </a:xfrm>
          <a:prstGeom prst="diamond">
            <a:avLst/>
          </a:prstGeom>
          <a:solidFill>
            <a:srgbClr val="87CEEB"/>
          </a:solidFill>
          <a:ln w="12700">
            <a:solidFill>
              <a:srgbClr val="4682B4"/>
            </a:solidFill>
          </a:ln>
        </p:spPr>
        <p:txBody>
          <a:bodyPr anchor="ctr"/>
          <a:lstStyle/>
          <a:p>
            <a:pPr algn="ctr"/>
            <a:r>
              <a:rPr lang="en-US" sz="1400"/>
              <a:t>Diamond</a:t>
            </a:r>
          </a:p>
        </p:txBody>
      </p:sp>
      <p:sp>
        <p:nvSpPr>
          <p:cNvPr id="303" name="RightArrow"/>
          <p:cNvSpPr/>
          <p:nvPr/>
        </p:nvSpPr>
        <p:spPr>
          <a:xfrm>
            <a:off x="6400800" y="914400"/>
            <a:ext cx="2743200" cy="1371600"/>
          </a:xfrm>
          <a:prstGeom prst="rightArrow">
            <a:avLst/>
          </a:prstGeom>
          <a:solidFill>
            <a:srgbClr val="FF6347"/>
          </a:solidFill>
          <a:ln w="12700">
            <a:solidFill>
              <a:srgbClr val="8B0000"/>
            </a:solidFill>
          </a:ln>
        </p:spPr>
        <p:txBody>
          <a:bodyPr anchor="ctr"/>
          <a:lstStyle/>
          <a:p>
            <a:pPr algn="ctr"/>
            <a:r>
              <a:rPr lang="en-US" sz="1400"/>
              <a:t>Arrow</a:t>
            </a:r>
          </a:p>
        </p:txBody>
      </p:sp>
      <p:sp>
        <p:nvSpPr>
          <p:cNvPr id="304" name="TextBox 303"/>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Text rectangles: triangle (text in lower half), diamond (text inscribed), right arrow (text in shaft)</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Rect1"/>
          <p:cNvSpPr/>
          <p:nvPr/>
        </p:nvSpPr>
        <p:spPr>
          <a:xfrm>
            <a:off x="914400" y="914400"/>
            <a:ext cx="1828800" cy="1371600"/>
          </a:xfrm>
          <a:prstGeom prst="rect">
            <a:avLst/>
          </a:prstGeom>
          <a:solidFill>
            <a:srgbClr val="4472C4"/>
          </a:solidFill>
        </p:spPr>
        <p:txBody>
          <a:bodyPr anchor="ctr"/>
          <a:lstStyle/>
          <a:p>
            <a:pPr algn="ctr"/>
            <a:r>
              <a:rPr lang="en-US" sz="1400">
                <a:solidFill>
                  <a:srgbClr val="FFFFFF"/>
                </a:solidFill>
              </a:rPr>
              <a:t>Start</a:t>
            </a:r>
          </a:p>
        </p:txBody>
      </p:sp>
      <p:sp>
        <p:nvSpPr>
          <p:cNvPr id="402" name="Rect2"/>
          <p:cNvSpPr/>
          <p:nvPr/>
        </p:nvSpPr>
        <p:spPr>
          <a:xfrm>
            <a:off x="5486400" y="914400"/>
            <a:ext cx="1828800" cy="1371600"/>
          </a:xfrm>
          <a:prstGeom prst="rect">
            <a:avLst/>
          </a:prstGeom>
          <a:solidFill>
            <a:srgbClr val="ED7D31"/>
          </a:solidFill>
        </p:spPr>
        <p:txBody>
          <a:bodyPr anchor="ctr"/>
          <a:lstStyle/>
          <a:p>
            <a:pPr algn="ctr"/>
            <a:r>
              <a:rPr lang="en-US" sz="1400">
                <a:solidFill>
                  <a:srgbClr val="FFFFFF"/>
                </a:solidFill>
              </a:rPr>
              <a:t>End</a:t>
            </a:r>
          </a:p>
        </p:txBody>
      </p:sp>
      <p:cxnSp>
        <p:nvCxnSpPr>
          <p:cNvPr id="403" name="Connector"/>
          <p:cNvCxnSpPr>
            <a:stCxn id="401" idx="3"/>
            <a:endCxn id="402" idx="1"/>
          </p:cNvCxnSpPr>
          <p:nvPr/>
        </p:nvCxnSpPr>
        <p:spPr>
          <a:xfrm>
            <a:off x="2743200" y="1600200"/>
            <a:ext cx="2743200" cy="0"/>
          </a:xfrm>
          <a:prstGeom prst="straightConnector1">
            <a:avLst/>
          </a:prstGeom>
          <a:ln w="25400">
            <a:solidFill>
              <a:srgbClr val="333333"/>
            </a:solidFill>
            <a:tailEnd type="triangle"/>
          </a:ln>
        </p:spPr>
      </p:cxnSp>
      <p:sp>
        <p:nvSpPr>
          <p:cNvPr id="404" name="CustomWithCxn"/>
          <p:cNvSpPr/>
          <p:nvPr/>
        </p:nvSpPr>
        <p:spPr>
          <a:xfrm>
            <a:off x="3200400" y="3429000"/>
            <a:ext cx="2286000" cy="1828800"/>
          </a:xfrm>
          <a:custGeom>
            <a:avLst/>
            <a:gdLst/>
            <a:cxnLst>
              <a:cxn ang="0">
                <a:pos x="r" y="vc"/>
              </a:cxn>
              <a:cxn ang="5400000">
                <a:pos x="hc" y="b"/>
              </a:cxn>
              <a:cxn ang="10800000">
                <a:pos x="l" y="vc"/>
              </a:cxn>
              <a:cxn ang="16200000">
                <a:pos x="hc" y="t"/>
              </a:cxn>
            </a:cxnLst>
            <a:rect l="l" t="t" r="r" b="b"/>
            <a:pathLst>
              <a:path w="100" h="100">
                <a:moveTo>
                  <a:pt x="50" y="0"/>
                </a:moveTo>
                <a:lnTo>
                  <a:pt x="100" y="50"/>
                </a:lnTo>
                <a:lnTo>
                  <a:pt x="50" y="100"/>
                </a:lnTo>
                <a:lnTo>
                  <a:pt x="0" y="50"/>
                </a:lnTo>
                <a:close/>
              </a:path>
            </a:pathLst>
          </a:custGeom>
          <a:solidFill>
            <a:srgbClr val="9370DB"/>
          </a:solidFill>
          <a:ln w="12700">
            <a:solidFill>
              <a:srgbClr val="4B0082"/>
            </a:solidFill>
          </a:ln>
        </p:spPr>
      </p:sp>
      <p:sp>
        <p:nvSpPr>
          <p:cNvPr id="405" name="TextBox 404"/>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Connection points: connector with stCxn/endCxn refs, custom geom with a:cxnLst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100" name="Table41"/>
          <p:cNvGraphicFramePr>
            <a:graphicFrameLocks noGrp="1"/>
          </p:cNvGraphicFramePr>
          <p:nvPr/>
        </p:nvGraphicFramePr>
        <p:xfrm>
          <a:off x="457200" y="457200"/>
          <a:ext cx="8229600" cy="4572000"/>
        </p:xfrm>
        <a:graphic>
          <a:graphicData uri="http://schemas.openxmlformats.org/drawingml/2006/table">
            <a:tbl>
              <a:tblPr firstRow="1" bandRow="1"/>
              <a:tblGrid>
                <a:gridCol w="2743200"/>
                <a:gridCol w="2743200"/>
                <a:gridCol w="2743200"/>
              </a:tblGrid>
              <!-- Row 1: horizontal merge (gridSpan=2) + custom borders -->
              <a:tr h="914400">
                <a:tc gridSpan="2">
                  <a:txBody>
                    <a:bodyPr/>
                    <a:lstStyle/>
                    <a:p>
                      <a:r>
                        <a:rPr lang="en-US" sz="1400" b="1"/>
                        <a:t>Merged 2 cols</a:t>
                      </a:r>
                    </a:p>
                  </a:txBody>
                  <a:tcPr marL="182880" marR="91440" marT="91440" marB="45720" anchor="ctr">
                    <a:lnL w="25400">
                      <a:solidFill>
                        <a:srgbClr val="FF0000"/>
                      </a:solidFill>
                    </a:lnL>
                    <a:lnR w="25400">
                      <a:solidFill>
                        <a:srgbClr val="0000FF"/>
                      </a:solidFill>
                    </a:lnR>
                    <a:lnT w="38100">
                      <a:solidFill>
                        <a:srgbClr val="00AA00"/>
                      </a:solidFill>
                    </a:lnT>
                    <a:lnB w="12700">
                      <a:solidFill>
                        <a:srgbClr val="FF8800"/>
                      </a:solidFill>
                    </a:lnB>
                    <a:solidFill>
                      <a:srgbClr val="DDEEFF"/>
                    </a:solidFill>
                  </a:tcPr>
                </a:tc>
                <a:tc>
                  <a:txBody>
                    <a:bodyPr/>
                    <a:lstStyle/>
                    <a:p>
                      <a:endParaRPr lang="en-US"/>
                    </a:p>
                  </a:txBody>
                  <a:tcPr/>
                </a:tc>
                <a:tc>
                  <a:txBody>
                    <a:bodyPr/>
                    <a:lstStyle/>
                    <a:p>
                      <a:r>
                        <a:rPr lang="en-US" sz="1200"/>
                        <a:t>Normal cell</a:t>
                      </a:r>
                    </a:p>
                  </a:txBody>
                  <a:tcPr anchor="b">
                    <a:lnL w="12700">
                      <a:solidFill>
                        <a:srgbClr val="333333"/>
                      </a:solidFill>
                    </a:lnL>
                    <a:lnR w="12700">
                      <a:solidFill>
                        <a:srgbClr val="333333"/>
                      </a:solidFill>
                    </a:lnR>
                    <a:lnT w="12700">
                      <a:solidFill>
                        <a:srgbClr val="333333"/>
                      </a:solidFill>
                    </a:lnT>
                    <a:lnB w="12700">
                      <a:solidFill>
                        <a:srgbClr val="333333"/>
                      </a:solidFill>
                    </a:lnB>
                    <a:solidFill>
                      <a:srgbClr val="FFFFDD"/>
                    </a:solidFill>
                  </a:tcPr>
                </a:tc>
              </a:tr>
              <!-- Row 2: vertical merge start (rowSpan=2) + noFill border -->
              <a:tr h="914400">
                <a:tc rowSpan="2">
                  <a:txBody>
                    <a:bodyPr/>
                    <a:lstStyle/>
                    <a:p>
                      <a:r>
                        <a:rPr lang="en-US" sz="1400" b="1"/>
                        <a:t>Merged 2 rows</a:t>
                      </a:r>
                    </a:p>
                  </a:txBody>
                  <a:tcPr anchor="ctr">
                    <a:lnL w="19050">
                      <a:solidFill>
                        <a:srgbClr val="9900CC"/>
                      </a:solidFill>
                    </a:lnL>
                    <a:lnR w="19050">
                      <a:solidFill>
                        <a:srgbClr val="9900CC"/>
                      </a:solidFill>
                    </a:lnR>
                    <a:lnT w="19050">
                      <a:solidFill>
                        <a:srgbClr val="9900CC"/>
                      </a:solidFill>
                    </a:lnT>
                    <a:lnB w="19050">
                      <a:solidFill>
                        <a:srgbClr val="9900CC"/>
                      </a:solidFill>
                    </a:lnB>
                    <a:solidFill>
                      <a:srgbClr val="F0E0FF"/>
                    </a:solidFill>
                  </a:tcPr>
                </a:tc>
                <a:tc>
                  <a:txBody>
                    <a:bodyPr/>
                    <a:lstStyle/>
                    <a:p>
                      <a:r>
                        <a:rPr lang="en-US" sz="1200"/>
                        <a:t>Cell B2</a:t>
                      </a:r>
                    </a:p>
                  </a:txBody>
                  <a:tcPr>
                    <a:lnL w="12700">
                      <a:noFill/>
                    </a:lnL>
                    <a:lnR w="12700">
                      <a:solidFill>
                        <a:srgbClr val="666666"/>
                      </a:solidFill>
                    </a:lnR>
                    <a:lnT w="12700">
                      <a:solidFill>
                        <a:srgbClr val="666666"/>
                      </a:solidFill>
                    </a:lnT>
                    <a:lnB w="12700">
                      <a:solidFill>
                        <a:srgbClr val="666666"/>
                      </a:solidFill>
                    </a:lnB>
                  </a:tcPr>
                </a:tc>
                <a:tc>
                  <a:txBody>
                    <a:bodyPr/>
                    <a:lstStyle/>
                    <a:p>
                      <a:r>
                        <a:rPr lang="en-US" sz="1200"/>
                        <a:t>Cell C2</a:t>
                      </a:r>
                    </a:p>
                  </a:txBody>
                  <a:tcPr>
                    <a:lnL w="12700">
                      <a:solidFill>
                        <a:srgbClr val="666666"/>
                      </a:solidFill>
                    </a:lnL>
                    <a:lnR w="12700">
                      <a:solidFill>
                        <a:srgbClr val="666666"/>
                      </a:solidFill>
                    </a:lnR>
                    <a:lnT w="12700">
                      <a:solidFill>
                        <a:srgbClr val="666666"/>
                      </a:solidFill>
                    </a:lnT>
                    <a:lnB w="12700">
                      <a:solidFill>
                        <a:srgbClr val="666666"/>
                      </a:solidFill>
                    </a:lnB>
                  </a:tcPr>
                </a:tc>
              </a:tr>
              <!-- Row 3: vertical merge continuation -->
              <a:tr h="914400">
                <a:tc vMerge="1">
                  <a:txBody>
                    <a:bodyPr/>
                    <a:lstStyle/>
                    <a:p>
                      <a:endParaRPr lang="en-US"/>
                    </a:p>
                  </a:txBody>
                  <a:tcPr/>
                </a:tc>
                <a:tc>
                  <a:txBody>
                    <a:bodyPr/>
                    <a:lstStyle/>
                    <a:p>
                      <a:r>
                        <a:rPr lang="en-US" sz="1200"/>
                        <a:t>Cell B3 (large margin)</a:t>
                      </a:r>
                    </a:p>
                  </a:txBody>
                  <a:tcPr marL="274320" marT="137160">
                    <a:lnL w="12700">
                      <a:solidFill>
                        <a:srgbClr val="666666"/>
                      </a:solidFill>
                    </a:lnL>
                    <a:lnR w="12700">
                      <a:solidFill>
                        <a:srgbClr val="666666"/>
                      </a:solidFill>
                    </a:lnR>
                    <a:lnT w="12700">
                      <a:solidFill>
                        <a:srgbClr val="666666"/>
                      </a:solidFill>
                    </a:lnT>
                    <a:lnB w="12700">
                      <a:solidFill>
                        <a:srgbClr val="666666"/>
                      </a:solidFill>
                    </a:lnB>
                  </a:tcPr>
                </a:tc>
                <a:tc>
                  <a:txBody>
                    <a:bodyPr/>
                    <a:lstStyle/>
                    <a:p>
                      <a:r>
                        <a:rPr lang="en-US" sz="1200"/>
                        <a:t>Cell C3 (top anchor)</a:t>
                      </a:r>
                    </a:p>
                  </a:txBody>
                  <a:tcPr anchor="t">
                    <a:lnL w="12700">
                      <a:solidFill>
                        <a:srgbClr val="666666"/>
                      </a:solidFill>
                    </a:lnL>
                    <a:lnR w="12700">
                      <a:solidFill>
                        <a:srgbClr val="666666"/>
                      </a:solidFill>
                    </a:lnR>
                    <a:lnT w="12700">
                      <a:solidFill>
                        <a:srgbClr val="666666"/>
                      </a:solidFill>
                    </a:lnT>
                    <a:lnB w="12700">
                      <a:solidFill>
                        <a:srgbClr val="666666"/>
                      </a:solidFill>
                    </a:lnB>
                    <a:solidFill>
                      <a:srgbClr val="EEFFEE"/>
                    </a:solidFill>
                  </a:tcPr>
                </a:tc>
              </a:tr>
            </a:tbl>
          </a:graphicData>
        </a:graphic>
      </p:graphicFrame>
      <p:sp>
        <p:nvSpPr>
          <p:cNvPr id="101" name="TextBox 1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cell merge (gridSpan/rowSpan/vMerge) + borders + margins + anchor</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Table42"/>
          <p:cNvGraphicFramePr>
            <a:graphicFrameLocks noGrp="1"/>
          </p:cNvGraphicFramePr>
          <p:nvPr/>
        </p:nvGraphicFramePr>
        <p:xfrm>
          <a:off x="457200" y="457200"/>
          <a:ext cx="8229600" cy="3657600"/>
        </p:xfrm>
        <a:graphic>
          <a:graphicData uri="http://schemas.openxmlformats.org/drawingml/2006/table">
            <a:tbl>
              <a:tblPr firstRow="1" lastRow="1" firstCol="0" lastCol="0" bandRow="1" bandCol="0" tblStyleId="{5C22544A-7EE6-4342-B048-85BDC9FD1C3A}"/>
              <a:tblGrid>
                <a:gridCol w="2743200"/>
                <a:gridCol w="2743200"/>
                <a:gridCol w="2743200"/>
              </a:tblGrid>
              <!-- Row 1: diagonal borders -->
              <a:tr h="914400">
                <a:tc>
                  <a:txBody>
                    <a:bodyPr/>
                    <a:lstStyle/>
                    <a:p>
                      <a:r>
                        <a:rPr lang="en-US" sz="1200" b="1"/>
                        <a:t>TL-BR diagonal</a:t>
                      </a:r>
                    </a:p>
                  </a:txBody>
                  <a:tcPr>
                    <a:lnTlToBr w="19050">
                      <a:solidFill>
                        <a:srgbClr val="FF0000"/>
                      </a:solidFill>
                    </a:lnTlToBr>
                    <a:solidFill>
                      <a:srgbClr val="FFF0F0"/>
                    </a:solidFill>
                  </a:tcPr>
                </a:tc>
                <a:tc>
                  <a:txBody>
                    <a:bodyPr/>
                    <a:lstStyle/>
                    <a:p>
                      <a:r>
                        <a:rPr lang="en-US" sz="1200" b="1"/>
                        <a:t>BL-TR diagonal</a:t>
                      </a:r>
                    </a:p>
                  </a:txBody>
                  <a:tcPr>
                    <a:lnBlToTr w="19050">
                      <a:solidFill>
                        <a:srgbClr val="0000FF"/>
                      </a:solidFill>
                    </a:lnBlToTr>
                    <a:solidFill>
                      <a:srgbClr val="F0F0FF"/>
                    </a:solidFill>
                  </a:tcPr>
                </a:tc>
                <a:tc>
                  <a:txBody>
                    <a:bodyPr/>
                    <a:lstStyle/>
                    <a:p>
                      <a:r>
                        <a:rPr lang="en-US" sz="1200" b="1"/>
                        <a:t>Both diagonals</a:t>
                      </a:r>
                    </a:p>
                  </a:txBody>
                  <a:tcPr>
                    <a:lnTlToBr w="12700">
                      <a:solidFill>
                        <a:srgbClr val="008800"/>
                      </a:solidFill>
                    </a:lnTlToBr>
                    <a:lnBlToTr w="12700">
                      <a:solidFill>
                        <a:srgbClr val="880000"/>
                      </a:solidFill>
                    </a:lnBlToTr>
                    <a:solidFill>
                      <a:srgbClr val="FFFFF0"/>
                    </a:solidFill>
                  </a:tcPr>
                </a:tc>
              </a:tr>
              <!-- Row 2: band row test -->
              <a:tr h="914400">
                <a:tc>
                  <a:txBody>
                    <a:bodyPr/>
                    <a:lstStyle/>
                    <a:p>
                      <a:r>
                        <a:rPr lang="en-US" sz="1200"/>
                        <a:t>Band row 1</a:t>
                      </a:r>
                    </a:p>
                  </a:txBody>
                  <a:tcPr/>
                </a:tc>
                <a:tc>
                  <a:txBody>
                    <a:bodyPr/>
                    <a:lstStyle/>
                    <a:p>
                      <a:r>
                        <a:rPr lang="en-US" sz="1200"/>
                        <a:t>Normal</a:t>
                      </a:r>
                    </a:p>
                  </a:txBody>
                  <a:tcPr/>
                </a:tc>
                <a:tc>
                  <a:txBody>
                    <a:bodyPr/>
                    <a:lstStyle/>
                    <a:p>
                      <a:r>
                        <a:rPr lang="en-US" sz="1200"/>
                        <a:t>Normal</a:t>
                      </a:r>
                    </a:p>
                  </a:txBody>
                  <a:tcPr/>
                </a:tc>
              </a:tr>
              <!-- Row 3: band row test -->
              <a:tr h="914400">
                <a:tc>
                  <a:txBody>
                    <a:bodyPr/>
                    <a:lstStyle/>
                    <a:p>
                      <a:r>
                        <a:rPr lang="en-US" sz="1200"/>
                        <a:t>Band row 2</a:t>
                      </a:r>
                    </a:p>
                  </a:txBody>
                  <a:tcPr/>
                </a:tc>
                <a:tc>
                  <a:txBody>
                    <a:bodyPr/>
                    <a:lstStyle/>
                    <a:p>
                      <a:r>
                        <a:rPr lang="en-US" sz="1200"/>
                        <a:t>Normal</a:t>
                      </a:r>
                    </a:p>
                  </a:txBody>
                  <a:tcPr/>
                </a:tc>
                <a:tc>
                  <a:txBody>
                    <a:bodyPr/>
                    <a:lstStyle/>
                    <a:p>
                      <a:r>
                        <a:rPr lang="en-US" sz="1200"/>
                        <a:t>Last row cell</a:t>
                      </a:r>
                    </a:p>
                  </a:txBody>
                  <a:tcPr/>
                </a:tc>
              </a:tr>
            </a:tbl>
          </a:graphicData>
        </a:graphic>
      </p:graphicFrame>
      <p:sp>
        <p:nvSpPr>
          <p:cNvPr id="201" name="TextBox 200"/>
          <p:cNvSpPr txBox="1"/>
          <p:nvPr/>
        </p:nvSpPr>
        <p:spPr>
          <a:xfrm>
            <a:off x="274320" y="5943600"/>
            <a:ext cx="8229600" cy="457200"/>
          </a:xfrm>
          <a:prstGeom prst="rect">
            <a:avLst/>
          </a:prstGeom>
          <a:noFill/>
        </p:spPr>
        <p:txBody>
          <a:bodyPr wrap="none">
            <a:spAutoFit/>
          </a:bodyPr>
          <a:lstStyle/>
          <a:p>
            <a:pPr>
              <a:defRPr sz="1000">
                <a:solidFill>
                  <a:srgbClr val="646464"/>
                </a:solidFill>
              </a:defRPr>
            </a:pPr>
            <a:r>
              <a:t>Table: diagonal borders (lnTlToBr/lnBlToTr) + tblPr flags + tblStyleId</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457200" y="4114800"/>
            <a:ext cx="2743200" cy="2286000"/>
          </a:xfrm>
          <a:prstGeom prst="rect">
            <a:avLst/>
          </a:prstGeom>
          <a:blipFill>
            <a:blip r:embed="rId2"/>
            <a:srcRect l="0" t="50000" r="0" b="0"/>
            <a:stretch>
              <a:fillRect/>
            </a:stretch>
          </a:blipFill>
        </p:spPr>
        <p:style>
          <a:lnRef idx="1">
            <a:schemeClr val="accent1"/>
          </a:lnRef>
          <a:fillRef idx="3">
            <a:schemeClr val="accent1"/>
          </a:fillRef>
          <a:effectRef idx="2">
            <a:schemeClr val="accent1"/>
          </a:effectRef>
          <a:fontRef idx="minor">
            <a:schemeClr val="lt1"/>
          </a:fontRef>
        </p:style>
        <p:txBody>
          <a:bodyPr rtlCol="0" anchor="ctr"/>
          <a:lstStyle/>
          <a:p/>
        </p:txBody>
      </p:sp>
      <p:pic>
        <p:nvPicPr>
          <p:cNvPr id="100" name="CropPic"/>
          <p:cNvPicPr>
            <a:picLocks noChangeAspect="1"/>
          </p:cNvPicPr>
          <p:nvPr/>
        </p:nvPicPr>
        <p:blipFill>
          <a:blip r:embed="rId2"/>
          <a:srcRect l="25000" t="25000" r="25000" b="25000"/>
          <a:stretch>
            <a:fillRect/>
          </a:stretch>
        </p:blipFill>
        <p:spPr>
          <a:xfrm>
            <a:off x="457200" y="914400"/>
            <a:ext cx="2743200" cy="2743200"/>
          </a:xfrm>
          <a:prstGeom prst="rect">
            <a:avLst/>
          </a:prstGeom>
        </p:spPr>
      </p:pic>
      <p:pic>
        <p:nvPicPr>
          <p:cNvPr id="101" name="AlphaPic"/>
          <p:cNvPicPr>
            <a:picLocks noChangeAspect="1"/>
          </p:cNvPicPr>
          <p:nvPr/>
        </p:nvPicPr>
        <p:blipFill>
          <a:blip r:embed="rId2">
            <a:alphaModFix amt="50000"/>
          </a:blip>
          <a:stretch>
            <a:fillRect/>
          </a:stretch>
        </p:blipFill>
        <p:spPr>
          <a:xfrm>
            <a:off x="3657600" y="914400"/>
            <a:ext cx="2743200" cy="2743200"/>
          </a:xfrm>
          <a:prstGeom prst="rect">
            <a:avLst/>
          </a:prstGeom>
        </p:spPr>
      </p:pic>
      <p:pic>
        <p:nvPicPr>
          <p:cNvPr id="102" name="CropAlphaPic"/>
          <p:cNvPicPr>
            <a:picLocks noChangeAspect="1"/>
          </p:cNvPicPr>
          <p:nvPr/>
        </p:nvPicPr>
        <p:blipFill>
          <a:blip r:embed="rId2">
            <a:alphaModFix amt="75000"/>
          </a:blip>
          <a:srcRect l="50000"/>
          <a:stretch>
            <a:fillRect/>
          </a:stretch>
        </p:blipFill>
        <p:spPr>
          <a:xfrm>
            <a:off x="6858000" y="914400"/>
            <a:ext cx="2286000" cy="2743200"/>
          </a:xfrm>
          <a:prstGeom prst="rect">
            <a:avLst/>
          </a:prstGeom>
        </p:spPr>
      </p:pic>
      <p:sp>
        <p:nvSpPr>
          <p:cNvPr id="103" name="TextBox 102"/>
          <p:cNvSpPr txBox="1"/>
          <p:nvPr/>
        </p:nvSpPr>
        <p:spPr>
          <a:xfrm>
            <a:off x="274320" y="182880"/>
            <a:ext cx="8229600" cy="457200"/>
          </a:xfrm>
          <a:prstGeom prst="rect">
            <a:avLst/>
          </a:prstGeom>
          <a:noFill/>
        </p:spPr>
        <p:txBody>
          <a:bodyPr wrap="none">
            <a:spAutoFit/>
          </a:bodyPr>
          <a:lstStyle/>
          <a:p>
            <a:pPr>
              <a:defRPr sz="1800" b="1"/>
            </a:pPr>
            <a:r>
              <a:t>Slide 43: Image crop (srcRect) + alpha (alphaModFix)</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00" name="ExtPic1"/>
          <p:cNvPicPr>
            <a:picLocks noChangeAspect="1"/>
          </p:cNvPicPr>
          <p:nvPr/>
        </p:nvPicPr>
        <p:blipFill>
          <a:blip r:embed="rId2"/>
          <a:stretch>
            <a:fillRect/>
          </a:stretch>
        </p:blipFill>
        <p:spPr>
          <a:xfrm>
            <a:off x="457200" y="914400"/>
            <a:ext cx="3657600" cy="3657600"/>
          </a:xfrm>
          <a:prstGeom prst="rect">
            <a:avLst/>
          </a:prstGeom>
        </p:spPr>
      </p:pic>
      <p:pic>
        <p:nvPicPr>
          <p:cNvPr id="201" name="ExtPic2"/>
          <p:cNvPicPr>
            <a:picLocks noChangeAspect="1"/>
          </p:cNvPicPr>
          <p:nvPr/>
        </p:nvPicPr>
        <p:blipFill>
          <a:blip r:embed="rId3"/>
          <a:stretch>
            <a:fillRect/>
          </a:stretch>
        </p:blipFill>
        <p:spPr>
          <a:xfrm>
            <a:off x="4572000" y="914400"/>
            <a:ext cx="2743200" cy="3657600"/>
          </a:xfrm>
          <a:prstGeom prst="rect">
            <a:avLst/>
          </a:prstGeom>
        </p:spPr>
      </p:pic>
      <p:sp>
        <p:nvSpPr>
          <p:cNvPr id="202" name="TextBox 201"/>
          <p:cNvSpPr txBox="1"/>
          <p:nvPr/>
        </p:nvSpPr>
        <p:spPr>
          <a:xfrm>
            <a:off x="274320" y="182880"/>
            <a:ext cx="8229600" cy="457200"/>
          </a:xfrm>
          <a:prstGeom prst="rect">
            <a:avLst/>
          </a:prstGeom>
          <a:noFill/>
        </p:spPr>
        <p:txBody>
          <a:bodyPr wrap="none">
            <a:spAutoFit/>
          </a:bodyPr>
          <a:lstStyle/>
          <a:p>
            <a:pPr>
              <a:defRPr sz="1800" b="1"/>
            </a:pPr>
            <a:r>
              <a:t>Slide 44: External image reference (TargetMode=External)</a:t>
            </a:r>
          </a:p>
        </p:txBody>
      </p:sp>
      <p:sp>
        <p:nvSpPr>
          <p:cNvPr id="203" name="TextBox 202"/>
          <p:cNvSpPr txBox="1"/>
          <p:nvPr/>
        </p:nvSpPr>
        <p:spPr>
          <a:xfrm>
            <a:off x="457200" y="4754880"/>
            <a:ext cx="8229600" cy="1371600"/>
          </a:xfrm>
          <a:prstGeom prst="rect">
            <a:avLst/>
          </a:prstGeom>
          <a:noFill/>
        </p:spPr>
        <p:txBody>
          <a:bodyPr wrap="none">
            <a:spAutoFit/>
          </a:bodyPr>
          <a:lstStyle/>
          <a:p>
            <a:pPr>
              <a:defRPr sz="1200"/>
            </a:pPr>
            <a:r>
              <a:t>Left: Wikimedia Commons PNG</a:t>
            </a:r>
            <a:br/>
            <a:r>
              <a:t>Right: picsum.photos (id=237)</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BrightPic"/>
          <p:cNvPicPr>
            <a:picLocks noChangeAspect="1"/>
          </p:cNvPicPr>
          <p:nvPr/>
        </p:nvPicPr>
        <p:blipFill>
          <a:blip r:embed="rId2">
            <a:lum bright="50000"/>
          </a:blip>
          <a:stretch>
            <a:fillRect/>
          </a:stretch>
        </p:blipFill>
        <p:spPr>
          <a:xfrm>
            <a:off x="457200" y="914400"/>
            <a:ext cx="2286000" cy="2286000"/>
          </a:xfrm>
          <a:prstGeom prst="rect">
            <a:avLst/>
          </a:prstGeom>
        </p:spPr>
      </p:pic>
      <p:pic>
        <p:nvPicPr>
          <p:cNvPr id="301" name="ContrastPic"/>
          <p:cNvPicPr>
            <a:picLocks noChangeAspect="1"/>
          </p:cNvPicPr>
          <p:nvPr/>
        </p:nvPicPr>
        <p:blipFill>
          <a:blip r:embed="rId2">
            <a:lum contrast="-30000"/>
          </a:blip>
          <a:stretch>
            <a:fillRect/>
          </a:stretch>
        </p:blipFill>
        <p:spPr>
          <a:xfrm>
            <a:off x="3429000" y="914400"/>
            <a:ext cx="2286000" cy="2286000"/>
          </a:xfrm>
          <a:prstGeom prst="rect">
            <a:avLst/>
          </a:prstGeom>
        </p:spPr>
      </p:pic>
      <p:pic>
        <p:nvPicPr>
          <p:cNvPr id="302" name="BrightContrastPic"/>
          <p:cNvPicPr>
            <a:picLocks noChangeAspect="1"/>
          </p:cNvPicPr>
          <p:nvPr/>
        </p:nvPicPr>
        <p:blipFill>
          <a:blip r:embed="rId2">
            <a:lum bright="20000" contrast="40000"/>
          </a:blip>
          <a:stretch>
            <a:fillRect/>
          </a:stretch>
        </p:blipFill>
        <p:spPr>
          <a:xfrm>
            <a:off x="6400800" y="914400"/>
            <a:ext cx="2286000" cy="2286000"/>
          </a:xfrm>
          <a:prstGeom prst="rect">
            <a:avLst/>
          </a:prstGeom>
        </p:spPr>
      </p:pic>
      <p:sp>
        <p:nvSpPr>
          <p:cNvPr id="303" name="TextBox 302"/>
          <p:cNvSpPr txBox="1"/>
          <p:nvPr/>
        </p:nvSpPr>
        <p:spPr>
          <a:xfrm>
            <a:off x="274320" y="182880"/>
            <a:ext cx="8229600" cy="457200"/>
          </a:xfrm>
          <a:prstGeom prst="rect">
            <a:avLst/>
          </a:prstGeom>
          <a:noFill/>
        </p:spPr>
        <p:txBody>
          <a:bodyPr wrap="none">
            <a:spAutoFit/>
          </a:bodyPr>
          <a:lstStyle/>
          <a:p>
            <a:pPr>
              <a:defRPr sz="1800" b="1"/>
            </a:pPr>
            <a:r>
              <a:t>Slide 45: Image effects — brightness/contrast (a:lum)</a:t>
            </a:r>
          </a:p>
        </p:txBody>
      </p:sp>
      <p:sp>
        <p:nvSpPr>
          <p:cNvPr id="304" name="TextBox 303"/>
          <p:cNvSpPr txBox="1"/>
          <p:nvPr/>
        </p:nvSpPr>
        <p:spPr>
          <a:xfrm>
            <a:off x="457200" y="3931920"/>
            <a:ext cx="8229600" cy="914400"/>
          </a:xfrm>
          <a:prstGeom prst="rect">
            <a:avLst/>
          </a:prstGeom>
          <a:noFill/>
        </p:spPr>
        <p:txBody>
          <a:bodyPr wrap="none">
            <a:spAutoFit/>
          </a:bodyPr>
          <a:lstStyle/>
          <a:p>
            <a:pPr>
              <a:defRPr sz="1200"/>
            </a:pPr>
            <a:r>
              <a:t>Left: bright +50% | Center: contrast -30% | Right: bright +20% contrast +40%</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400" name="DuotonePic"/>
          <p:cNvPicPr>
            <a:picLocks noChangeAspect="1"/>
          </p:cNvPicPr>
          <p:nvPr/>
        </p:nvPicPr>
        <p:blipFill>
          <a:blip r:embed="rId2">
            <a:duotone>
              <a:srgbClr val="000080"/>
              <a:srgbClr val="FFFF00"/>
            </a:duotone>
          </a:blip>
          <a:stretch>
            <a:fillRect/>
          </a:stretch>
        </p:blipFill>
        <p:spPr>
          <a:xfrm>
            <a:off x="457200" y="914400"/>
            <a:ext cx="3657600" cy="3657600"/>
          </a:xfrm>
          <a:prstGeom prst="rect">
            <a:avLst/>
          </a:prstGeom>
        </p:spPr>
      </p:pic>
      <p:pic>
        <p:nvPicPr>
          <p:cNvPr id="401" name="ClrChangePic"/>
          <p:cNvPicPr>
            <a:picLocks noChangeAspect="1"/>
          </p:cNvPicPr>
          <p:nvPr/>
        </p:nvPicPr>
        <p:blipFill>
          <a:blip r:embed="rId2">
            <a:clrChange>
              <a:clrFrom>
                <a:srgbClr val="FF0000"/>
              </a:clrFrom>
              <a:clrTo>
                <a:srgbClr val="00FF00"/>
              </a:clrTo>
            </a:clrChange>
          </a:blip>
          <a:stretch>
            <a:fillRect/>
          </a:stretch>
        </p:blipFill>
        <p:spPr>
          <a:xfrm>
            <a:off x="4572000" y="914400"/>
            <a:ext cx="3657600" cy="3657600"/>
          </a:xfrm>
          <a:prstGeom prst="rect">
            <a:avLst/>
          </a:prstGeom>
        </p:spPr>
      </p:pic>
      <p:sp>
        <p:nvSpPr>
          <p:cNvPr id="402" name="TextBox 401"/>
          <p:cNvSpPr txBox="1"/>
          <p:nvPr/>
        </p:nvSpPr>
        <p:spPr>
          <a:xfrm>
            <a:off x="274320" y="182880"/>
            <a:ext cx="8229600" cy="457200"/>
          </a:xfrm>
          <a:prstGeom prst="rect">
            <a:avLst/>
          </a:prstGeom>
          <a:noFill/>
        </p:spPr>
        <p:txBody>
          <a:bodyPr wrap="none">
            <a:spAutoFit/>
          </a:bodyPr>
          <a:lstStyle/>
          <a:p>
            <a:pPr>
              <a:defRPr sz="1800" b="1"/>
            </a:pPr>
            <a:r>
              <a:t>Slide 46: Duotone (a:duotone) + Color change (a:clrChange)</a:t>
            </a:r>
          </a:p>
        </p:txBody>
      </p:sp>
      <p:sp>
        <p:nvSpPr>
          <p:cNvPr id="403" name="TextBox 402"/>
          <p:cNvSpPr txBox="1"/>
          <p:nvPr/>
        </p:nvSpPr>
        <p:spPr>
          <a:xfrm>
            <a:off x="457200" y="4754880"/>
            <a:ext cx="8229600" cy="914400"/>
          </a:xfrm>
          <a:prstGeom prst="rect">
            <a:avLst/>
          </a:prstGeom>
          <a:noFill/>
        </p:spPr>
        <p:txBody>
          <a:bodyPr wrap="none">
            <a:spAutoFit/>
          </a:bodyPr>
          <a:lstStyle/>
          <a:p>
            <a:pPr>
              <a:defRPr sz="1200"/>
            </a:pPr>
            <a:r>
              <a:t>Left: Duotone (navy→yellow) | Right: clrChange (red→green, data preserved)</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pattFill prst="ltDnDiag">
          <a:fgClr>
            <a:srgbClr val="3366CC"/>
          </a:fgClr>
          <a:bgClr>
            <a:srgbClr val="FFFFFF"/>
          </a:bgClr>
        </a:pattFill>
        <a:effectLst/>
      </p:bgPr>
    </p:bg>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47: Background pattern fill (ltDnDiag)</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100" name="GradStrokeRect"/>
          <p:cNvSpPr/>
          <p:nvPr/>
        </p:nvSpPr>
        <p:spPr>
          <a:xfrm>
            <a:off x="457200" y="1371600"/>
            <a:ext cx="3657600" cy="2286000"/>
          </a:xfrm>
          <a:prstGeom prst="rect">
            <a:avLst/>
          </a:prstGeom>
          <a:solidFill>
            <a:srgbClr val="F0F0F0"/>
          </a:solidFill>
          <a:ln w="76200">
            <a:gradFill>
              <a:gsLst>
                <a:gs pos="0">
                  <a:srgbClr val="FF0000"/>
                </a:gs>
                <a:gs pos="50000">
                  <a:srgbClr val="00FF00"/>
                </a:gs>
                <a:gs pos="100000">
                  <a:srgbClr val="0000FF"/>
                </a:gs>
              </a:gsLst>
              <a:lin ang="0" scaled="1"/>
            </a:gradFill>
          </a:ln>
        </p:spPr>
        <p:txBody>
          <a:bodyPr/>
          <a:lstStyle/>
          <a:p>
            <a:r>
              <a:rPr lang="en-US" sz="1400"/>
              <a:t>Gradient stroke</a:t>
            </a:r>
          </a:p>
        </p:txBody>
      </p:sp>
      <p:sp>
        <p:nvSpPr>
          <p:cNvPr id="101" name="PattStrokeEllipse"/>
          <p:cNvSpPr/>
          <p:nvPr/>
        </p:nvSpPr>
        <p:spPr>
          <a:xfrm>
            <a:off x="5029200" y="1371600"/>
            <a:ext cx="3657600" cy="2286000"/>
          </a:xfrm>
          <a:prstGeom prst="ellipse">
            <a:avLst/>
          </a:prstGeom>
          <a:solidFill>
            <a:srgbClr val="FFFFCC"/>
          </a:solidFill>
          <a:ln w="57150">
            <a:pattFill prst="smCheck">
              <a:fgClr>
                <a:srgbClr val="990000"/>
              </a:fgClr>
              <a:bgClr>
                <a:srgbClr val="FFCC00"/>
              </a:bgClr>
            </a:pattFill>
          </a:ln>
        </p:spPr>
        <p:txBody>
          <a:bodyPr/>
          <a:lstStyle/>
          <a:p>
            <a:r>
              <a:rPr lang="en-US" sz="1400"/>
              <a:t>Pattern stroke</a:t>
            </a:r>
          </a:p>
        </p:txBody>
      </p:sp>
      <p:sp>
        <p:nvSpPr>
          <p:cNvPr id="102" name="TextBox 101"/>
          <p:cNvSpPr txBox="1"/>
          <p:nvPr/>
        </p:nvSpPr>
        <p:spPr>
          <a:xfrm>
            <a:off x="274320" y="182880"/>
            <a:ext cx="8229600" cy="457200"/>
          </a:xfrm>
          <a:prstGeom prst="rect">
            <a:avLst/>
          </a:prstGeom>
          <a:noFill/>
        </p:spPr>
        <p:txBody>
          <a:bodyPr wrap="none">
            <a:spAutoFit/>
          </a:bodyPr>
          <a:lstStyle/>
          <a:p>
            <a:pPr>
              <a:defRPr sz="1800" b="1"/>
            </a:pPr>
            <a:r>
              <a:t>Slide 48: Line gradient fill + Line pattern fill</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00" name="LinkedShape">
            <a:hlinkClick r:id="rId99"/>
          </p:cNvPr>
          <p:cNvSpPr/>
          <p:nvPr/>
        </p:nvSpPr>
        <p:spPr>
          <a:xfrm>
            <a:off x="457200" y="1371600"/>
            <a:ext cx="3657600" cy="1828800"/>
          </a:xfrm>
          <a:prstGeom prst="roundRect">
            <a:avLst/>
          </a:prstGeom>
          <a:solidFill>
            <a:srgbClr val="4472C4"/>
          </a:solidFill>
          <a:ln w="25400">
            <a:solidFill>
              <a:srgbClr val="2F5597"/>
            </a:solidFill>
          </a:ln>
        </p:spPr>
        <p:txBody>
          <a:bodyPr anchor="ctr"/>
          <a:lstStyle/>
          <a:p>
            <a:pPr algn="ctr"/>
            <a:r>
              <a:rPr lang="en-US" sz="1600" b="1">
                <a:solidFill>
                  <a:srgbClr val="FFFFFF"/>
                </a:solidFill>
              </a:rPr>
              <a:t>Click me (shape link)</a:t>
            </a:r>
          </a:p>
        </p:txBody>
      </p:sp>
      <p:sp>
        <p:nvSpPr>
          <p:cNvPr id="201" name="CompColor"/>
          <p:cNvSpPr/>
          <p:nvPr/>
        </p:nvSpPr>
        <p:spPr>
          <a:xfrm>
            <a:off x="5029200" y="1371600"/>
            <a:ext cx="3657600" cy="1828800"/>
          </a:xfrm>
          <a:prstGeom prst="rect">
            <a:avLst/>
          </a:prstGeom>
          <a:solidFill>
            <a:srgbClr val="FF6600">
              <a:comp/>
            </a:srgbClr>
          </a:solidFill>
        </p:spPr>
        <p:txBody>
          <a:bodyPr anchor="ctr"/>
          <a:lstStyle/>
          <a:p>
            <a:pPr algn="ctr"/>
            <a:r>
              <a:rPr lang="en-US" sz="1400"/>
              <a:t>comp(#FF6600) = complementary hue</a:t>
            </a:r>
          </a:p>
        </p:txBody>
      </p:sp>
      <p:sp>
        <p:nvSpPr>
          <p:cNvPr id="202" name="InvColor"/>
          <p:cNvSpPr/>
          <p:nvPr/>
        </p:nvSpPr>
        <p:spPr>
          <a:xfrm>
            <a:off x="457200" y="3657600"/>
            <a:ext cx="3657600" cy="1828800"/>
          </a:xfrm>
          <a:prstGeom prst="rect">
            <a:avLst/>
          </a:prstGeom>
          <a:solidFill>
            <a:srgbClr val="3366CC">
              <a:inv/>
            </a:srgbClr>
          </a:solidFill>
        </p:spPr>
        <p:txBody>
          <a:bodyPr anchor="ctr"/>
          <a:lstStyle/>
          <a:p>
            <a:pPr algn="ctr"/>
            <a:r>
              <a:rPr lang="en-US" sz="1400"/>
              <a:t>inv(#3366CC) → #CC9933</a:t>
            </a:r>
          </a:p>
        </p:txBody>
      </p:sp>
      <p:sp>
        <p:nvSpPr>
          <p:cNvPr id="203" name="HueModColor"/>
          <p:cNvSpPr/>
          <p:nvPr/>
        </p:nvSpPr>
        <p:spPr>
          <a:xfrm>
            <a:off x="5029200" y="3657600"/>
            <a:ext cx="3657600" cy="1828800"/>
          </a:xfrm>
          <a:prstGeom prst="rect">
            <a:avLst/>
          </a:prstGeom>
          <a:solidFill>
            <a:srgbClr val="FF0000">
              <a:hueMod val="50000"/>
            </a:srgbClr>
          </a:solidFill>
        </p:spPr>
        <p:txBody>
          <a:bodyPr anchor="ctr"/>
          <a:lstStyle/>
          <a:p>
            <a:pPr algn="ctr"/>
            <a:r>
              <a:rPr lang="en-US" sz="1400"/>
              <a:t>hueMod 50% of red</a:t>
            </a:r>
          </a:p>
        </p:txBody>
      </p:sp>
      <p:sp>
        <p:nvSpPr>
          <p:cNvPr id="204" name="TextBox 203"/>
          <p:cNvSpPr txBox="1"/>
          <p:nvPr/>
        </p:nvSpPr>
        <p:spPr>
          <a:xfrm>
            <a:off x="274320" y="182880"/>
            <a:ext cx="8229600" cy="457200"/>
          </a:xfrm>
          <a:prstGeom prst="rect">
            <a:avLst/>
          </a:prstGeom>
          <a:noFill/>
        </p:spPr>
        <p:txBody>
          <a:bodyPr wrap="none">
            <a:spAutoFit/>
          </a:bodyPr>
          <a:lstStyle/>
          <a:p>
            <a:pPr>
              <a:defRPr sz="1800" b="1"/>
            </a:pPr>
            <a:r>
              <a:t>Slide 49: Shape hyperlinks + Color modifiers (comp/inv/hueMod)</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301" name="OuterShadow"/>
          <p:cNvSpPr/>
          <p:nvPr/>
        </p:nvSpPr>
        <p:spPr>
          <a:xfrm>
            <a:off x="457200" y="1371600"/>
            <a:ext cx="3200400" cy="1828800"/>
          </a:xfrm>
          <a:prstGeom prst="roundRect">
            <a:avLst/>
          </a:prstGeom>
          <a:solidFill>
            <a:srgbClr val="4472C4"/>
          </a:solidFill>
          <a:effectLst>
            <a:outerShdw blurRad="152400" dist="114300" dir="5400000" algn="ctr" rotWithShape="0">
              <a:srgbClr val="000000">
                <a:alpha val="40000"/>
              </a:srgbClr>
            </a:outerShdw>
          </a:effectLst>
        </p:spPr>
        <p:txBody>
          <a:bodyPr anchor="ctr"/>
          <a:lstStyle/>
          <a:p>
            <a:pPr algn="ctr"/>
            <a:r>
              <a:rPr lang="en-US" sz="1400" b="1"/>
              <a:t>Outer Shadow</a:t>
            </a:r>
          </a:p>
        </p:txBody>
      </p:sp>
      <p:sp>
        <p:nvSpPr>
          <p:cNvPr id="302" name="InnerShadow"/>
          <p:cNvSpPr/>
          <p:nvPr/>
        </p:nvSpPr>
        <p:spPr>
          <a:xfrm>
            <a:off x="457200" y="3657600"/>
            <a:ext cx="3200400" cy="1828800"/>
          </a:xfrm>
          <a:prstGeom prst="roundRect">
            <a:avLst/>
          </a:prstGeom>
          <a:solidFill>
            <a:srgbClr val="70AD47"/>
          </a:solidFill>
          <a:effectLst>
            <a:innerShdw blurRad="114300" dist="76200" dir="2700000">
              <a:srgbClr val="000000">
                <a:alpha val="50000"/>
              </a:srgbClr>
            </a:innerShdw>
          </a:effectLst>
        </p:spPr>
        <p:txBody>
          <a:bodyPr anchor="ctr"/>
          <a:lstStyle/>
          <a:p>
            <a:pPr algn="ctr"/>
            <a:r>
              <a:rPr lang="en-US" sz="1400" b="1"/>
              <a:t>Inner Shadow</a:t>
            </a:r>
          </a:p>
        </p:txBody>
      </p:sp>
      <p:sp>
        <p:nvSpPr>
          <p:cNvPr id="303" name="Glow"/>
          <p:cNvSpPr/>
          <p:nvPr/>
        </p:nvSpPr>
        <p:spPr>
          <a:xfrm>
            <a:off x="5029200" y="1371600"/>
            <a:ext cx="3200400" cy="1828800"/>
          </a:xfrm>
          <a:prstGeom prst="roundRect">
            <a:avLst/>
          </a:prstGeom>
          <a:solidFill>
            <a:srgbClr val="ED7D31"/>
          </a:solidFill>
          <a:effectLst>
            <a:glow rad="228600">
              <a:srgbClr val="FFC000">
                <a:alpha val="60000"/>
              </a:srgbClr>
            </a:glow>
          </a:effectLst>
        </p:spPr>
        <p:txBody>
          <a:bodyPr anchor="ctr"/>
          <a:lstStyle/>
          <a:p>
            <a:pPr algn="ctr"/>
            <a:r>
              <a:rPr lang="en-US" sz="1400" b="1"/>
              <a:t>Glow Effect</a:t>
            </a:r>
          </a:p>
        </p:txBody>
      </p:sp>
      <p:sp>
        <p:nvSpPr>
          <p:cNvPr id="304" name="SoftEdge"/>
          <p:cNvSpPr/>
          <p:nvPr/>
        </p:nvSpPr>
        <p:spPr>
          <a:xfrm>
            <a:off x="5029200" y="3657600"/>
            <a:ext cx="3200400" cy="1828800"/>
          </a:xfrm>
          <a:prstGeom prst="roundRect">
            <a:avLst/>
          </a:prstGeom>
          <a:solidFill>
            <a:srgbClr val="A855F7"/>
          </a:solidFill>
          <a:effectLst>
            <a:softEdge rad="317500"/>
          </a:effectLst>
        </p:spPr>
        <p:txBody>
          <a:bodyPr anchor="ctr"/>
          <a:lstStyle/>
          <a:p>
            <a:pPr algn="ctr"/>
            <a:r>
              <a:rPr lang="en-US" sz="1400" b="1"/>
              <a:t>Soft Edge</a:t>
            </a:r>
          </a:p>
        </p:txBody>
      </p:sp>
      <p:sp>
        <p:nvSpPr>
          <p:cNvPr id="305" name="TextBox 304"/>
          <p:cNvSpPr txBox="1"/>
          <p:nvPr/>
        </p:nvSpPr>
        <p:spPr>
          <a:xfrm>
            <a:off x="274320" y="182880"/>
            <a:ext cx="8229600" cy="457200"/>
          </a:xfrm>
          <a:prstGeom prst="rect">
            <a:avLst/>
          </a:prstGeom>
          <a:noFill/>
        </p:spPr>
        <p:txBody>
          <a:bodyPr wrap="none">
            <a:spAutoFit/>
          </a:bodyPr>
          <a:lstStyle/>
          <a:p>
            <a:pPr>
              <a:defRPr sz="1800" b="1"/>
            </a:pPr>
            <a:r>
              <a:t>Slide 50: Shape effects (outerShdw / innerShdw / glow / softEdge)</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401" name="Bevel3D"/>
          <p:cNvSpPr/>
          <p:nvPr/>
        </p:nvSpPr>
        <p:spPr>
          <a:xfrm>
            <a:off x="457200" y="1371600"/>
            <a:ext cx="3200400" cy="1828800"/>
          </a:xfrm>
          <a:prstGeom prst="roundRect">
            <a:avLst/>
          </a:prstGeom>
          <a:solidFill>
            <a:srgbClr val="4472C4"/>
          </a:solidFill>
          <a:scene3d>
            <a:camera prst="orthographicFront"/>
            <a:lightRig rig="threePt" dir="t"/>
          </a:scene3d>
          <a:sp3d prstMaterial="plastic">
            <a:bevelT w="152400" h="50800" prst="relaxedInset"/>
          </a:sp3d>
        </p:spPr>
        <p:txBody>
          <a:bodyPr anchor="ctr"/>
          <a:lstStyle/>
          <a:p>
            <a:pPr algn="ctr"/>
            <a:r>
              <a:rPr lang="en-US" sz="1400" b="1"/>
              <a:t>3D Bevel</a:t>
            </a:r>
          </a:p>
        </p:txBody>
      </p:sp>
      <p:sp>
        <p:nvSpPr>
          <p:cNvPr id="402" name="TextShadow"/>
          <p:cNvSpPr/>
          <p:nvPr/>
        </p:nvSpPr>
        <p:spPr>
          <a:xfrm>
            <a:off x="5029200" y="1371600"/>
            <a:ext cx="3200400" cy="1828800"/>
          </a:xfrm>
          <a:prstGeom prst="rect">
            <a:avLst/>
          </a:prstGeom>
          <a:solidFill>
            <a:srgbClr val="FFFFFF"/>
          </a:solidFill>
        </p:spPr>
        <p:txBody>
          <a:bodyPr anchor="ctr"/>
          <a:lstStyle/>
          <a:p>
            <a:pPr algn="ctr"/>
            <a:r>
              <a:rPr lang="en-US" sz="2400" b="1">
                <a:solidFill>
                  <a:srgbClr val="333333"/>
                </a:solidFill>
                <a:effectLst>
                  <a:outerShdw blurRad="38100" dist="38100" dir="5400000">
                    <a:srgbClr val="000000">
                      <a:alpha val="40000"/>
                    </a:srgbClr>
                  </a:outerShdw>
                </a:effectLst>
              </a:rPr>
              <a:t>Text with Shadow</a:t>
            </a:r>
          </a:p>
          <a:p>
            <a:pPr algn="ctr"/>
            <a:r>
              <a:rPr lang="en-US" sz="2000">
                <a:solidFill>
                  <a:srgbClr val="FF4444"/>
                </a:solidFill>
                <a:effectLst>
                  <a:glow rad="101600">
                    <a:srgbClr val="FF0000">
                      <a:alpha val="50000"/>
                    </a:srgbClr>
                  </a:glow>
                </a:effectLst>
              </a:rPr>
              <a:t>Text with Glow</a:t>
            </a:r>
          </a:p>
        </p:txBody>
      </p:sp>
      <p:sp>
        <p:nvSpPr>
          <p:cNvPr id="403" name="Extrusion3D"/>
          <p:cNvSpPr/>
          <p:nvPr/>
        </p:nvSpPr>
        <p:spPr>
          <a:xfrm>
            <a:off x="457200" y="3657600"/>
            <a:ext cx="3200400" cy="1828800"/>
          </a:xfrm>
          <a:prstGeom prst="roundRect">
            <a:avLst/>
          </a:prstGeom>
          <a:solidFill>
            <a:srgbClr val="70AD47"/>
          </a:solidFill>
          <a:scene3d>
            <a:camera prst="isometricLeftDown"/>
            <a:lightRig rig="balanced" dir="t"/>
          </a:scene3d>
          <a:sp3d extrusionH="76200" contourW="12700" prstMaterial="warmMatte">
            <a:bevelT w="101600" h="38100" prst="circle"/>
            <a:bevelB w="50800" h="25400"/>
            <a:extrusionClr>
              <a:srgbClr val="5B8C3C"/>
            </a:extrusionClr>
            <a:contourClr>
              <a:srgbClr val="2E5B14"/>
            </a:contourClr>
          </a:sp3d>
        </p:spPr>
        <p:txBody>
          <a:bodyPr anchor="ctr"/>
          <a:lstStyle/>
          <a:p>
            <a:pPr algn="ctr"/>
            <a:r>
              <a:rPr lang="en-US" sz="1400" b="1"/>
              <a:t>3D Extrusion</a:t>
            </a:r>
          </a:p>
        </p:txBody>
      </p:sp>
      <p:sp>
        <p:nvSpPr>
          <p:cNvPr id="404" name="TextBox 403"/>
          <p:cNvSpPr txBox="1"/>
          <p:nvPr/>
        </p:nvSpPr>
        <p:spPr>
          <a:xfrm>
            <a:off x="274320" y="182880"/>
            <a:ext cx="8229600" cy="457200"/>
          </a:xfrm>
          <a:prstGeom prst="rect">
            <a:avLst/>
          </a:prstGeom>
          <a:noFill/>
        </p:spPr>
        <p:txBody>
          <a:bodyPr wrap="none">
            <a:spAutoFit/>
          </a:bodyPr>
          <a:lstStyle/>
          <a:p>
            <a:pPr>
              <a:defRPr sz="1800" b="1"/>
            </a:pPr>
            <a:r>
              <a:t>Slide 51: 3D effects (bevel/extrusion/scene3d) + text shadow/glow</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52: Column chart (clustered)</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53: Line chart</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54: Pie chart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55: Bar chart (horizontal) + Donut chart</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56: Column chart with data labels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57: Pie chart with custom colors + % labels</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4572000" cy="36576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58: Line chart with series colors + data labels</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371600"/>
          <a:ext cx="4114800" cy="36576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754880" y="1371600"/>
          <a:ext cx="4114800" cy="3657600"/>
        </p:xfrm>
        <a:graphic>
          <a:graphicData uri="http://schemas.openxmlformats.org/drawingml/2006/chart">
            <c:chart xmlns:c="http://schemas.openxmlformats.org/drawingml/2006/chart" r:id="rId3"/>
          </a:graphicData>
        </a:graphic>
      </p:graphicFrame>
      <p:sp>
        <p:nvSpPr>
          <p:cNvPr id="4" name="TextBox 3"/>
          <p:cNvSpPr txBox="1"/>
          <p:nvPr/>
        </p:nvSpPr>
        <p:spPr>
          <a:xfrm>
            <a:off x="274320" y="182880"/>
            <a:ext cx="8229600" cy="457200"/>
          </a:xfrm>
          <a:prstGeom prst="rect">
            <a:avLst/>
          </a:prstGeom>
          <a:noFill/>
        </p:spPr>
        <p:txBody>
          <a:bodyPr wrap="none">
            <a:spAutoFit/>
          </a:bodyPr>
          <a:lstStyle/>
          <a:p>
            <a:pPr>
              <a:defRPr sz="1800" b="1"/>
            </a:pPr>
            <a:r>
              <a:t>Slide 59: Scatter chart + Area chart</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828800" y="1371600"/>
          <a:ext cx="45720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60: Radar chart</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1371600" y="1371600"/>
          <a:ext cx="54864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61: Bubble chart</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62: Stock chart (OHLC)</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274320" y="1097280"/>
          <a:ext cx="2743200" cy="22860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3200400" y="1097280"/>
          <a:ext cx="2743200" cy="22860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6126480" y="1097280"/>
          <a:ext cx="2743200" cy="2286000"/>
        </p:xfrm>
        <a:graphic>
          <a:graphicData uri="http://schemas.openxmlformats.org/drawingml/2006/chart">
            <c:chart xmlns:c="http://schemas.openxmlformats.org/drawingml/2006/chart" r:id="rId4"/>
          </a:graphicData>
        </a:graphic>
      </p:graphicFrame>
      <p:graphicFrame>
        <p:nvGraphicFramePr>
          <p:cNvPr id="5" name="Chart 4"/>
          <p:cNvGraphicFramePr>
            <a:graphicFrameLocks noGrp="1"/>
          </p:cNvGraphicFramePr>
          <p:nvPr/>
        </p:nvGraphicFramePr>
        <p:xfrm>
          <a:off x="274320" y="3657600"/>
          <a:ext cx="2743200" cy="2286000"/>
        </p:xfrm>
        <a:graphic>
          <a:graphicData uri="http://schemas.openxmlformats.org/drawingml/2006/chart">
            <c:chart xmlns:c="http://schemas.openxmlformats.org/drawingml/2006/chart" r:id="rId5"/>
          </a:graphicData>
        </a:graphic>
      </p:graphicFrame>
      <p:graphicFrame>
        <p:nvGraphicFramePr>
          <p:cNvPr id="6" name="Chart 5"/>
          <p:cNvGraphicFramePr>
            <a:graphicFrameLocks noGrp="1"/>
          </p:cNvGraphicFramePr>
          <p:nvPr/>
        </p:nvGraphicFramePr>
        <p:xfrm>
          <a:off x="3200400" y="3657600"/>
          <a:ext cx="2743200" cy="2286000"/>
        </p:xfrm>
        <a:graphic>
          <a:graphicData uri="http://schemas.openxmlformats.org/drawingml/2006/chart">
            <c:chart xmlns:c="http://schemas.openxmlformats.org/drawingml/2006/chart" r:id="rId6"/>
          </a:graphicData>
        </a:graphic>
      </p:graphicFrame>
      <p:graphicFrame>
        <p:nvGraphicFramePr>
          <p:cNvPr id="7" name="Chart 6"/>
          <p:cNvGraphicFramePr>
            <a:graphicFrameLocks noGrp="1"/>
          </p:cNvGraphicFramePr>
          <p:nvPr/>
        </p:nvGraphicFramePr>
        <p:xfrm>
          <a:off x="6126480" y="3657600"/>
          <a:ext cx="2743200" cy="2286000"/>
        </p:xfrm>
        <a:graphic>
          <a:graphicData uri="http://schemas.openxmlformats.org/drawingml/2006/chart">
            <c:chart xmlns:c="http://schemas.openxmlformats.org/drawingml/2006/chart" r:id="rId7"/>
          </a:graphicData>
        </a:graphic>
      </p:graphicFrame>
      <p:sp>
        <p:nvSpPr>
          <p:cNvPr id="8" name="TextBox 7"/>
          <p:cNvSpPr txBox="1"/>
          <p:nvPr/>
        </p:nvSpPr>
        <p:spPr>
          <a:xfrm>
            <a:off x="274320" y="182880"/>
            <a:ext cx="8229600" cy="457200"/>
          </a:xfrm>
          <a:prstGeom prst="rect">
            <a:avLst/>
          </a:prstGeom>
          <a:noFill/>
        </p:spPr>
        <p:txBody>
          <a:bodyPr wrap="none">
            <a:spAutoFit/>
          </a:bodyPr>
          <a:lstStyle/>
          <a:p>
            <a:pPr>
              <a:defRPr sz="1800" b="1"/>
            </a:pPr>
            <a:r>
              <a:t>Slide 63: All chart types overview</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64: Line chart with linear trendline</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65: Column chart with error bars (±8)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66: Composite chart (column + line)</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67: Surface chart (2D heatmap)</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68: Pie of pie chart (ofPieChart)</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914400" y="1371600"/>
          <a:ext cx="6400800" cy="4114800"/>
        </p:xfrm>
        <a:graphic>
          <a:graphicData uri="http://schemas.openxmlformats.org/drawingml/2006/chart">
            <c:chart xmlns:c="http://schemas.openxmlformats.org/drawingml/2006/chart" r:id="rId2"/>
          </a:graphicData>
        </a:graphic>
      </p:graphicFrame>
      <p:sp>
        <p:nvSpPr>
          <p:cNvPr id="3" name="TextBox 2"/>
          <p:cNvSpPr txBox="1"/>
          <p:nvPr/>
        </p:nvSpPr>
        <p:spPr>
          <a:xfrm>
            <a:off x="274320" y="182880"/>
            <a:ext cx="8229600" cy="457200"/>
          </a:xfrm>
          <a:prstGeom prst="rect">
            <a:avLst/>
          </a:prstGeom>
          <a:noFill/>
        </p:spPr>
        <p:txBody>
          <a:bodyPr wrap="none">
            <a:spAutoFit/>
          </a:bodyPr>
          <a:lstStyle/>
          <a:p>
            <a:pPr>
              <a:defRPr sz="1800" b="1"/>
            </a:pPr>
            <a:r>
              <a:t>Slide 69: 3D bar chart (view3D preserved)</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70: Text outline (a:rPr/a:ln)</a:t>
            </a:r>
          </a:p>
        </p:txBody>
      </p:sp>
      <p:sp>
        <p:nvSpPr>
          <p:cNvPr id="3" name="TextBox 2"/>
          <p:cNvSpPr txBox="1"/>
          <p:nvPr/>
        </p:nvSpPr>
        <p:spPr>
          <a:xfrm>
            <a:off x="457200" y="1371600"/>
            <a:ext cx="7315200" cy="1371600"/>
          </a:xfrm>
          <a:prstGeom prst="rect">
            <a:avLst/>
          </a:prstGeom>
          <a:noFill/>
        </p:spPr>
        <p:txBody>
          <a:bodyPr wrap="none">
            <a:spAutoFit/>
          </a:bodyPr>
          <a:lstStyle/>
          <a:p>
            <a:r>
              <a:rPr sz="4800" b="1">
                <a:ln w="25400">
                  <a:solidFill>
                    <a:srgbClr val="FF0000"/>
                  </a:solidFill>
                </a:ln>
              </a:rPr>
              <a:t>Red Outlined Text</a:t>
            </a:r>
          </a:p>
        </p:txBody>
      </p:sp>
      <p:sp>
        <p:nvSpPr>
          <p:cNvPr id="4" name="TextBox 3"/>
          <p:cNvSpPr txBox="1"/>
          <p:nvPr/>
        </p:nvSpPr>
        <p:spPr>
          <a:xfrm>
            <a:off x="457200" y="3200400"/>
            <a:ext cx="7315200" cy="1371600"/>
          </a:xfrm>
          <a:prstGeom prst="rect">
            <a:avLst/>
          </a:prstGeom>
          <a:noFill/>
        </p:spPr>
        <p:txBody>
          <a:bodyPr wrap="none">
            <a:spAutoFit/>
          </a:bodyPr>
          <a:lstStyle/>
          <a:p>
            <a:r>
              <a:rPr sz="3600">
                <a:solidFill>
                  <a:srgbClr val="333333"/>
                </a:solidFill>
                <a:ln w="12700">
                  <a:solidFill>
                    <a:srgbClr val="0000FF"/>
                  </a:solidFill>
                </a:ln>
              </a:rPr>
              <a:t>Blue Outlined (thin)</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71: Text gradient fill (a:rPr/a:gradFill)</a:t>
            </a:r>
          </a:p>
        </p:txBody>
      </p:sp>
      <p:sp>
        <p:nvSpPr>
          <p:cNvPr id="3" name="TextBox 2"/>
          <p:cNvSpPr txBox="1"/>
          <p:nvPr/>
        </p:nvSpPr>
        <p:spPr>
          <a:xfrm>
            <a:off x="457200" y="1371600"/>
            <a:ext cx="7315200" cy="1828800"/>
          </a:xfrm>
          <a:prstGeom prst="rect">
            <a:avLst/>
          </a:prstGeom>
          <a:noFill/>
        </p:spPr>
        <p:txBody>
          <a:bodyPr wrap="none">
            <a:spAutoFit/>
          </a:bodyPr>
          <a:lstStyle/>
          <a:p>
            <a:r>
              <a:rPr sz="6000" b="1">
                <a:gradFill>
                  <a:gsLst>
                    <a:gs pos="0">
                      <a:srgbClr val="FF0000"/>
                    </a:gs>
                    <a:gs pos="50000">
                      <a:srgbClr val="FFFF00"/>
                    </a:gs>
                    <a:gs pos="100000">
                      <a:srgbClr val="0000FF"/>
                    </a:gs>
                  </a:gsLst>
                  <a:lin ang="0" scaled="1"/>
                </a:gradFill>
              </a:rPr>
              <a:t>Gradient Text</a:t>
            </a:r>
          </a:p>
        </p:txBody>
      </p:sp>
      <p:sp>
        <p:nvSpPr>
          <p:cNvPr id="4" name="TextBox 3"/>
          <p:cNvSpPr txBox="1"/>
          <p:nvPr/>
        </p:nvSpPr>
        <p:spPr>
          <a:xfrm>
            <a:off x="457200" y="3657600"/>
            <a:ext cx="7315200" cy="1828800"/>
          </a:xfrm>
          <a:prstGeom prst="rect">
            <a:avLst/>
          </a:prstGeom>
          <a:noFill/>
        </p:spPr>
        <p:txBody>
          <a:bodyPr wrap="none">
            <a:spAutoFit/>
          </a:bodyPr>
          <a:lstStyle/>
          <a:p>
            <a:r>
              <a:rPr sz="4800">
                <a:gradFill>
                  <a:gsLst>
                    <a:gs pos="0">
                      <a:srgbClr val="00FF00"/>
                    </a:gs>
                    <a:gs pos="100000">
                      <a:srgbClr val="0000FF"/>
                    </a:gs>
                  </a:gsLst>
                  <a:lin ang="5400000" scaled="1"/>
                </a:gradFill>
              </a:rPr>
              <a:t>Green-Blue Grad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 Text warp (a:prstTxWarp)</a:t>
            </a:r>
          </a:p>
        </p:txBody>
      </p:sp>
      <p:sp>
        <p:nvSpPr>
          <p:cNvPr id="3" name="TextBox 2"/>
          <p:cNvSpPr txBox="1"/>
          <p:nvPr/>
        </p:nvSpPr>
        <p:spPr>
          <a:xfrm>
            <a:off x="457200" y="1371600"/>
            <a:ext cx="3657600" cy="1828800"/>
          </a:xfrm>
          <a:prstGeom prst="rect">
            <a:avLst/>
          </a:prstGeom>
          <a:noFill/>
        </p:spPr>
        <p:txBody>
          <a:bodyPr wrap="none">
            <a:prstTxWarp prst="textWave1">
              <a:avLst>
                <a:gd name="adj" fmla="val 19773"/>
              </a:avLst>
            </a:prstTxWarp>
            <a:spAutoFit/>
          </a:bodyPr>
          <a:lstStyle/>
          <a:p>
            <a:r>
              <a:rPr sz="3600" b="1"/>
              <a:t>Wave Text</a:t>
            </a:r>
          </a:p>
        </p:txBody>
      </p:sp>
      <p:sp>
        <p:nvSpPr>
          <p:cNvPr id="4" name="TextBox 3"/>
          <p:cNvSpPr txBox="1"/>
          <p:nvPr/>
        </p:nvSpPr>
        <p:spPr>
          <a:xfrm>
            <a:off x="4572000" y="1371600"/>
            <a:ext cx="3657600" cy="1828800"/>
          </a:xfrm>
          <a:prstGeom prst="rect">
            <a:avLst/>
          </a:prstGeom>
          <a:noFill/>
        </p:spPr>
        <p:txBody>
          <a:bodyPr wrap="none">
            <a:prstTxWarp prst="textArchUp">
              <a:avLst>
                <a:gd name="adj" fmla="val 10800000"/>
              </a:avLst>
            </a:prstTxWarp>
            <a:spAutoFit/>
          </a:bodyPr>
          <a:lstStyle/>
          <a:p>
            <a:r>
              <a:rPr sz="3600" b="1"/>
              <a:t>Arch Up</a:t>
            </a:r>
          </a:p>
        </p:txBody>
      </p:sp>
      <p:sp>
        <p:nvSpPr>
          <p:cNvPr id="5" name="TextBox 4"/>
          <p:cNvSpPr txBox="1"/>
          <p:nvPr/>
        </p:nvSpPr>
        <p:spPr>
          <a:xfrm>
            <a:off x="457200" y="3657600"/>
            <a:ext cx="7315200" cy="1828800"/>
          </a:xfrm>
          <a:prstGeom prst="rect">
            <a:avLst/>
          </a:prstGeom>
          <a:noFill/>
        </p:spPr>
        <p:txBody>
          <a:bodyPr wrap="none">
            <a:prstTxWarp prst="textDeflate">
              <a:avLst/>
            </a:prstTxWarp>
            <a:spAutoFit/>
          </a:bodyPr>
          <a:lstStyle/>
          <a:p>
            <a:r>
              <a:rPr sz="3600"/>
              <a:t>Deflate Text</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72b: Additional text warp presets</a:t>
            </a:r>
          </a:p>
        </p:txBody>
      </p:sp>
      <p:sp>
        <p:nvSpPr>
          <p:cNvPr id="3" name="TextBox 2"/>
          <p:cNvSpPr txBox="1"/>
          <p:nvPr/>
        </p:nvSpPr>
        <p:spPr>
          <a:xfrm>
            <a:off x="457200" y="914400"/>
            <a:ext cx="3657600" cy="1371600"/>
          </a:xfrm>
          <a:prstGeom prst="rect">
            <a:avLst/>
          </a:prstGeom>
          <a:noFill/>
        </p:spPr>
        <p:txBody>
          <a:bodyPr wrap="none">
            <a:prstTxWarp prst="textSlantUp">
              <a:avLst>
                <a:gd name="adj" fmla="val 55556"/>
              </a:avLst>
            </a:prstTxWarp>
            <a:spAutoFit/>
          </a:bodyPr>
          <a:lstStyle/>
          <a:p>
            <a:r>
              <a:rPr sz="3600" b="1"/>
              <a:t>Slant Up</a:t>
            </a:r>
          </a:p>
        </p:txBody>
      </p:sp>
      <p:sp>
        <p:nvSpPr>
          <p:cNvPr id="4" name="TextBox 3"/>
          <p:cNvSpPr txBox="1"/>
          <p:nvPr/>
        </p:nvSpPr>
        <p:spPr>
          <a:xfrm>
            <a:off x="4572000" y="914400"/>
            <a:ext cx="3657600" cy="1371600"/>
          </a:xfrm>
          <a:prstGeom prst="rect">
            <a:avLst/>
          </a:prstGeom>
          <a:noFill/>
        </p:spPr>
        <p:txBody>
          <a:bodyPr wrap="none">
            <a:prstTxWarp prst="textCurveUp">
              <a:avLst>
                <a:gd name="adj" fmla="val 45977"/>
              </a:avLst>
            </a:prstTxWarp>
            <a:spAutoFit/>
          </a:bodyPr>
          <a:lstStyle/>
          <a:p>
            <a:r>
              <a:rPr sz="3600" b="1">
                <a:solidFill>
                  <a:srgbClr val="0070C0"/>
                </a:solidFill>
              </a:rPr>
              <a:t>Curve Up</a:t>
            </a:r>
          </a:p>
        </p:txBody>
      </p:sp>
      <p:sp>
        <p:nvSpPr>
          <p:cNvPr id="5" name="TextBox 4"/>
          <p:cNvSpPr txBox="1"/>
          <p:nvPr/>
        </p:nvSpPr>
        <p:spPr>
          <a:xfrm>
            <a:off x="457200" y="2743200"/>
            <a:ext cx="3657600" cy="1371600"/>
          </a:xfrm>
          <a:prstGeom prst="rect">
            <a:avLst/>
          </a:prstGeom>
          <a:noFill/>
        </p:spPr>
        <p:txBody>
          <a:bodyPr wrap="none">
            <a:prstTxWarp prst="textInflate">
              <a:avLst/>
            </a:prstTxWarp>
            <a:spAutoFit/>
          </a:bodyPr>
          <a:lstStyle/>
          <a:p>
            <a:r>
              <a:rPr sz="3600" b="1">
                <a:solidFill>
                  <a:srgbClr val="C00000"/>
                </a:solidFill>
              </a:rPr>
              <a:t>Inflate</a:t>
            </a:r>
          </a:p>
        </p:txBody>
      </p:sp>
      <p:sp>
        <p:nvSpPr>
          <p:cNvPr id="6" name="TextBox 5"/>
          <p:cNvSpPr txBox="1"/>
          <p:nvPr/>
        </p:nvSpPr>
        <p:spPr>
          <a:xfrm>
            <a:off x="4572000" y="2743200"/>
            <a:ext cx="3657600" cy="1371600"/>
          </a:xfrm>
          <a:prstGeom prst="rect">
            <a:avLst/>
          </a:prstGeom>
          <a:noFill/>
        </p:spPr>
        <p:txBody>
          <a:bodyPr wrap="none">
            <a:prstTxWarp prst="textChevron">
              <a:avLst>
                <a:gd name="adj" fmla="val 25000"/>
              </a:avLst>
            </a:prstTxWarp>
            <a:spAutoFit/>
          </a:bodyPr>
          <a:lstStyle/>
          <a:p>
            <a:r>
              <a:rPr sz="3600" b="1">
                <a:solidFill>
                  <a:srgbClr val="00B050"/>
                </a:solidFill>
              </a:rPr>
              <a:t>Chevron</a:t>
            </a:r>
          </a:p>
        </p:txBody>
      </p:sp>
      <p:sp>
        <p:nvSpPr>
          <p:cNvPr id="7" name="TextBox 6"/>
          <p:cNvSpPr txBox="1"/>
          <p:nvPr/>
        </p:nvSpPr>
        <p:spPr>
          <a:xfrm>
            <a:off x="2286000" y="4572000"/>
            <a:ext cx="3657600" cy="2286000"/>
          </a:xfrm>
          <a:prstGeom prst="rect">
            <a:avLst/>
          </a:prstGeom>
          <a:noFill/>
        </p:spPr>
        <p:txBody>
          <a:bodyPr wrap="none">
            <a:prstTxWarp prst="textCircle">
              <a:avLst>
                <a:gd name="adj" fmla="val 10800000"/>
              </a:avLst>
            </a:prstTxWarp>
            <a:spAutoFit/>
          </a:bodyPr>
          <a:lstStyle/>
          <a:p>
            <a:r>
              <a:rPr sz="2800" b="1"/>
              <a:t>Circle Text Example</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 name="Chart 1"/>
          <p:cNvGraphicFramePr>
            <a:graphicFrameLocks noGrp="1"/>
          </p:cNvGraphicFramePr>
          <p:nvPr/>
        </p:nvGraphicFramePr>
        <p:xfrm>
          <a:off x="457200" y="1371600"/>
          <a:ext cx="3657600" cy="2743200"/>
        </p:xfrm>
        <a:graphic>
          <a:graphicData uri="http://schemas.openxmlformats.org/drawingml/2006/chart">
            <c:chart xmlns:c="http://schemas.openxmlformats.org/drawingml/2006/chart" r:id="rId2"/>
          </a:graphicData>
        </a:graphic>
      </p:graphicFrame>
      <p:graphicFrame>
        <p:nvGraphicFramePr>
          <p:cNvPr id="3" name="Chart 2"/>
          <p:cNvGraphicFramePr>
            <a:graphicFrameLocks noGrp="1"/>
          </p:cNvGraphicFramePr>
          <p:nvPr/>
        </p:nvGraphicFramePr>
        <p:xfrm>
          <a:off x="4572000" y="1371600"/>
          <a:ext cx="3657600" cy="2743200"/>
        </p:xfrm>
        <a:graphic>
          <a:graphicData uri="http://schemas.openxmlformats.org/drawingml/2006/chart">
            <c:chart xmlns:c="http://schemas.openxmlformats.org/drawingml/2006/chart" r:id="rId3"/>
          </a:graphicData>
        </a:graphic>
      </p:graphicFrame>
      <p:graphicFrame>
        <p:nvGraphicFramePr>
          <p:cNvPr id="4" name="Chart 3"/>
          <p:cNvGraphicFramePr>
            <a:graphicFrameLocks noGrp="1"/>
          </p:cNvGraphicFramePr>
          <p:nvPr/>
        </p:nvGraphicFramePr>
        <p:xfrm>
          <a:off x="2286000" y="4572000"/>
          <a:ext cx="3657600" cy="1828800"/>
        </p:xfrm>
        <a:graphic>
          <a:graphicData uri="http://schemas.openxmlformats.org/drawingml/2006/chart">
            <c:chart xmlns:c="http://schemas.openxmlformats.org/drawingml/2006/chart" r:id="rId4"/>
          </a:graphicData>
        </a:graphic>
      </p:graphicFrame>
      <p:sp>
        <p:nvSpPr>
          <p:cNvPr id="5" name="TextBox 4"/>
          <p:cNvSpPr txBox="1"/>
          <p:nvPr/>
        </p:nvSpPr>
        <p:spPr>
          <a:xfrm>
            <a:off x="274320" y="182880"/>
            <a:ext cx="8229600" cy="457200"/>
          </a:xfrm>
          <a:prstGeom prst="rect">
            <a:avLst/>
          </a:prstGeom>
          <a:noFill/>
        </p:spPr>
        <p:txBody>
          <a:bodyPr wrap="none">
            <a:spAutoFit/>
          </a:bodyPr>
          <a:lstStyle/>
          <a:p>
            <a:pPr>
              <a:defRPr sz="1800" b="1"/>
            </a:pPr>
            <a:r>
              <a:t>Slide 73: Stacked / Percent-stacked bar charts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274320" y="182880"/>
            <a:ext cx="8229600" cy="457200"/>
          </a:xfrm>
          <a:prstGeom prst="rect">
            <a:avLst/>
          </a:prstGeom>
          <a:noFill/>
        </p:spPr>
        <p:txBody>
          <a:bodyPr wrap="none">
            <a:spAutoFit/>
          </a:bodyPr>
          <a:lstStyle/>
          <a:p>
            <a:pPr>
              <a:defRPr sz="1800" b="1"/>
            </a:pPr>
            <a:r>
              <a:t>Slide 74: Speaker notes + comments</a:t>
            </a:r>
          </a:p>
        </p:txBody>
      </p:sp>
      <p:sp>
        <p:nvSpPr>
          <p:cNvPr id="3" name="TextBox 2"/>
          <p:cNvSpPr txBox="1"/>
          <p:nvPr/>
        </p:nvSpPr>
        <p:spPr>
          <a:xfrm>
            <a:off x="457200" y="1371600"/>
            <a:ext cx="7315200" cy="2743200"/>
          </a:xfrm>
          <a:prstGeom prst="rect">
            <a:avLst/>
          </a:prstGeom>
          <a:noFill/>
        </p:spPr>
        <p:txBody>
          <a:bodyPr wrap="square">
            <a:spAutoFit/>
          </a:bodyPr>
          <a:lstStyle/>
          <a:p>
            <a:pPr>
              <a:defRPr sz="1400"/>
            </a:pPr>
            <a:r>
              <a:t>This slide has speaker notes and comments attached.</a:t>
            </a:r>
            <a:br/>
            <a:r>
              <a:t>Notes and comments are metadata not rendered on slide, but preserved in round-trip export.</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mc:AlternateContent xmlns:mc="http://schemas.openxmlformats.org/markup-compatibility/2006">
        <mc:Choice Requires="dgm">
          <p:graphicFrame>
            <p:nvGraphicFramePr>
              <p:cNvPr id="100" name="SmartArt Diagram"/>
              <p:cNvGraphicFramePr/>
              <p:nvPr/>
            </p:nvGraphicFramePr>
            <p:xfrm>
              <a:off x="457200" y="1371600"/>
              <a:ext cx="8229600" y="4572000"/>
            </p:xfrm>
            <a:graphic>
              <a:graphicData uri="http://schemas.openxmlformats.org/drawingml/2006/diagram">
                <dgm:relIds xmlns:dgm="http://schemas.openxmlformats.org/drawingml/2006/diagram" r:dm="rId10" r:lo="rId11" r:qs="rId12" r:cs="rId13"/>
              </a:graphicData>
            </a:graphic>
          </p:graphicFrame>
        </mc:Choice>
        <mc:Fallback>
          <p:grpSp>
            <p:nvGrpSpPr>
              <p:cNvPr id="101" name="SmartArt Fallback Group"/>
              <p:cNvGrpSpPr/>
              <p:nvPr/>
            </p:nvGrpSpPr>
            <p:grpSpPr>
              <a:xfrm>
                <a:off x="457200" y="1371600"/>
                <a:ext cx="8229600" cy="2743200"/>
                <a:chOff x="0" y="0"/>
                <a:chExt cx="8229600" cy="2743200"/>
              </a:xfrm>
            </p:grpSpPr>
            <p:sp>
              <p:nvSpPr>
                <p:cNvPr id="102" name="Step 1"/>
                <p:cNvSpPr/>
                <p:nvPr/>
              </p:nvSpPr>
              <p:spPr>
                <a:xfrm>
                  <a:off x="0" y="457200"/>
                  <a:ext cx="2286000" cy="1828800"/>
                </a:xfrm>
                <a:prstGeom prst="roundRect">
                  <a:avLst/>
                </a:prstGeom>
                <a:solidFill>
                  <a:srgbClr val="4472C4"/>
                </a:solidFill>
              </p:spPr>
              <p:txBody>
                <a:bodyPr anchor="ctr" wrap="square"/>
                <a:lstStyle/>
                <a:p>
                  <a:pPr algn="ctr"/>
                  <a:r>
                    <a:rPr lang="en-US" sz="1800" b="1">
                      <a:solidFill>
                        <a:srgbClr val="FFFFFF"/>
                      </a:solidFill>
                    </a:rPr>
                    <a:t>Plan</a:t>
                  </a:r>
                </a:p>
              </p:txBody>
            </p:sp>
            <p:sp>
              <p:nvSpPr>
                <p:cNvPr id="103" name="Step 2"/>
                <p:cNvSpPr/>
                <p:nvPr/>
              </p:nvSpPr>
              <p:spPr>
                <a:xfrm>
                  <a:off x="2971800" y="457200"/>
                  <a:ext cx="2286000" cy="1828800"/>
                </a:xfrm>
                <a:prstGeom prst="roundRect">
                  <a:avLst/>
                </a:prstGeom>
                <a:solidFill>
                  <a:srgbClr val="ED7D31"/>
                </a:solidFill>
              </p:spPr>
              <p:txBody>
                <a:bodyPr anchor="ctr" wrap="square"/>
                <a:lstStyle/>
                <a:p>
                  <a:pPr algn="ctr"/>
                  <a:r>
                    <a:rPr lang="en-US" sz="1800" b="1">
                      <a:solidFill>
                        <a:srgbClr val="FFFFFF"/>
                      </a:solidFill>
                    </a:rPr>
                    <a:t>Build</a:t>
                  </a:r>
                </a:p>
              </p:txBody>
            </p:sp>
            <p:sp>
              <p:nvSpPr>
                <p:cNvPr id="104" name="Step 3"/>
                <p:cNvSpPr/>
                <p:nvPr/>
              </p:nvSpPr>
              <p:spPr>
                <a:xfrm>
                  <a:off x="5943600" y="457200"/>
                  <a:ext cx="2286000" cy="1828800"/>
                </a:xfrm>
                <a:prstGeom prst="roundRect">
                  <a:avLst/>
                </a:prstGeom>
                <a:solidFill>
                  <a:srgbClr val="70AD47"/>
                </a:solidFill>
              </p:spPr>
              <p:txBody>
                <a:bodyPr anchor="ctr" wrap="square"/>
                <a:lstStyle/>
                <a:p>
                  <a:pPr algn="ctr"/>
                  <a:r>
                    <a:rPr lang="en-US" sz="1800" b="1">
                      <a:solidFill>
                        <a:srgbClr val="FFFFFF"/>
                      </a:solidFill>
                    </a:rPr>
                    <a:t>Ship</a:t>
                  </a:r>
                </a:p>
              </p:txBody>
            </p:sp>
          </p:grpSp>
        </mc:Fallback>
      </mc:AlternateContent>
      <p:sp>
        <p:nvSpPr>
          <p:cNvPr id="105" name="TextBox 104"/>
          <p:cNvSpPr txBox="1"/>
          <p:nvPr/>
        </p:nvSpPr>
        <p:spPr>
          <a:xfrm>
            <a:off x="457200" y="274320"/>
            <a:ext cx="8229600" cy="731520"/>
          </a:xfrm>
          <a:prstGeom prst="rect">
            <a:avLst/>
          </a:prstGeom>
          <a:noFill/>
        </p:spPr>
        <p:txBody>
          <a:bodyPr wrap="none">
            <a:spAutoFit/>
          </a:bodyPr>
          <a:lstStyle/>
          <a:p>
            <a:pPr>
              <a:defRPr sz="2400" b="1"/>
            </a:pPr>
            <a:r>
              <a:t>Slide 75: SmartArt Fallback (mc:AlternateContent)</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graphicFrame>
        <p:nvGraphicFramePr>
          <p:cNvPr id="200" name="OLE Object"/>
          <p:cNvGraphicFramePr/>
          <p:nvPr/>
        </p:nvGraphicFramePr>
        <p:xfrm>
          <a:off x="914400" y="1828800"/>
          <a:ext cx="4572000" cy="3429000"/>
        </p:xfrm>
        <a:graphic>
          <a:graphicData uri="http://schemas.openxmlformats.org/presentationml/2006/ole">
            <p:oleObj r:id="rId3" imgW="4572000" imgH="3429000" progId="Excel.Sheet.12" name="Embedded Spreadsheet">
              <p:embed/>
              <p:pic>
                <p:nvPicPr>
                  <p:cNvPr id="201" name="OLE Fallback"/>
                  <p:cNvPicPr/>
                  <p:nvPr/>
                </p:nvPicPr>
                <p:blipFill>
                  <a:blip r:embed="rId2"/>
                  <a:stretch>
                    <a:fillRect/>
                  </a:stretch>
                </p:blipFill>
                <p:spPr>
                  <a:xfrm>
                    <a:off x="0" y="0"/>
                    <a:ext cx="4572000" cy="3429000"/>
                  </a:xfrm>
                  <a:prstGeom prst="rect">
                    <a:avLst/>
                  </a:prstGeom>
                </p:spPr>
              </p:pic>
            </p:oleObj>
          </a:graphicData>
        </a:graphic>
      </p:graphicFrame>
      <p:sp>
        <p:nvSpPr>
          <p:cNvPr id="202" name="TextBox 201"/>
          <p:cNvSpPr txBox="1"/>
          <p:nvPr/>
        </p:nvSpPr>
        <p:spPr>
          <a:xfrm>
            <a:off x="457200" y="274320"/>
            <a:ext cx="8229600" cy="731520"/>
          </a:xfrm>
          <a:prstGeom prst="rect">
            <a:avLst/>
          </a:prstGeom>
          <a:noFill/>
        </p:spPr>
        <p:txBody>
          <a:bodyPr wrap="none">
            <a:spAutoFit/>
          </a:bodyPr>
          <a:lstStyle/>
          <a:p>
            <a:pPr>
              <a:defRPr sz="2400" b="1"/>
            </a:pPr>
            <a:r>
              <a:t>Slide 76: OLE Embedded Object (p:oleObj)</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300" name="Video Placeholder"/>
          <p:cNvPicPr/>
          <p:nvPr>
            <a:videoFile r:link="rId3"/>
          </p:nvPr>
        </p:nvPicPr>
        <p:blipFill>
          <a:blip r:embed="rId2"/>
          <a:stretch>
            <a:fillRect/>
          </a:stretch>
        </p:blipFill>
        <p:spPr>
          <a:xfrm>
            <a:off x="1371600" y="1828800"/>
            <a:ext cx="6858000" cy="3886200"/>
          </a:xfrm>
          <a:prstGeom prst="rect">
            <a:avLst/>
          </a:prstGeom>
        </p:spPr>
      </p:pic>
      <p:sp>
        <p:nvSpPr>
          <p:cNvPr id="301" name="TextBox 300"/>
          <p:cNvSpPr txBox="1"/>
          <p:nvPr/>
        </p:nvSpPr>
        <p:spPr>
          <a:xfrm>
            <a:off x="457200" y="274320"/>
            <a:ext cx="8229600" cy="731520"/>
          </a:xfrm>
          <a:prstGeom prst="rect">
            <a:avLst/>
          </a:prstGeom>
          <a:noFill/>
        </p:spPr>
        <p:txBody>
          <a:bodyPr wrap="none">
            <a:spAutoFit/>
          </a:bodyPr>
          <a:lstStyle/>
          <a:p>
            <a:pPr>
              <a:defRPr sz="2400" b="1"/>
            </a:pPr>
            <a:r>
              <a:t>Slide 77: Media (Video with Poster Frame)</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914400" y="274320"/>
            <a:ext cx="7315200" cy="731520"/>
          </a:xfrm>
          <a:prstGeom prst="rect">
            <a:avLst/>
          </a:prstGeom>
          <a:noFill/>
        </p:spPr>
        <p:txBody>
          <a:bodyPr wrap="none">
            <a:spAutoFit/>
          </a:bodyPr>
          <a:lstStyle/>
          <a:p>
            <a:pPr>
              <a:defRPr sz="2800" b="1"/>
            </a:pPr>
            <a:r>
              <a:t>Slide 78: Math Equation (OMML)</a:t>
            </a:r>
          </a:p>
        </p:txBody>
      </p:sp>
      <p:sp>
        <p:nvSpPr>
          <p:cNvPr id="3" name="TextBox 2"/>
          <p:cNvSpPr txBox="1"/>
          <p:nvPr/>
        </p:nvSpPr>
        <p:spPr>
          <a:xfrm>
            <a:off x="1828800" y="1828800"/>
            <a:ext cx="5486400" cy="1828800"/>
          </a:xfrm>
          <a:prstGeom prst="rect">
            <a:avLst/>
          </a:prstGeom>
          <a:noFill/>
        </p:spPr>
        <p:txBody>
          <a:bodyPr wrap="none">
            <a:spAutoFit/>
          </a:bodyPr>
          <a:lstStyle/>
          <a:p>
            <a:pPr>
              <a:defRPr sz="2400"/>
            </a:pPr>
            <m:oMathPara xmlns:m="http://schemas.openxmlformats.org/officeDocument/2006/math">
              <m:oMath>
                <m:r>
                  <m:t>x</m:t>
                </m:r>
                <m:r>
                  <m:t>=</m:t>
                </m:r>
                <m:f>
                  <m:num>
                    <m:r>
                      <m:t>-b±</m:t>
                    </m:r>
                    <m:rad>
                      <m:radPr>
                        <m:degHide m:val="1"/>
                      </m:radPr>
                      <m:deg/>
                      <m:e>
                        <m:sSup>
                          <m:e>
                            <m:r>
                              <m:t>b</m:t>
                            </m:r>
                          </m:e>
                          <m:sup>
                            <m:r>
                              <m:t>2</m:t>
                            </m:r>
                          </m:sup>
                        </m:sSup>
                        <m:r>
                          <m:t>-4ac</m:t>
                        </m:r>
                      </m:e>
                    </m:rad>
                  </m:num>
                  <m:den>
                    <m:r>
                      <m:t>2a</m:t>
                    </m:r>
                  </m:den>
                </m:f>
              </m:oMath>
            </m:oMathPara>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79: Transition + Timing (round-trip)</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has a fade transition and timing data for round-trip.</a:t>
            </a:r>
          </a:p>
        </p:txBody>
      </p:sp>
    </p:spTree>
  </p:cSld>
  <p:clrMapOvr>
    <a:masterClrMapping/>
  </p:clrMapOvr>
  <p:transition spd="med">
    <p:fade/>
  </p:transition>
  <p:timing>
    <p:tnLst>
      <p:par>
        <p:cTn id="1" dur="indefinite" restart="never" nodeType="tmRoot"/>
      </p:par>
    </p:tnLst>
  </p:timing>
</p:sld>
</file>

<file path=ppt/slides/slide81.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80: Hidden Slide</a:t>
            </a:r>
          </a:p>
        </p:txBody>
      </p:sp>
      <p:sp>
        <p:nvSpPr>
          <p:cNvPr id="3" name="TextBox 2"/>
          <p:cNvSpPr txBox="1"/>
          <p:nvPr/>
        </p:nvSpPr>
        <p:spPr>
          <a:xfrm>
            <a:off x="457200" y="1371600"/>
            <a:ext cx="8229600" cy="914400"/>
          </a:xfrm>
          <a:prstGeom prst="rect">
            <a:avLst/>
          </a:prstGeom>
          <a:noFill/>
        </p:spPr>
        <p:txBody>
          <a:bodyPr wrap="none">
            <a:spAutoFit/>
          </a:bodyPr>
          <a:lstStyle/>
          <a:p>
            <a:pPr>
              <a:defRPr sz="1600"/>
            </a:pPr>
            <a:r>
              <a:t>This slide is marked as hidden (show='0').</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100" name="WMF Picture"/>
          <p:cNvPicPr>
            <a:picLocks noChangeAspect="1"/>
          </p:cNvPicPr>
          <p:nvPr/>
        </p:nvPicPr>
        <p:blipFill>
          <a:blip r:embed="rWmf1"/>
          <a:stretch>
            <a:fillRect/>
          </a:stretch>
        </p:blipFill>
        <p:spPr>
          <a:xfrm>
            <a:off x="914400" y="2286000"/>
            <a:ext cx="4572000" cy="3657600"/>
          </a:xfrm>
          <a:prstGeom prst="rect">
            <a:avLst/>
          </a:prstGeom>
        </p:spPr>
      </p:pic>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82: OMML — Large Operators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nary>
                  <m:naryPr>
                    <m:chr m:val="∫"/>
                    <m:limLoc m:val="subSup"/>
                  </m:naryPr>
                  <m:sub>
                    <m:r>
                      <m:t>0</m:t>
                    </m:r>
                  </m:sub>
                  <m:sup>
                    <m:r>
                      <m:t>∞</m:t>
                    </m:r>
                  </m:sup>
                  <m:e>
                    <m:sSup>
                      <m:e>
                        <m:r>
                          <m:t>e</m:t>
                        </m:r>
                      </m:e>
                      <m:sup>
                        <m:r>
                          <m:t>-x</m:t>
                        </m:r>
                      </m:sup>
                    </m:sSup>
                    <m:r>
                      <m:t>dx</m:t>
                    </m:r>
                  </m:e>
                </m:nary>
                <m:r>
                  <m:t>=</m:t>
                </m:r>
                <m:r>
                  <m:t>1</m:t>
                </m:r>
              </m:oMath>
            </m:oMathPara>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83: OMML — Matrix + Delimiters</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r>
                  <m:t>A=</m:t>
                </m:r>
                <m:d>
                  <m:dPr>
                    <m:begChr m:val="["/>
                    <m:endChr m:val="]"/>
                  </m:dPr>
                  <m:e>
                    <m:m>
                      <m:mr>
                        <m:e>
                          <m:r>
                            <m:t>a</m:t>
                          </m:r>
                        </m:e>
                        <m:e>
                          <m:r>
                            <m:t>b</m:t>
                          </m:r>
                        </m:e>
                      </m:mr>
                      <m:mr>
                        <m:e>
                          <m:r>
                            <m:t>c</m:t>
                          </m:r>
                        </m:e>
                        <m:e>
                          <m:r>
                            <m:t>d</m:t>
                          </m:r>
                        </m:e>
                      </m:mr>
                    </m:m>
                  </m:e>
                </m:d>
              </m:oMath>
            </m:oMathPara>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84: OMML — Accent + Bar + SubSup</a:t>
            </a:r>
          </a:p>
        </p:txBody>
      </p:sp>
      <p:sp>
        <p:nvSpPr>
          <p:cNvPr id="3" name="TextBox 2"/>
          <p:cNvSpPr txBox="1"/>
          <p:nvPr/>
        </p:nvSpPr>
        <p:spPr>
          <a:xfrm>
            <a:off x="914400" y="1828800"/>
            <a:ext cx="7315200" cy="2743200"/>
          </a:xfrm>
          <a:prstGeom prst="rect">
            <a:avLst/>
          </a:prstGeom>
          <a:noFill/>
        </p:spPr>
        <p:txBody>
          <a:bodyPr wrap="none">
            <a:spAutoFit/>
          </a:bodyPr>
          <a:lstStyle/>
          <a:p>
            <a:pPr>
              <a:defRPr sz="2400"/>
            </a:pPr>
            <m:oMathPara xmlns:m="http://schemas.openxmlformats.org/officeDocument/2006/math">
              <m:oMath>
                <m:acc>
                  <m:accPr>
                    <m:chr m:val="̂"/>
                  </m:accPr>
                  <m:e>
                    <m:r>
                      <m:t>x</m:t>
                    </m:r>
                  </m:e>
                </m:acc>
                <m:r>
                  <m:t>=</m:t>
                </m:r>
                <m:bar>
                  <m:barPr>
                    <m:pos m:val="top"/>
                  </m:barPr>
                  <m:e>
                    <m:r>
                      <m:t>y</m:t>
                    </m:r>
                  </m:e>
                </m:bar>
                <m:r>
                  <m:t>+</m:t>
                </m:r>
                <m:sSubSup>
                  <m:e>
                    <m:r>
                      <m:t>z</m:t>
                    </m:r>
                  </m:e>
                  <m:sub>
                    <m:r>
                      <m:t>i</m:t>
                    </m:r>
                  </m:sub>
                  <m:sup>
                    <m:r>
                      <m:t>n</m:t>
                    </m:r>
                  </m:sup>
                </m:sSubSup>
              </m:oMath>
            </m:oMathPara>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85: Blur Effect (a:blur)</a:t>
            </a:r>
          </a:p>
        </p:txBody>
      </p:sp>
      <p:sp xmlns:p="http://schemas.openxmlformats.org/presentationml/2006/main" xmlns:a="http://schemas.openxmlformats.org/drawingml/2006/main" xmlns:r="http://schemas.openxmlformats.org/officeDocument/2006/relationships">
        <p:nvSpPr>
          <p:cNvPr id="401" name="BlurShape"/>
          <p:cNvSpPr/>
          <p:nvPr/>
        </p:nvSpPr>
        <p:spPr>
          <a:xfrm>
            <a:off x="1828800" y="1828800"/>
            <a:ext cx="5486400" cy="2743200"/>
          </a:xfrm>
          <a:prstGeom prst="roundRect">
            <a:avLst/>
          </a:prstGeom>
          <a:solidFill>
            <a:srgbClr val="4472C4"/>
          </a:solidFill>
          <a:effectLst>
            <a:blur rad="76200"/>
          </a:effectLst>
        </p:spPr>
        <p:txBody>
          <a:bodyPr anchor="ctr"/>
          <a:lstStyle/>
          <a:p>
            <a:pPr algn="ctr"/>
            <a:r>
              <a:rPr lang="en-US" sz="2400" b="1"/>
              <a:t>Blur Effect</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86: Preset Shadow (a:prstShdw)</a:t>
            </a:r>
          </a:p>
        </p:txBody>
      </p:sp>
      <p:sp xmlns:p="http://schemas.openxmlformats.org/presentationml/2006/main" xmlns:a="http://schemas.openxmlformats.org/drawingml/2006/main" xmlns:r="http://schemas.openxmlformats.org/officeDocument/2006/relationships">
        <p:nvSpPr>
          <p:cNvPr id="501" name="PrstShdw1"/>
          <p:cNvSpPr/>
          <p:nvPr/>
        </p:nvSpPr>
        <p:spPr>
          <a:xfrm>
            <a:off x="457200" y="1828800"/>
            <a:ext cx="3657600" cy="2286000"/>
          </a:xfrm>
          <a:prstGeom prst="roundRect">
            <a:avLst/>
          </a:prstGeom>
          <a:solidFill>
            <a:srgbClr val="4472C4"/>
          </a:solidFill>
          <a:effectLst>
            <a:prstShdw prst="shdw1" dist="76200" dir="2700000">
              <a:srgbClr val="000000">
                <a:alpha val="60000"/>
              </a:srgbClr>
            </a:prstShdw>
          </a:effectLst>
        </p:spPr>
        <p:txBody>
          <a:bodyPr anchor="ctr"/>
          <a:lstStyle/>
          <a:p>
            <a:pPr algn="ctr"/>
            <a:r>
              <a:rPr lang="en-US" sz="1400" b="1">
                <a:solidFill>
                  <a:srgbClr val="FFFFFF"/>
                </a:solidFill>
              </a:rPr>
              <a:t>shdw1 (Bottom Right)</a:t>
            </a:r>
          </a:p>
        </p:txBody>
      </p:sp>
      <p:sp xmlns:p="http://schemas.openxmlformats.org/presentationml/2006/main" xmlns:a="http://schemas.openxmlformats.org/drawingml/2006/main" xmlns:r="http://schemas.openxmlformats.org/officeDocument/2006/relationships">
        <p:nvSpPr>
          <p:cNvPr id="502" name="PrstShdw2"/>
          <p:cNvSpPr/>
          <p:nvPr/>
        </p:nvSpPr>
        <p:spPr>
          <a:xfrm>
            <a:off x="5029200" y="1828800"/>
            <a:ext cx="3657600" cy="2286000"/>
          </a:xfrm>
          <a:prstGeom prst="roundRect">
            <a:avLst/>
          </a:prstGeom>
          <a:solidFill>
            <a:srgbClr val="ED7D31"/>
          </a:solidFill>
          <a:effectLst>
            <a:prstShdw prst="shdw2" dist="76200" dir="5400000">
              <a:srgbClr val="000000">
                <a:alpha val="60000"/>
              </a:srgbClr>
            </a:prstShdw>
          </a:effectLst>
        </p:spPr>
        <p:txBody>
          <a:bodyPr anchor="ctr"/>
          <a:lstStyle/>
          <a:p>
            <a:pPr algn="ctr"/>
            <a:r>
              <a:rPr lang="en-US" sz="1400" b="1">
                <a:solidFill>
                  <a:srgbClr val="FFFFFF"/>
                </a:solidFill>
              </a:rPr>
              <a:t>shdw2 (Bottom)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a:effectLst>
            <a:fillOverlay blend="over">
              <a:solidFill>
                <a:srgbClr val="FF0000">
                  <a:alpha val="50000"/>
                </a:srgbClr>
              </a:solidFill>
            </a:fillOverlay>
          </a:effectLst>
        </p:spPr>
        <p:txBody>
          <a:bodyPr wrap="none">
            <a:spAutoFit/>
          </a:bodyPr>
          <a:lstStyle/>
          <a:p>
            <a:pPr>
              <a:defRPr sz="2400" b="1"/>
            </a:pPr>
            <a:r>
              <a:t>Slide 87: Fill Overlay (a:fillOverlay)</a:t>
            </a:r>
          </a:p>
        </p:txBody>
      </p:sp>
      <p:sp>
        <p:nvSpPr>
          <p:cNvPr id="3" name="TextBox 2"/>
          <p:cNvSpPr txBox="1"/>
          <p:nvPr/>
        </p:nvSpPr>
        <p:spPr>
          <a:xfrm>
            <a:off x="457200" y="1371600"/>
            <a:ext cx="1371600" cy="1371600"/>
          </a:xfrm>
          <a:prstGeom prst="rect">
            <a:avLst/>
          </a:prstGeom>
          <a:solidFill>
            <a:srgbClr val="0000FF"/>
          </a:solidFill>
          <a:effectLst>
            <a:fillOverlay blend="over">
              <a:solidFill>
                <a:srgbClr val="FF0000">
                  <a:alpha val="50000"/>
                </a:srgbClr>
              </a:solidFill>
            </a:fillOverlay>
          </a:effectLst>
        </p:spPr>
        <p:txBody>
          <a:bodyPr wrap="none">
            <a:spAutoFit/>
          </a:bodyPr>
          <a:lstStyle/>
          <a:p>
            <a:pPr>
              <a:defRPr sz="1400" b="1"/>
            </a:pPr>
            <a:r>
              <a:t>over</a:t>
            </a:r>
          </a:p>
        </p:txBody>
      </p:sp>
      <p:sp>
        <p:nvSpPr>
          <p:cNvPr id="4" name="TextBox 3"/>
          <p:cNvSpPr txBox="1"/>
          <p:nvPr/>
        </p:nvSpPr>
        <p:spPr>
          <a:xfrm>
            <a:off x="2103120" y="1371600"/>
            <a:ext cx="1371600" cy="1371600"/>
          </a:xfrm>
          <a:prstGeom prst="rect">
            <a:avLst/>
          </a:prstGeom>
          <a:solidFill>
            <a:srgbClr val="00AA00"/>
          </a:solidFill>
          <a:effectLst>
            <a:fillOverlay blend="mult">
              <a:solidFill>
                <a:srgbClr val="FF0000">
                  <a:alpha val="50000"/>
                </a:srgbClr>
              </a:solidFill>
            </a:fillOverlay>
          </a:effectLst>
        </p:spPr>
        <p:txBody>
          <a:bodyPr wrap="none">
            <a:spAutoFit/>
          </a:bodyPr>
          <a:lstStyle/>
          <a:p>
            <a:pPr>
              <a:defRPr sz="1400" b="1"/>
            </a:pPr>
            <a:r>
              <a:t>mult</a:t>
            </a:r>
          </a:p>
        </p:txBody>
      </p:sp>
      <p:sp>
        <p:nvSpPr>
          <p:cNvPr id="5" name="TextBox 4"/>
          <p:cNvSpPr txBox="1"/>
          <p:nvPr/>
        </p:nvSpPr>
        <p:spPr>
          <a:xfrm>
            <a:off x="3749039" y="1371600"/>
            <a:ext cx="1371600" cy="1371600"/>
          </a:xfrm>
          <a:prstGeom prst="rect">
            <a:avLst/>
          </a:prstGeom>
          <a:solidFill>
            <a:srgbClr val="FF6600"/>
          </a:solidFill>
          <a:effectLst>
            <a:fillOverlay blend="screen">
              <a:solidFill>
                <a:srgbClr val="FF0000">
                  <a:alpha val="50000"/>
                </a:srgbClr>
              </a:solidFill>
            </a:fillOverlay>
          </a:effectLst>
        </p:spPr>
        <p:txBody>
          <a:bodyPr wrap="none">
            <a:spAutoFit/>
          </a:bodyPr>
          <a:lstStyle/>
          <a:p>
            <a:pPr>
              <a:defRPr sz="1400" b="1"/>
            </a:pPr>
            <a:r>
              <a:t>screen</a:t>
            </a:r>
          </a:p>
        </p:txBody>
      </p:sp>
      <p:sp>
        <p:nvSpPr>
          <p:cNvPr id="6" name="TextBox 5"/>
          <p:cNvSpPr txBox="1"/>
          <p:nvPr/>
        </p:nvSpPr>
        <p:spPr>
          <a:xfrm>
            <a:off x="5394960" y="1371600"/>
            <a:ext cx="1371600" cy="1371600"/>
          </a:xfrm>
          <a:prstGeom prst="rect">
            <a:avLst/>
          </a:prstGeom>
          <a:solidFill>
            <a:srgbClr val="8800CC"/>
          </a:solidFill>
          <a:effectLst>
            <a:fillOverlay blend="darken">
              <a:solidFill>
                <a:srgbClr val="FF0000">
                  <a:alpha val="50000"/>
                </a:srgbClr>
              </a:solidFill>
            </a:fillOverlay>
          </a:effectLst>
        </p:spPr>
        <p:txBody>
          <a:bodyPr wrap="none">
            <a:spAutoFit/>
          </a:bodyPr>
          <a:lstStyle/>
          <a:p>
            <a:pPr>
              <a:defRPr sz="1400" b="1"/>
            </a:pPr>
            <a:r>
              <a:t>darken</a:t>
            </a:r>
          </a:p>
        </p:txBody>
      </p:sp>
      <p:sp>
        <p:nvSpPr>
          <p:cNvPr id="7" name="TextBox 6"/>
          <p:cNvSpPr txBox="1"/>
          <p:nvPr/>
        </p:nvSpPr>
        <p:spPr>
          <a:xfrm>
            <a:off x="7040880" y="1371600"/>
            <a:ext cx="1371600" cy="1371600"/>
          </a:xfrm>
          <a:prstGeom prst="rect">
            <a:avLst/>
          </a:prstGeom>
          <a:solidFill>
            <a:srgbClr val="CC0000"/>
          </a:solidFill>
          <a:effectLst>
            <a:fillOverlay blend="lighten">
              <a:solidFill>
                <a:srgbClr val="FF0000">
                  <a:alpha val="50000"/>
                </a:srgbClr>
              </a:solidFill>
            </a:fillOverlay>
          </a:effectLst>
        </p:spPr>
        <p:txBody>
          <a:bodyPr wrap="none">
            <a:spAutoFit/>
          </a:bodyPr>
          <a:lstStyle/>
          <a:p>
            <a:pPr>
              <a:defRPr sz="1400" b="1"/>
            </a:pPr>
            <a:r>
              <a:t>lighten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457200" y="274320"/>
            <a:ext cx="8229600" cy="731520"/>
          </a:xfrm>
          <a:prstGeom prst="rect">
            <a:avLst/>
          </a:prstGeom>
          <a:noFill/>
        </p:spPr>
        <p:txBody>
          <a:bodyPr wrap="none">
            <a:spAutoFit/>
          </a:bodyPr>
          <a:lstStyle/>
          <a:p>
            <a:pPr>
              <a:defRPr sz="2400" b="1"/>
            </a:pPr>
            <a:r>
              <a:t>Slide 88: Justified Text (algn="just")</a:t>
            </a:r>
          </a:p>
        </p:txBody>
      </p:sp>
      <p:sp>
        <p:nvSpPr>
          <p:cNvPr id="3" name="TextBox 2"/>
          <p:cNvSpPr txBox="1"/>
          <p:nvPr/>
        </p:nvSpPr>
        <p:spPr>
          <a:xfrm>
            <a:off x="914400" y="1371600"/>
            <a:ext cx="4572000" cy="2743200"/>
          </a:xfrm>
          <a:prstGeom prst="rect">
            <a:avLst/>
          </a:prstGeom>
          <a:noFill/>
        </p:spPr>
        <p:txBody>
          <a:bodyPr wrap="square">
            <a:spAutoFit/>
          </a:bodyPr>
          <a:lstStyle/>
          <a:p>
            <a:pPr algn="just">
              <a:defRPr sz="1600"/>
            </a:pPr>
            <a:r>
              <a:t>This is a justified paragraph with enough text to wrap across multiple lines. The word spacing should be adjusted so that each line extends to fill the full width of the text box evenly.</a:t>
            </a:r>
          </a:p>
          <a:p>
            <a:pPr algn="just">
              <a:defRPr sz="1600"/>
            </a:pPr>
            <a:r>
              <a:t>Short last line.</a:t>
            </a:r>
          </a:p>
        </p:txBody>
      </p:sp>
      <p:sp>
        <p:nvSpPr>
          <p:cNvPr id="4" name="TextBox 3"/>
          <p:cNvSpPr txBox="1"/>
          <p:nvPr/>
        </p:nvSpPr>
        <p:spPr>
          <a:xfrm>
            <a:off x="914400" y="4572000"/>
            <a:ext cx="4572000" cy="1828800"/>
          </a:xfrm>
          <a:prstGeom prst="rect">
            <a:avLst/>
          </a:prstGeom>
          <a:noFill/>
        </p:spPr>
        <p:txBody>
          <a:bodyPr wrap="square">
            <a:spAutoFit/>
          </a:bodyPr>
          <a:lstStyle/>
          <a:p>
            <a:pPr algn="just">
              <a:defRPr sz="1600"/>
            </a:pPr>
            <a:r>
              <a:t>均等割り付けのテスト文章です。日本語テキストはスペースがないため文字間隔で調整されます。</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ea typeface="Yu Gothic"/>
      </a:majorFont>
      <a:minorFont>
        <a:latin typeface="Calibri"/>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ea typeface="Yu Gothic"/>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