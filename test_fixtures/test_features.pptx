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52160"/>
            <a:ext cx="7315200" cy="0"/>
          </a:xfrm>
          <a:prstGeom prst="line">
            <a:avLst/>
          </a:prstGeom>
          <a:noFill/>
          <a:ln w="25400">
            <a:solidFill>
              <a:srgbClr val="FF6600"/>
            </a:solidFill>
            <a:custDash>
              <a:ds d="400000" sp="100000"/>
              <a:ds d="100000" sp="100000"/>
            </a:custDash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5623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custDash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0" name="prst_triangle"/>
          <p:cNvSpPr/>
          <p:nvPr/>
        </p:nvSpPr>
        <p:spPr>
          <a:xfrm>
            <a:off x="457200" y="457200"/>
            <a:ext cx="1143000" cy="1143000"/>
          </a:xfrm>
          <a:prstGeom prst="triangle">
            <a:avLst/>
          </a:prstGeom>
          <a:solidFill>
            <a:srgbClr val="FF6B6B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triangle</a:t>
            </a:r>
          </a:p>
        </p:txBody>
      </p:sp>
      <p:sp>
        <p:nvSpPr>
          <p:cNvPr id="0" name="prst_diamond"/>
          <p:cNvSpPr/>
          <p:nvPr/>
        </p:nvSpPr>
        <p:spPr>
          <a:xfrm>
            <a:off x="1981200" y="457200"/>
            <a:ext cx="1143000" cy="1143000"/>
          </a:xfrm>
          <a:prstGeom prst="diamond">
            <a:avLst/>
          </a:prstGeom>
          <a:solidFill>
            <a:srgbClr val="4ECD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diamond</a:t>
            </a:r>
          </a:p>
        </p:txBody>
      </p:sp>
      <p:sp>
        <p:nvSpPr>
          <p:cNvPr id="0" name="prst_pentagon"/>
          <p:cNvSpPr/>
          <p:nvPr/>
        </p:nvSpPr>
        <p:spPr>
          <a:xfrm>
            <a:off x="3505200" y="457200"/>
            <a:ext cx="1143000" cy="1143000"/>
          </a:xfrm>
          <a:prstGeom prst="pentagon">
            <a:avLst/>
          </a:prstGeom>
          <a:solidFill>
            <a:srgbClr val="FFD93D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pentagon</a:t>
            </a:r>
          </a:p>
        </p:txBody>
      </p:sp>
      <p:sp>
        <p:nvSpPr>
          <p:cNvPr id="0" name="prst_hexagon"/>
          <p:cNvSpPr/>
          <p:nvPr/>
        </p:nvSpPr>
        <p:spPr>
          <a:xfrm>
            <a:off x="5029200" y="457200"/>
            <a:ext cx="1143000" cy="1143000"/>
          </a:xfrm>
          <a:prstGeom prst="hexagon">
            <a:avLst/>
          </a:prstGeom>
          <a:solidFill>
            <a:srgbClr val="6C5CE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hexagon</a:t>
            </a:r>
          </a:p>
        </p:txBody>
      </p:sp>
      <p:sp>
        <p:nvSpPr>
          <p:cNvPr id="0" name="prst_rightArrow"/>
          <p:cNvSpPr/>
          <p:nvPr/>
        </p:nvSpPr>
        <p:spPr>
          <a:xfrm>
            <a:off x="6553200" y="457200"/>
            <a:ext cx="1143000" cy="1143000"/>
          </a:xfrm>
          <a:prstGeom prst="rightArrow">
            <a:avLst/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prst_star5"/>
          <p:cNvSpPr/>
          <p:nvPr/>
        </p:nvSpPr>
        <p:spPr>
          <a:xfrm>
            <a:off x="8077200" y="457200"/>
            <a:ext cx="1143000" cy="1143000"/>
          </a:xfrm>
          <a:prstGeom prst="star5">
            <a:avLst/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0" name="prst_heart"/>
          <p:cNvSpPr/>
          <p:nvPr/>
        </p:nvSpPr>
        <p:spPr>
          <a:xfrm>
            <a:off x="457200" y="2286000"/>
            <a:ext cx="1143000" cy="1143000"/>
          </a:xfrm>
          <a:prstGeom prst="heart">
            <a:avLst/>
          </a:prstGeom>
          <a:solidFill>
            <a:srgbClr val="E1705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heart</a:t>
            </a:r>
          </a:p>
        </p:txBody>
      </p:sp>
      <p:sp>
        <p:nvSpPr>
          <p:cNvPr id="0" name="prst_plus"/>
          <p:cNvSpPr/>
          <p:nvPr/>
        </p:nvSpPr>
        <p:spPr>
          <a:xfrm>
            <a:off x="1981200" y="2286000"/>
            <a:ext cx="1143000" cy="1143000"/>
          </a:xfrm>
          <a:prstGeom prst="plus">
            <a:avLst/>
          </a:prstGeom>
          <a:solidFill>
            <a:srgbClr val="00CEC9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plus</a:t>
            </a:r>
          </a:p>
        </p:txBody>
      </p:sp>
      <p:sp>
        <p:nvSpPr>
          <p:cNvPr id="0" name="prst_flowChartDecision"/>
          <p:cNvSpPr/>
          <p:nvPr/>
        </p:nvSpPr>
        <p:spPr>
          <a:xfrm>
            <a:off x="3505200" y="2286000"/>
            <a:ext cx="1143000" cy="1143000"/>
          </a:xfrm>
          <a:prstGeom prst="flowChartDecision">
            <a:avLst/>
          </a:prstGeom>
          <a:solidFill>
            <a:srgbClr val="A29BF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flowChartDecision</a:t>
            </a:r>
          </a:p>
        </p:txBody>
      </p:sp>
      <p:sp>
        <p:nvSpPr>
          <p:cNvPr id="0" name="prst_chevron"/>
          <p:cNvSpPr/>
          <p:nvPr/>
        </p:nvSpPr>
        <p:spPr>
          <a:xfrm>
            <a:off x="5029200" y="2286000"/>
            <a:ext cx="1143000" cy="1143000"/>
          </a:xfrm>
          <a:prstGeom prst="chevron">
            <a:avLst/>
          </a:prstGeom>
          <a:solidFill>
            <a:srgbClr val="55EF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chevron</a:t>
            </a:r>
          </a:p>
        </p:txBody>
      </p:sp>
      <p:sp>
        <p:nvSpPr>
          <p:cNvPr id="0" name="prst_parallelogram"/>
          <p:cNvSpPr/>
          <p:nvPr/>
        </p:nvSpPr>
        <p:spPr>
          <a:xfrm>
            <a:off x="6553200" y="2286000"/>
            <a:ext cx="1143000" cy="1143000"/>
          </a:xfrm>
          <a:prstGeom prst="parallelogram">
            <a:avLst/>
          </a:prstGeom>
          <a:solidFill>
            <a:srgbClr val="FF767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parallelogram</a:t>
            </a:r>
          </a:p>
        </p:txBody>
      </p:sp>
      <p:sp>
        <p:nvSpPr>
          <p:cNvPr id="0" name="prst_octagon"/>
          <p:cNvSpPr/>
          <p:nvPr/>
        </p:nvSpPr>
        <p:spPr>
          <a:xfrm>
            <a:off x="8077200" y="2286000"/>
            <a:ext cx="1143000" cy="1143000"/>
          </a:xfrm>
          <a:prstGeom prst="octagon">
            <a:avLst/>
          </a:prstGeom>
          <a:solidFill>
            <a:srgbClr val="FFEAA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octagon</a:t>
            </a:r>
          </a:p>
        </p:txBody>
      </p:sp>
      <p:sp>
        <p:nvSpPr>
          <p:cNvPr id="0" name="rightArrow_adj"/>
          <p:cNvSpPr/>
          <p:nvPr/>
        </p:nvSpPr>
        <p:spPr>
          <a:xfrm>
            <a:off x="457200" y="4114800"/>
            <a:ext cx="2286000" cy="914400"/>
          </a:xfrm>
          <a:prstGeom prst="rightArrow">
            <a:avLst>
              <a:gd name="adj1" fmla="val 70000"/>
              <a:gd name="adj2" fmla="val 30000"/>
            </a:avLst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star5_adj"/>
          <p:cNvSpPr/>
          <p:nvPr/>
        </p:nvSpPr>
        <p:spPr>
          <a:xfrm>
            <a:off x="3200400" y="4114800"/>
            <a:ext cx="1143000" cy="1143000"/>
          </a:xfrm>
          <a:prstGeom prst="star5">
            <a:avLst>
              <a:gd name="adj" fmla="val 40000"/>
            </a:avLst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Preset geometry: triangle, diamond, pentagon, hexagon, rightArrow, star5, heart, plus, flowChartDecision, chevron, parallelogram, octagon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CustomStar"/>
          <p:cNvSpPr/>
          <p:nvPr/>
        </p:nvSpPr>
        <p:spPr>
          <a:xfrm>
            <a:off x="457200" y="457200"/>
            <a:ext cx="1828800" cy="1828800"/>
          </a:xfrm>
          <a:custGeom>
            <a:avLst/>
            <a:gdLst/>
            <a:pathLst>
              <a:path w="200" h="200">
                <a:moveTo>
                  <a:pt x="100" y="0"/>
                </a:moveTo>
                <a:lnTo>
                  <a:pt x="130" y="70"/>
                </a:lnTo>
                <a:lnTo>
                  <a:pt x="200" y="80"/>
                </a:lnTo>
                <a:lnTo>
                  <a:pt x="150" y="130"/>
                </a:lnTo>
                <a:lnTo>
                  <a:pt x="160" y="200"/>
                </a:lnTo>
                <a:lnTo>
                  <a:pt x="100" y="170"/>
                </a:lnTo>
                <a:lnTo>
                  <a:pt x="40" y="200"/>
                </a:lnTo>
                <a:lnTo>
                  <a:pt x="50" y="130"/>
                </a:lnTo>
                <a:lnTo>
                  <a:pt x="0" y="80"/>
                </a:lnTo>
                <a:lnTo>
                  <a:pt x="70" y="70"/>
                </a:lnTo>
                <a:close/>
              </a:path>
            </a:pathLst>
          </a:custGeom>
          <a:solidFill>
            <a:srgbClr val="FFD700"/>
          </a:solidFill>
          <a:ln w="19050">
            <a:solidFill>
              <a:srgbClr val="B8860B"/>
            </a:solidFill>
          </a:ln>
        </p:spPr>
      </p:sp>
      <p:sp>
        <p:nvSpPr>
          <p:cNvPr id="101" name="CustomCurve"/>
          <p:cNvSpPr/>
          <p:nvPr/>
        </p:nvSpPr>
        <p:spPr>
          <a:xfrm>
            <a:off x="2743200" y="457200"/>
            <a:ext cx="1828800" cy="1828800"/>
          </a:xfrm>
          <a:custGeom>
            <a:avLst/>
            <a:gdLst/>
            <a:pathLst>
              <a:path w="100" h="100">
                <a:moveTo>
                  <a:pt x="0" y="100"/>
                </a:moveTo>
                <a:cubicBezTo>
                  <a:pt x="0" y="0"/>
                  <a:pt x="100" y="0"/>
                  <a:pt x="100" y="100"/>
                </a:cubicBezTo>
                <a:close/>
              </a:path>
            </a:pathLst>
          </a:custGeom>
          <a:solidFill>
            <a:srgbClr val="87CEEB"/>
          </a:solidFill>
          <a:ln w="12700">
            <a:solidFill>
              <a:srgbClr val="4169E1"/>
            </a:solidFill>
          </a:ln>
        </p:spPr>
      </p:sp>
      <p:sp>
        <p:nvSpPr>
          <p:cNvPr id="102" name="CustomGuide"/>
          <p:cNvSpPr/>
          <p:nvPr/>
        </p:nvSpPr>
        <p:spPr>
          <a:xfrm>
            <a:off x="5029200" y="457200"/>
            <a:ext cx="1828800" cy="1828800"/>
          </a:xfrm>
          <a:custGeom>
            <a:avLst>
              <a:gd name="adj" fmla="val 50000"/>
            </a:avLst>
            <a:gdLst>
              <a:gd name="x1" fmla="*/ w adj 100000"/>
              <a:gd name="y1" fmla="*/ h adj 100000"/>
            </a:gdLst>
            <a:pathLst>
              <a:path>
                <a:moveTo>
                  <a:pt x="0" y="0"/>
                </a:moveTo>
                <a:lnTo>
                  <a:pt x="x1" y="0"/>
                </a:lnTo>
                <a:lnTo>
                  <a:pt x="x1" y="y1"/>
                </a:lnTo>
                <a:lnTo>
                  <a:pt x="0" y="y1"/>
                </a:lnTo>
                <a:close/>
              </a:path>
            </a:pathLst>
          </a:custGeom>
          <a:solidFill>
            <a:srgbClr val="98FB98"/>
          </a:solidFill>
          <a:ln w="12700">
            <a:solidFill>
              <a:srgbClr val="228B22"/>
            </a:solidFill>
          </a:ln>
        </p:spPr>
      </p:sp>
      <p:sp>
        <p:nvSpPr>
          <p:cNvPr id="103" name="TextBox 102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Custom geometry (a:custGeom): freeform star, bezier curve, guide-based rect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1" name="Gear6"/>
          <p:cNvSpPr/>
          <p:nvPr/>
        </p:nvSpPr>
        <p:spPr>
          <a:xfrm>
            <a:off x="457200" y="457200"/>
            <a:ext cx="2286000" cy="2286000"/>
          </a:xfrm>
          <a:prstGeom prst="gear6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</p:sp>
      <p:sp>
        <p:nvSpPr>
          <p:cNvPr id="202" name="Gear9"/>
          <p:cNvSpPr/>
          <p:nvPr/>
        </p:nvSpPr>
        <p:spPr>
          <a:xfrm>
            <a:off x="3429000" y="457200"/>
            <a:ext cx="2286000" cy="2286000"/>
          </a:xfrm>
          <a:prstGeom prst="gear9">
            <a:avLst/>
          </a:prstGeom>
          <a:solidFill>
            <a:srgbClr val="ED7D31"/>
          </a:solidFill>
          <a:ln w="12700">
            <a:solidFill>
              <a:srgbClr val="AE5A21"/>
            </a:solidFill>
          </a:ln>
        </p:spPr>
      </p:sp>
      <p:sp>
        <p:nvSpPr>
          <p:cNvPr id="203" name="Gear6Deep"/>
          <p:cNvSpPr/>
          <p:nvPr/>
        </p:nvSpPr>
        <p:spPr>
          <a:xfrm>
            <a:off x="6400800" y="457200"/>
            <a:ext cx="2286000" cy="2286000"/>
          </a:xfrm>
          <a:prstGeom prst="gear6">
            <a:avLst>
              <a:gd name="adj" fmla="val 50000"/>
            </a:avLst>
          </a:prstGeom>
          <a:solidFill>
            <a:srgbClr val="70AD47"/>
          </a:solidFill>
          <a:ln w="12700">
            <a:solidFill>
              <a:srgbClr val="507E32"/>
            </a:solidFill>
          </a:ln>
        </p:spPr>
      </p:sp>
      <p:sp>
        <p:nvSpPr>
          <p:cNvPr id="204" name="TextBox 2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Gear shapes: gear6 (default), gear9 (default), gear6 (adj=50000 deeper teeth)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Triangle"/>
          <p:cNvSpPr/>
          <p:nvPr/>
        </p:nvSpPr>
        <p:spPr>
          <a:xfrm>
            <a:off x="457200" y="457200"/>
            <a:ext cx="2286000" cy="2286000"/>
          </a:xfrm>
          <a:prstGeom prst="triangle">
            <a:avLst/>
          </a:prstGeom>
          <a:solidFill>
            <a:srgbClr val="FFD700"/>
          </a:solidFill>
          <a:ln w="12700"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400"/>
              <a:t>Text in Triangle</a:t>
            </a:r>
          </a:p>
        </p:txBody>
      </p:sp>
      <p:sp>
        <p:nvSpPr>
          <p:cNvPr id="302" name="Diamond"/>
          <p:cNvSpPr/>
          <p:nvPr/>
        </p:nvSpPr>
        <p:spPr>
          <a:xfrm>
            <a:off x="3429000" y="457200"/>
            <a:ext cx="2286000" cy="2286000"/>
          </a:xfrm>
          <a:prstGeom prst="diamond">
            <a:avLst/>
          </a:prstGeom>
          <a:solidFill>
            <a:srgbClr val="87CEEB"/>
          </a:solidFill>
          <a:ln w="12700">
            <a:solidFill>
              <a:srgbClr val="4682B4"/>
            </a:solidFill>
          </a:ln>
        </p:spPr>
        <p:txBody>
          <a:bodyPr anchor="ctr"/>
          <a:lstStyle/>
          <a:p>
            <a:pPr algn="ctr"/>
            <a:r>
              <a:rPr lang="en-US" sz="1400"/>
              <a:t>Diamond</a:t>
            </a:r>
          </a:p>
        </p:txBody>
      </p:sp>
      <p:sp>
        <p:nvSpPr>
          <p:cNvPr id="303" name="RightArrow"/>
          <p:cNvSpPr/>
          <p:nvPr/>
        </p:nvSpPr>
        <p:spPr>
          <a:xfrm>
            <a:off x="6400800" y="914400"/>
            <a:ext cx="2743200" cy="1371600"/>
          </a:xfrm>
          <a:prstGeom prst="rightArrow">
            <a:avLst/>
          </a:prstGeom>
          <a:solidFill>
            <a:srgbClr val="FF6347"/>
          </a:solidFill>
          <a:ln w="12700">
            <a:solidFill>
              <a:srgbClr val="8B0000"/>
            </a:solidFill>
          </a:ln>
        </p:spPr>
        <p:txBody>
          <a:bodyPr anchor="ctr"/>
          <a:lstStyle/>
          <a:p>
            <a:pPr algn="ctr"/>
            <a:r>
              <a:rPr lang="en-US" sz="1400"/>
              <a:t>Arrow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Text rectangles: triangle (text in lower half), diamond (text inscribed), right arrow (text in shaft)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Rect1"/>
          <p:cNvSpPr/>
          <p:nvPr/>
        </p:nvSpPr>
        <p:spPr>
          <a:xfrm>
            <a:off x="914400" y="914400"/>
            <a:ext cx="1828800" cy="13716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02" name="Rect2"/>
          <p:cNvSpPr/>
          <p:nvPr/>
        </p:nvSpPr>
        <p:spPr>
          <a:xfrm>
            <a:off x="5486400" y="914400"/>
            <a:ext cx="1828800" cy="1371600"/>
          </a:xfrm>
          <a:prstGeom prst="rect">
            <a:avLst/>
          </a:prstGeom>
          <a:solidFill>
            <a:srgbClr val="ED7D31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End</a:t>
            </a:r>
          </a:p>
        </p:txBody>
      </p:sp>
      <p:cxnSp>
        <p:nvCxnSpPr>
          <p:cNvPr id="403" name="Connector"/>
          <p:cNvCxnSpPr>
            <a:stCxn id="401" idx="3"/>
            <a:endCxn id="402" idx="1"/>
          </p:cNvCxnSpPr>
          <p:nvPr/>
        </p:nvCxnSpPr>
        <p:spPr>
          <a:xfrm>
            <a:off x="2743200" y="1600200"/>
            <a:ext cx="2743200" cy="0"/>
          </a:xfrm>
          <a:prstGeom prst="straightConnector1">
            <a:avLst/>
          </a:prstGeom>
          <a:ln w="25400">
            <a:solidFill>
              <a:srgbClr val="333333"/>
            </a:solidFill>
            <a:tailEnd type="triangle"/>
          </a:ln>
        </p:spPr>
      </p:cxnSp>
      <p:sp>
        <p:nvSpPr>
          <p:cNvPr id="404" name="CustomWithCxn"/>
          <p:cNvSpPr/>
          <p:nvPr/>
        </p:nvSpPr>
        <p:spPr>
          <a:xfrm>
            <a:off x="3200400" y="3429000"/>
            <a:ext cx="2286000" cy="1828800"/>
          </a:xfrm>
          <a:custGeom>
            <a:avLst/>
            <a:gd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l" t="t" r="r" b="b"/>
            <a:pathLst>
              <a:path w="100" h="100">
                <a:moveTo>
                  <a:pt x="50" y="0"/>
                </a:moveTo>
                <a:lnTo>
                  <a:pt x="100" y="50"/>
                </a:lnTo>
                <a:lnTo>
                  <a:pt x="50" y="100"/>
                </a:lnTo>
                <a:lnTo>
                  <a:pt x="0" y="50"/>
                </a:lnTo>
                <a:close/>
              </a:path>
            </a:pathLst>
          </a:custGeom>
          <a:solidFill>
            <a:srgbClr val="9370DB"/>
          </a:solidFill>
          <a:ln w="12700">
            <a:solidFill>
              <a:srgbClr val="4B0082"/>
            </a:solidFill>
          </a:ln>
        </p:spPr>
      </p:sp>
      <p:sp>
        <p:nvSpPr>
          <p:cNvPr id="405" name="TextBox 404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Connection points: connector with stCxn/endCxn refs, custom geom with a:cxnLst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00" name="Table41"/>
          <p:cNvGraphicFramePr>
            <a:graphicFrameLocks noGrp="1"/>
          </p:cNvGraphicFramePr>
          <p:nvPr/>
        </p:nvGraphicFramePr>
        <p:xfrm>
          <a:off x="457200" y="457200"/>
          <a:ext cx="8229600" cy="4572000"/>
        </p:xfrm>
        <a:graphic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!-- Row 1: horizontal merge (gridSpan=2) + custom borders -->
              <a:tr h="914400">
                <a:tc gridSpan="2">
                  <a:txBody>
                    <a:bodyPr/>
                    <a:lstStyle/>
                    <a:p>
                      <a:r>
                        <a:rPr lang="en-US" sz="1400" b="1"/>
                        <a:t>Merged 2 cols</a:t>
                      </a:r>
                    </a:p>
                  </a:txBody>
                  <a:tcPr marL="182880" marR="91440" marT="91440" marB="45720" anchor="ctr">
                    <a:lnL w="25400">
                      <a:solidFill>
                        <a:srgbClr val="FF0000"/>
                      </a:solidFill>
                    </a:lnL>
                    <a:lnR w="25400">
                      <a:solidFill>
                        <a:srgbClr val="0000FF"/>
                      </a:solidFill>
                    </a:lnR>
                    <a:lnT w="38100">
                      <a:solidFill>
                        <a:srgbClr val="00AA00"/>
                      </a:solidFill>
                    </a:lnT>
                    <a:lnB w="12700">
                      <a:solidFill>
                        <a:srgbClr val="FF8800"/>
                      </a:solidFill>
                    </a:lnB>
                    <a:solidFill>
                      <a:srgbClr val="DDEE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 cell</a:t>
                      </a:r>
                    </a:p>
                  </a:txBody>
                  <a:tcPr anchor="b">
                    <a:lnL w="12700">
                      <a:solidFill>
                        <a:srgbClr val="333333"/>
                      </a:solidFill>
                    </a:lnL>
                    <a:lnR w="12700">
                      <a:solidFill>
                        <a:srgbClr val="333333"/>
                      </a:solidFill>
                    </a:lnR>
                    <a:lnT w="12700">
                      <a:solidFill>
                        <a:srgbClr val="333333"/>
                      </a:solidFill>
                    </a:lnT>
                    <a:lnB w="12700">
                      <a:solidFill>
                        <a:srgbClr val="333333"/>
                      </a:solidFill>
                    </a:lnB>
                    <a:solidFill>
                      <a:srgbClr val="FFFFDD"/>
                    </a:solidFill>
                  </a:tcPr>
                </a:tc>
              </a:tr>
              <!-- Row 2: vertical merge start (rowSpan=2) + noFill border -->
              <a:tr h="914400">
                <a:tc rowSpan="2">
                  <a:txBody>
                    <a:bodyPr/>
                    <a:lstStyle/>
                    <a:p>
                      <a:r>
                        <a:rPr lang="en-US" sz="1400" b="1"/>
                        <a:t>Merged 2 rows</a:t>
                      </a:r>
                    </a:p>
                  </a:txBody>
                  <a:tcPr anchor="ctr">
                    <a:lnL w="19050">
                      <a:solidFill>
                        <a:srgbClr val="9900CC"/>
                      </a:solidFill>
                    </a:lnL>
                    <a:lnR w="19050">
                      <a:solidFill>
                        <a:srgbClr val="9900CC"/>
                      </a:solidFill>
                    </a:lnR>
                    <a:lnT w="19050">
                      <a:solidFill>
                        <a:srgbClr val="9900CC"/>
                      </a:solidFill>
                    </a:lnT>
                    <a:lnB w="19050">
                      <a:solidFill>
                        <a:srgbClr val="9900CC"/>
                      </a:solidFill>
                    </a:lnB>
                    <a:solidFill>
                      <a:srgbClr val="F0E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B2</a:t>
                      </a:r>
                    </a:p>
                  </a:txBody>
                  <a:tcPr>
                    <a:lnL w="12700">
                      <a:noFill/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C2</a:t>
                      </a:r>
                    </a:p>
                  </a:txBody>
                  <a:tcPr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</a:tr>
              <!-- Row 3: vertical merge continuation -->
              <a:tr h="914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B3 (large margin)</a:t>
                      </a:r>
                    </a:p>
                  </a:txBody>
                  <a:tcPr marL="274320" marT="137160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C3 (top anchor)</a:t>
                      </a:r>
                    </a:p>
                  </a:txBody>
                  <a:tcPr anchor="t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solidFill>
                      <a:srgbClr val="EEFFEE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1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cell merge (gridSpan/rowSpan/vMerge) + borders + margins + anchor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Table42"/>
          <p:cNvGraphicFramePr>
            <a:graphicFrameLocks noGrp="1"/>
          </p:cNvGraphicFramePr>
          <p:nvPr/>
        </p:nvGraphicFramePr>
        <p:xfrm>
          <a:off x="457200" y="457200"/>
          <a:ext cx="8229600" cy="3657600"/>
        </p:xfrm>
        <a:graphic>
          <a:graphicData uri="http://schemas.openxmlformats.org/drawingml/2006/table">
            <a:tbl>
              <a:tblPr firstRow="1" lastRow="1" firstCol="0" lastCol="0" bandRow="1" bandCol="0" tblStyleId="{5C22544A-7EE6-4342-B048-85BDC9FD1C3A}"/>
              <a:tblGrid>
                <a:gridCol w="2743200"/>
                <a:gridCol w="2743200"/>
                <a:gridCol w="2743200"/>
              </a:tblGrid>
              <!-- Row 1: diagonal borders -->
              <a:tr h="914400">
                <a:tc>
                  <a:txBody>
                    <a:bodyPr/>
                    <a:lstStyle/>
                    <a:p>
                      <a:r>
                        <a:rPr lang="en-US" sz="1200" b="1"/>
                        <a:t>TL-BR diagonal</a:t>
                      </a:r>
                    </a:p>
                  </a:txBody>
                  <a:tcPr>
                    <a:lnTlToBr w="19050">
                      <a:solidFill>
                        <a:srgbClr val="FF0000"/>
                      </a:solidFill>
                    </a:lnTlToBr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BL-TR diagonal</a:t>
                      </a:r>
                    </a:p>
                  </a:txBody>
                  <a:tcPr>
                    <a:lnBlToTr w="19050">
                      <a:solidFill>
                        <a:srgbClr val="0000FF"/>
                      </a:solidFill>
                    </a:lnBlToT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Both diagonals</a:t>
                      </a:r>
                    </a:p>
                  </a:txBody>
                  <a:tcPr>
                    <a:lnTlToBr w="12700">
                      <a:solidFill>
                        <a:srgbClr val="008800"/>
                      </a:solidFill>
                    </a:lnTlToBr>
                    <a:lnBlToTr w="12700">
                      <a:solidFill>
                        <a:srgbClr val="880000"/>
                      </a:solidFill>
                    </a:lnBlToTr>
                    <a:solidFill>
                      <a:srgbClr val="FFFFF0"/>
                    </a:solidFill>
                  </a:tcPr>
                </a:tc>
              </a:tr>
              <!-- Row 2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</a:tr>
              <!-- Row 3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Last row cell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1" name="TextBox 2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diagonal borders (lnTlToBr/lnBlToTr) + tblPr flags + tblStyleId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