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Override PartName="/ppt/charts/chartEx1.xml" ContentType="application/vnd.ms-office.chartex+xml"/>
  <Override PartName="/ppt/charts/chartEx2.xml" ContentType="application/vnd.ms-office.chartex+xml"/>
  <Override PartName="/ppt/charts/chartEx3.xml" ContentType="application/vnd.ms-office.chartex+xml"/>
  <Override PartName="/ppt/charts/chartEx4.xml" ContentType="application/vnd.ms-office.chartex+xml"/>
  <Override PartName="/ppt/charts/chartEx5.xml" ContentType="application/vnd.ms-office.chartex+xml"/>
  <Override PartName="/ppt/charts/chartEx6.xml" ContentType="application/vnd.ms-office.chartex+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 id="345" r:id="rId98"/>
    <p:sldId id="346" r:id="rId99"/>
    <p:sldId id="347" r:id="rId100"/>
    <p:sldId id="348" r:id="rId101"/>
    <p:sldId id="349" r:id="rId102"/>
    <p:sldId id="350" r:id="rId103"/>
    <p:sldId id="351" r:id="rId104"/>
    <p:sldId id="352" r:id="rId105"/>
    <p:sldId id="353" r:id="rId106"/>
    <p:sldId id="354" r:id="rId10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Ex1.xml><?xml version="1.0" encoding="utf-8"?>
<cx:chartSpace xmlns:cx="http://schemas.microsoft.com/office/drawing/2014/chartex" xmlns:a="http://schemas.openxmlformats.org/drawingml/2006/main" xmlns:r="http://schemas.openxmlformats.org/officeDocument/2006/relationships">
  <cx:chartData>
    <cx:data id="0">
      <cx:strDim type="cat">
        <cx:lvl ptCount="5">
          <cx:pt idx="0">Q1</cx:pt>
          <cx:pt idx="1">Q2</cx:pt>
          <cx:pt idx="2">Q3</cx:pt>
          <cx:pt idx="3">Q4</cx:pt>
          <cx:pt idx="4">Total</cx:pt>
        </cx:lvl>
      </cx:strDim>
      <cx:numDim type="val">
        <cx:lvl ptCount="5" formatCode="General">
          <cx:pt idx="0">100</cx:pt>
          <cx:pt idx="1">-20</cx:pt>
          <cx:pt idx="2">50</cx:pt>
          <cx:pt idx="3">-10</cx:pt>
          <cx:pt idx="4">120</cx:pt>
        </cx:lvl>
      </cx:numDim>
    </cx:data>
  </cx:chartData>
  <cx:chart>
    <cx:plotArea>
      <cx:plotAreaRegion>
        <cx:series layoutId="waterfall">
          <cx:dataId val="0"/>
          <cx:layoutPr>
            <cx:subtotals>
              <cx:idx val="4"/>
            </cx:subtotals>
          </cx:layoutPr>
        </cx:series>
      </cx:plotAreaRegion>
    </cx:plotArea>
  </cx:chart>
</cx:chartSpace>
</file>

<file path=ppt/charts/chartEx2.xml><?xml version="1.0" encoding="utf-8"?>
<cx:chartSpace xmlns:cx="http://schemas.microsoft.com/office/drawing/2014/chartex" xmlns:a="http://schemas.openxmlformats.org/drawingml/2006/main">
  <cx:chartData>
    <cx:data id="0">
      <cx:strDim type="cat">
        <cx:lvl ptCount="5">
          <cx:pt idx="0">Product A</cx:pt>
          <cx:pt idx="1">Product B</cx:pt>
          <cx:pt idx="2">Product C</cx:pt>
          <cx:pt idx="3">Product D</cx:pt>
          <cx:pt idx="4">Product E</cx:pt>
        </cx:lvl>
      </cx:strDim>
      <cx:numDim type="val">
        <cx:lvl ptCount="5">
          <cx:pt idx="0">50</cx:pt>
          <cx:pt idx="1">30</cx:pt>
          <cx:pt idx="2">20</cx:pt>
          <cx:pt idx="3">15</cx:pt>
          <cx:pt idx="4">10</cx:pt>
        </cx:lvl>
      </cx:numDim>
    </cx:data>
  </cx:chartData>
  <cx:chart>
    <cx:plotArea>
      <cx:plotAreaRegion>
        <cx:series layoutId="treemap">
          <cx:dataId val="0"/>
        </cx:series>
      </cx:plotAreaRegion>
    </cx:plotArea>
  </cx:chart>
</cx:chartSpace>
</file>

<file path=ppt/charts/chartEx3.xml><?xml version="1.0" encoding="utf-8"?>
<cx:chartSpace xmlns:cx="http://schemas.microsoft.com/office/drawing/2014/chartex" xmlns:a="http://schemas.openxmlformats.org/drawingml/2006/main">
  <cx:chartData>
    <cx:data id="0">
      <cx:strDim type="cat">
        <cx:lvl ptCount="4">
          <cx:pt idx="0">North</cx:pt>
          <cx:pt idx="1">South</cx:pt>
          <cx:pt idx="2">East</cx:pt>
          <cx:pt idx="3">West</cx:pt>
        </cx:lvl>
      </cx:strDim>
      <cx:numDim type="val">
        <cx:lvl ptCount="4">
          <cx:pt idx="0">40</cx:pt>
          <cx:pt idx="1">30</cx:pt>
          <cx:pt idx="2">20</cx:pt>
          <cx:pt idx="3">10</cx:pt>
        </cx:lvl>
      </cx:numDim>
    </cx:data>
  </cx:chartData>
  <cx:chart>
    <cx:plotArea>
      <cx:plotAreaRegion>
        <cx:series layoutId="sunburst">
          <cx:dataId val="0"/>
        </cx:series>
      </cx:plotAreaRegion>
    </cx:plotArea>
  </cx:chart>
</cx:chartSpace>
</file>

<file path=ppt/charts/chartEx4.xml><?xml version="1.0" encoding="utf-8"?>
<cx:chartSpace xmlns:cx="http://schemas.microsoft.com/office/drawing/2014/chartex" xmlns:a="http://schemas.openxmlformats.org/drawingml/2006/main">
  <cx:chartData>
    <cx:data id="0">
      <cx:strDim type="cat">
        <cx:lvl ptCount="5">
          <cx:pt idx="0">0-20</cx:pt>
          <cx:pt idx="1">20-40</cx:pt>
          <cx:pt idx="2">40-60</cx:pt>
          <cx:pt idx="3">60-80</cx:pt>
          <cx:pt idx="4">80-100</cx:pt>
        </cx:lvl>
      </cx:strDim>
      <cx:numDim type="val">
        <cx:lvl ptCount="5">
          <cx:pt idx="0">5</cx:pt>
          <cx:pt idx="1">15</cx:pt>
          <cx:pt idx="2">25</cx:pt>
          <cx:pt idx="3">12</cx:pt>
          <cx:pt idx="4">8</cx:pt>
        </cx:lvl>
      </cx:numDim>
    </cx:data>
  </cx:chartData>
  <cx:chart>
    <cx:plotArea>
      <cx:plotAreaRegion>
        <cx:series layoutId="clusteredColumn">
          <cx:dataId val="0"/>
        </cx:series>
      </cx:plotAreaRegion>
    </cx:plotArea>
  </cx:chart>
</cx:chartSpace>
</file>

<file path=ppt/charts/chartEx5.xml><?xml version="1.0" encoding="utf-8"?>
<cx:chartSpace xmlns:cx="http://schemas.microsoft.com/office/drawing/2014/chartex" xmlns:a="http://schemas.openxmlformats.org/drawingml/2006/main">
  <cx:chartData>
    <cx:data id="0">
      <cx:strDim type="cat">
        <cx:lvl ptCount="1">
          <cx:pt idx="0">Dataset</cx:pt>
        </cx:lvl>
      </cx:strDim>
      <cx:numDim type="val">
        <cx:lvl ptCount="10">
          <cx:pt idx="0">12</cx:pt>
          <cx:pt idx="1">15</cx:pt>
          <cx:pt idx="2">18</cx:pt>
          <cx:pt idx="3">22</cx:pt>
          <cx:pt idx="4">25</cx:pt>
          <cx:pt idx="5">28</cx:pt>
          <cx:pt idx="6">30</cx:pt>
          <cx:pt idx="7">35</cx:pt>
          <cx:pt idx="8">40</cx:pt>
          <cx:pt idx="9">45</cx:pt>
        </cx:lvl>
      </cx:numDim>
    </cx:data>
  </cx:chartData>
  <cx:chart>
    <cx:plotArea>
      <cx:plotAreaRegion>
        <cx:series layoutId="boxWhisker">
          <cx:dataId val="0"/>
        </cx:series>
      </cx:plotAreaRegion>
    </cx:plotArea>
  </cx:chart>
</cx:chartSpace>
</file>

<file path=ppt/charts/chartEx6.xml><?xml version="1.0" encoding="utf-8"?>
<cx:chartSpace xmlns:cx="http://schemas.microsoft.com/office/drawing/2014/chartex" xmlns:a="http://schemas.openxmlformats.org/drawingml/2006/main">
  <cx:chartData>
    <cx:data id="0">
      <cx:strDim type="cat">
        <cx:lvl ptCount="4">
          <cx:pt idx="0">Prospects</cx:pt>
          <cx:pt idx="1">Qualified</cx:pt>
          <cx:pt idx="2">Proposals</cx:pt>
          <cx:pt idx="3">Closed</cx:pt>
        </cx:lvl>
      </cx:strDim>
      <cx:numDim type="val">
        <cx:lvl ptCount="4">
          <cx:pt idx="0">1000</cx:pt>
          <cx:pt idx="1">600</cx:pt>
          <cx:pt idx="2">300</cx:pt>
          <cx:pt idx="3">100</cx:pt>
        </cx:lvl>
      </cx:numDim>
    </cx:data>
  </cx:chartData>
  <cx:chart>
    <cx:plotArea>
      <cx:plotAreaRegion>
        <cx:series layoutId="funnel">
          <cx:dataId val="0"/>
        </cx:series>
      </cx:plotAreaRegion>
    </cx:plotArea>
    <cx:legend pos="r"/>
  </cx:chart>
</cx: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Cx1" Type="http://schemas.microsoft.com/office/2014/relationships/chartEx" Target="../charts/chartEx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Cx2" Type="http://schemas.microsoft.com/office/2014/relationships/chartEx" Target="../charts/chartEx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Cx3" Type="http://schemas.microsoft.com/office/2014/relationships/chartEx" Target="../charts/chartEx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Cx4" Type="http://schemas.microsoft.com/office/2014/relationships/chartEx" Target="../charts/chartEx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Cx5" Type="http://schemas.microsoft.com/office/2014/relationships/chartEx" Target="../charts/chartEx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Cx6" Type="http://schemas.microsoft.com/office/2014/relationships/chartEx" Target="../charts/chartEx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89: Waterfall Chart (cx:chart)</a:t>
            </a:r>
          </a:p>
        </p:txBody>
      </p:sp>
      <p:graphicFrame>
        <p:nvGraphicFramePr>
          <p:cNvPr id="990" name="ChartEx 1"/>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1"/>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90: Treemap Chart (cx:chart)</a:t>
            </a:r>
          </a:p>
        </p:txBody>
      </p:sp>
      <p:graphicFrame>
        <p:nvGraphicFramePr>
          <p:cNvPr id="991" name="ChartEx 2"/>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2"/>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91: Sunburst Chart (cx:chart)</a:t>
            </a:r>
          </a:p>
        </p:txBody>
      </p:sp>
      <p:graphicFrame>
        <p:nvGraphicFramePr>
          <p:cNvPr id="992" name="ChartEx 3"/>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3"/>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92: Histogram Chart (cx:chart)</a:t>
            </a:r>
          </a:p>
        </p:txBody>
      </p:sp>
      <p:graphicFrame>
        <p:nvGraphicFramePr>
          <p:cNvPr id="993" name="ChartEx 4"/>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4"/>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93: Box &amp; Whisker Chart (cx:chart)</a:t>
            </a:r>
          </a:p>
        </p:txBody>
      </p:sp>
      <p:graphicFrame>
        <p:nvGraphicFramePr>
          <p:cNvPr id="994" name="ChartEx 5"/>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5"/>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1800" b="1"/>
            </a:pPr>
            <a:r>
              <a:t>Slide 94: Funnel Chart (cx:chart)</a:t>
            </a:r>
          </a:p>
        </p:txBody>
      </p:sp>
      <p:graphicFrame>
        <p:nvGraphicFramePr>
          <p:cNvPr id="995" name="ChartEx 6"/>
          <p:cNvGraphicFramePr>
            <a:graphicFrameLocks noGrp="1"/>
          </p:cNvGraphicFramePr>
          <p:nvPr/>
        </p:nvGraphicFramePr>
        <p:xfrm>
          <a:off x="914400" y="1371600"/>
          <a:ext cx="7315200" cy="4572000"/>
        </p:xfrm>
        <a:graphic>
          <a:graphicData uri="http://schemas.microsoft.com/office/drawing/2014/chartex">
            <cx:chart xmlns:cx="http://schemas.microsoft.com/office/drawing/2014/chartex" xmlns:r="http://schemas.openxmlformats.org/officeDocument/2006/relationships" r:id="rIdCx6"/>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5486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Reference rect (prstGeom)</a:t>
            </a:r>
          </a:p>
        </p:txBody>
      </p:sp>
      <p:sp>
        <p:nvSpPr>
          <p:cNvPr id="9501" name="EmptyCustGeom"/>
          <p:cNvSpPr/>
          <p:nvPr/>
        </p:nvSpPr>
        <p:spPr>
          <a:xfrm>
            <a:off x="3000000" y="1500000"/>
            <a:ext cx="2000000" cy="2000000"/>
          </a:xfrm>
          <a:custGeom>
            <a:avLst/>
            <a:gdLst/>
            <a:ahLst/>
            <a:cxnLst/>
            <a:rect l="0" t="0" r="0" b="0"/>
            <a:pathLst>
              <a:path w="508000" h="508000"/>
            </a:pathLst>
          </a:custGeom>
          <a:solidFill>
            <a:srgbClr val="00B4D8"/>
          </a:solidFill>
        </p:spPr>
        <p:txBody>
          <a:bodyPr/>
          <a:lstStyle/>
          <a:p>
            <a:endParaRPr lang="en-US"/>
          </a:p>
        </p:txBody>
      </p:sp>
      <p:sp>
        <p:nvSpPr>
          <p:cNvPr id="9502" name="ValidCustGeom"/>
          <p:cNvSpPr/>
          <p:nvPr/>
        </p:nvSpPr>
        <p:spPr>
          <a:xfrm>
            <a:off x="6000000" y="1500000"/>
            <a:ext cx="2000000" cy="2000000"/>
          </a:xfrm>
          <a:custGeom>
            <a:avLst/>
            <a:gdLst/>
            <a:ahLst/>
            <a:cxnLst/>
            <a:rect l="0" t="0" r="0" b="0"/>
            <a:pathLst>
              <a:path w="100" h="100">
                <a:moveTo>
                  <a:pt x="50" y="0"/>
                </a:moveTo>
                <a:lnTo>
                  <a:pt x="100" y="100"/>
                </a:lnTo>
                <a:lnTo>
                  <a:pt x="0" y="100"/>
                </a:lnTo>
                <a:close/>
              </a:path>
            </a:pathLst>
          </a:custGeom>
          <a:solidFill>
            <a:srgbClr val="06A77D"/>
          </a:solidFill>
        </p:spPr>
        <p:txBody>
          <a:bodyPr/>
          <a:lstStyle/>
          <a:p>
            <a:endParaRPr lang="en-US"/>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701" name="Footer Placeholder"/>
          <p:cNvSpPr/>
          <p:nvPr>
            <p:ph type="ftr" idx="11"/>
          </p:nvPr>
        </p:nvSpPr>
        <p:spPr>
          <a:xfrm>
            <a:off x="3124200" y="6356350"/>
            <a:ext cx="2438400" cy="365125"/>
          </a:xfrm>
        </p:spPr>
        <p:txBody>
          <a:bodyPr/>
          <a:lstStyle/>
          <a:p>
            <a:r>
              <a:rPr/>
              <a:t>moon-pptx footer</a:t>
            </a:r>
          </a:p>
        </p:txBody>
      </p:sp>
      <p:sp>
        <p:nvSpPr>
          <p:cNvPr id="9702" name="Date Placeholder"/>
          <p:cNvSpPr/>
          <p:nvPr>
            <p:ph type="dt" idx="10"/>
          </p:nvPr>
        </p:nvSpPr>
        <p:spPr>
          <a:xfrm>
            <a:off x="457200" y="6356350"/>
            <a:ext cx="2438400" cy="365125"/>
          </a:xfrm>
        </p:spPr>
        <p:txBody>
          <a:bodyPr/>
          <a:lstStyle/>
          <a:p>
            <a:fld id="{1F3B9E54-0000-4000-8000-000000000099}" type="datetime1">
              <a:rPr/>
            </a:fld>
          </a:p>
        </p:txBody>
      </p:sp>
      <p:sp>
        <p:nvSpPr>
          <p:cNvPr id="9703" name="Slide Number Placeholder"/>
          <p:cNvSpPr/>
          <p:nvPr>
            <p:ph type="sldNum" idx="12"/>
          </p:nvPr>
        </p:nvSpPr>
        <p:spPr>
          <a:xfrm>
            <a:off x="6553200" y="6356350"/>
            <a:ext cx="2438400" cy="365125"/>
          </a:xfrm>
        </p:spPr>
        <p:txBody>
          <a:bodyPr/>
          <a:lstStyle/>
          <a:p>
            <a:fld id="{1F3B9E54-0000-4000-8000-000000000099}" type="slidenum">
              <a:rPr/>
              <a:t>1</a:t>
            </a:fld>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1" name="DecoText"/>
          <p:cNvSpPr txBox="1"/>
          <p:nvPr/>
        </p:nvSpPr>
        <p:spPr>
          <a:xfrm>
            <a:off x="457200" y="1371600"/>
            <a:ext cx="8229600" cy="914400"/>
          </a:xfrm>
          <a:prstGeom prst="rect">
            <a:avLst/>
          </a:prstGeom>
        </p:spPr>
        <p:txBody>
          <a:bodyPr/>
          <a:lstStyle/>
          <a:p>
            <a:r>
              <a:rPr lang="en-US" sz="2000" u="dbl">
                <a:uFill>
                  <a:solidFill>
                    <a:srgbClr val="FF0000"/>
                  </a:solidFill>
                </a:uFill>
              </a:rPr>
              <a:t>double </a:t>
            </a:r>
            <a:r>
              <a:rPr lang="en-US" sz="2000" u="wavy">
                <a:uFill>
                  <a:solidFill>
                    <a:srgbClr val="00B050"/>
                  </a:solidFill>
                </a:uFill>
              </a:rPr>
              <a:t>wavy </a:t>
            </a:r>
            <a:r>
              <a:rPr lang="en-US" sz="2000" u="dotted"/>
              <a:t>dotted </a:t>
            </a:r>
            <a:r>
              <a:rPr lang="en-US" sz="2000" strike="dblStrike"/>
              <a:t>dblstrike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00" name="FlipH"/>
          <p:cNvSpPr txBox="1"/>
          <p:nvPr/>
        </p:nvSpPr>
        <p:spPr>
          <a:xfrm flipH="1">
            <a:off x="457200" y="2743200"/>
            <a:ext cx="2743200" cy="1371600"/>
          </a:xfrm>
          <a:prstGeom prst="rect">
            <a:avLst/>
          </a:prstGeom>
          <a:solidFill>
            <a:srgbClr val="DDEEFF"/>
          </a:solidFill>
        </p:spPr>
        <p:txBody>
          <a:bodyPr/>
          <a:lstStyle/>
          <a:p>
            <a:r>
              <a:rPr lang="en-US" sz="2400"/>
              <a:t>FlipH</a:t>
            </a:r>
          </a:p>
        </p:txBody>
      </p:sp>
      <p:sp>
        <p:nvSpPr>
          <p:cNvPr id="9901" name="FlipV"/>
          <p:cNvSpPr txBox="1"/>
          <p:nvPr/>
        </p:nvSpPr>
        <p:spPr>
          <a:xfrm flipV="1">
            <a:off x="3886200" y="2743200"/>
            <a:ext cx="2743200" cy="1371600"/>
          </a:xfrm>
          <a:prstGeom prst="rect">
            <a:avLst/>
          </a:prstGeom>
          <a:solidFill>
            <a:srgbClr val="DDEEFF"/>
          </a:solidFill>
        </p:spPr>
        <p:txBody>
          <a:bodyPr/>
          <a:lstStyle/>
          <a:p>
            <a:r>
              <a:rPr lang="en-US" sz="2400"/>
              <a:t>FlipV</a:t>
            </a:r>
          </a:p>
        </p:txBody>
      </p:sp>
      <p:sp>
        <p:nvSpPr>
          <p:cNvPr id="9902" name="FlipHV"/>
          <p:cNvSpPr txBox="1"/>
          <p:nvPr/>
        </p:nvSpPr>
        <p:spPr>
          <a:xfrm flipH="1" flipV="1">
            <a:off x="7315200" y="2743200"/>
            <a:ext cx="2743200" cy="1371600"/>
          </a:xfrm>
          <a:prstGeom prst="rect">
            <a:avLst/>
          </a:prstGeom>
          <a:solidFill>
            <a:srgbClr val="DDEEFF"/>
          </a:solidFill>
        </p:spPr>
        <p:txBody>
          <a:bodyPr/>
          <a:lstStyle/>
          <a:p>
            <a:r>
              <a:rPr lang="en-US" sz="2400"/>
              <a:t>FlipHV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