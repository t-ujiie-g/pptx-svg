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 2024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180</c:v>
                </c:pt>
                <c:pt idx="3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Sales 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130</c:v>
                </c:pt>
                <c:pt idx="2">
                  <c:v>160</c:v>
                </c:pt>
                <c:pt idx="3">
                  <c:v>190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105</c:v>
                </c:pt>
                <c:pt idx="4">
                  <c:v>130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65</c:v>
                </c:pt>
                <c:pt idx="2">
                  <c:v>70</c:v>
                </c:pt>
                <c:pt idx="3">
                  <c:v>75</c:v>
                </c:pt>
                <c:pt idx="4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35</c:v>
                </c:pt>
                <c:pt idx="2">
                  <c:v>15</c:v>
                </c:pt>
                <c:pt idx="3">
                  <c:v>5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 Sold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</c:v>
                </c:pt>
                <c:pt idx="1">
                  <c:v>180</c:v>
                </c:pt>
                <c:pt idx="2">
                  <c:v>320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Yes</c:v>
                </c:pt>
                <c:pt idx="1">
                  <c:v>No</c:v>
                </c:pt>
                <c:pt idx="2">
                  <c:v>Maybe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410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Browser Share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Chrome</c:v>
                </c:pt>
                <c:pt idx="1">
                  <c:v>Firefox</c:v>
                </c:pt>
                <c:pt idx="2">
                  <c:v>Safari</c:v>
                </c:pt>
                <c:pt idx="3">
                  <c:v>Edge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10</c:v>
                </c:pt>
                <c:pt idx="2">
                  <c:v>18</c:v>
                </c:pt>
                <c:pt idx="3">
                  <c:v>5</c:v>
                </c:pt>
                <c:pt idx="4">
                  <c:v>2</c:v>
                </c:pt>
              </c:numCache>
            </c:numRef>
          </c:val>
          <c:dPt>
            <c:idx val="0"/>
            <c:spPr>
              <a:solidFill>
                <a:srgbClr val="4285F4"/>
              </a:solidFill>
            </c:spPr>
          </c:dPt>
          <c:dPt>
            <c:idx val="1"/>
            <c:spPr>
              <a:solidFill>
                <a:srgbClr val="FF7139"/>
              </a:solidFill>
            </c:spPr>
          </c:dPt>
          <c:dPt>
            <c:idx val="2"/>
            <c:spPr>
              <a:solidFill>
                <a:srgbClr val="000000"/>
              </a:solidFill>
            </c:spPr>
          </c:dPt>
          <c:dPt>
            <c:idx val="3"/>
            <c:spPr>
              <a:solidFill>
                <a:srgbClr val="0078D4"/>
              </a:solidFill>
            </c:spPr>
          </c:dPt>
          <c:dPt>
            <c:idx val="4"/>
            <c:spPr>
              <a:solidFill>
                <a:srgbClr val="888888"/>
              </a:solidFill>
            </c:spPr>
          </c:dPt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>
              <a:solidFill>
                <a:srgbClr val="0088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FF00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45</c:v>
                </c:pt>
                <c:pt idx="3">
                  <c:v>60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https://upload.wikimedia.org/wikipedia/commons/thumb/4/47/PNG_transparency_demonstration_1.png/280px-PNG_transparency_demonstration_1.png" TargetMode="External"/><Relationship Id="rId3" Type="http://schemas.openxmlformats.org/officeDocument/2006/relationships/image" Target="https://picsum.photos/id/237/200/300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shape-link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Table42"/>
          <p:cNvGraphicFramePr>
            <a:graphicFrameLocks noGrp="1"/>
          </p:cNvGraphicFramePr>
          <p:nvPr/>
        </p:nvGraphicFramePr>
        <p:xfrm>
          <a:off x="457200" y="457200"/>
          <a:ext cx="8229600" cy="3657600"/>
        </p:xfrm>
        <a:graphic>
          <a:graphicData uri="http://schemas.openxmlformats.org/drawingml/2006/table">
            <a:tbl>
              <a:tblPr firstRow="1" lastRow="1" firstCol="0" lastCol="0" bandRow="1" bandCol="0" tblStyleId="{5C22544A-7EE6-4342-B048-85BDC9FD1C3A}"/>
              <a:tblGrid>
                <a:gridCol w="2743200"/>
                <a:gridCol w="2743200"/>
                <a:gridCol w="2743200"/>
              </a:tblGrid>
              <!-- Row 1: diagonal borders -->
              <a:tr h="914400">
                <a:tc>
                  <a:txBody>
                    <a:bodyPr/>
                    <a:lstStyle/>
                    <a:p>
                      <a:r>
                        <a:rPr lang="en-US" sz="1200" b="1"/>
                        <a:t>TL-BR diagonal</a:t>
                      </a:r>
                    </a:p>
                  </a:txBody>
                  <a:tcPr>
                    <a:lnTlToBr w="19050">
                      <a:solidFill>
                        <a:srgbClr val="FF0000"/>
                      </a:solidFill>
                    </a:lnTlToBr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BL-TR diagonal</a:t>
                      </a:r>
                    </a:p>
                  </a:txBody>
                  <a:tcPr>
                    <a:lnBlToTr w="19050">
                      <a:solidFill>
                        <a:srgbClr val="0000FF"/>
                      </a:solidFill>
                    </a:lnBlToT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Both diagonals</a:t>
                      </a:r>
                    </a:p>
                  </a:txBody>
                  <a:tcPr>
                    <a:lnTlToBr w="12700">
                      <a:solidFill>
                        <a:srgbClr val="008800"/>
                      </a:solidFill>
                    </a:lnTlToBr>
                    <a:lnBlToTr w="12700">
                      <a:solidFill>
                        <a:srgbClr val="880000"/>
                      </a:solidFill>
                    </a:lnBlToTr>
                    <a:solidFill>
                      <a:srgbClr val="FFFFF0"/>
                    </a:solidFill>
                  </a:tcPr>
                </a:tc>
              </a:tr>
              <!-- Row 2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</a:tr>
              <!-- Row 3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Last row cell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1" name="TextBox 2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diagonal borders (lnTlToBr/lnBlToTr) + tblPr flags + tblStyleId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blipFill>
            <a:blip r:embed="rId2"/>
            <a:srcRect l="0" t="50000" r="0" b="0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CropPic"/>
          <p:cNvPicPr>
            <a:picLocks noChangeAspect="1"/>
          </p:cNvPicPr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457200" y="914400"/>
            <a:ext cx="2743200" cy="2743200"/>
          </a:xfrm>
          <a:prstGeom prst="rect">
            <a:avLst/>
          </a:prstGeom>
        </p:spPr>
      </p:pic>
      <p:pic>
        <p:nvPicPr>
          <p:cNvPr id="101" name="AlphaPic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3657600" y="914400"/>
            <a:ext cx="2743200" cy="2743200"/>
          </a:xfrm>
          <a:prstGeom prst="rect">
            <a:avLst/>
          </a:prstGeom>
        </p:spPr>
      </p:pic>
      <p:pic>
        <p:nvPicPr>
          <p:cNvPr id="102" name="CropAlphaPic"/>
          <p:cNvPicPr>
            <a:picLocks noChangeAspect="1"/>
          </p:cNvPicPr>
          <p:nvPr/>
        </p:nvPicPr>
        <p:blipFill>
          <a:blip r:embed="rId2">
            <a:alphaModFix amt="75000"/>
          </a:blip>
          <a:srcRect l="50000"/>
          <a:stretch>
            <a:fillRect/>
          </a:stretch>
        </p:blipFill>
        <p:spPr>
          <a:xfrm>
            <a:off x="6858000" y="914400"/>
            <a:ext cx="2286000" cy="27432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43: Image crop (srcRect) + alpha (alphaModFix)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0" name="ExtPic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201" name="ExtPic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2743200" cy="3657600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44: External image reference (TargetMode=External)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7200" y="47548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Wikimedia Commons PNG</a:t>
            </a:r>
            <a:br/>
            <a:r>
              <a:t>Right: picsum.photos (id=237)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BrightPic"/>
          <p:cNvPicPr>
            <a:picLocks noChangeAspect="1"/>
          </p:cNvPicPr>
          <p:nvPr/>
        </p:nvPicPr>
        <p:blipFill>
          <a:blip r:embed="rId2">
            <a:lum bright="50000"/>
          </a:blip>
          <a:stretch>
            <a:fillRect/>
          </a:stretch>
        </p:blipFill>
        <p:spPr>
          <a:xfrm>
            <a:off x="457200" y="914400"/>
            <a:ext cx="2286000" cy="2286000"/>
          </a:xfrm>
          <a:prstGeom prst="rect">
            <a:avLst/>
          </a:prstGeom>
        </p:spPr>
      </p:pic>
      <p:pic>
        <p:nvPicPr>
          <p:cNvPr id="301" name="ContrastPic"/>
          <p:cNvPicPr>
            <a:picLocks noChangeAspect="1"/>
          </p:cNvPicPr>
          <p:nvPr/>
        </p:nvPicPr>
        <p:blipFill>
          <a:blip r:embed="rId2">
            <a:lum contrast="-30000"/>
          </a:blip>
          <a:stretch>
            <a:fillRect/>
          </a:stretch>
        </p:blipFill>
        <p:spPr>
          <a:xfrm>
            <a:off x="3429000" y="914400"/>
            <a:ext cx="2286000" cy="2286000"/>
          </a:xfrm>
          <a:prstGeom prst="rect">
            <a:avLst/>
          </a:prstGeom>
        </p:spPr>
      </p:pic>
      <p:pic>
        <p:nvPicPr>
          <p:cNvPr id="302" name="BrightContrastPic"/>
          <p:cNvPicPr>
            <a:picLocks noChangeAspect="1"/>
          </p:cNvPicPr>
          <p:nvPr/>
        </p:nvPicPr>
        <p:blipFill>
          <a:blip r:embed="rId2">
            <a:lum bright="20000" contrast="40000"/>
          </a:blip>
          <a:stretch>
            <a:fillRect/>
          </a:stretch>
        </p:blipFill>
        <p:spPr>
          <a:xfrm>
            <a:off x="6400800" y="914400"/>
            <a:ext cx="2286000" cy="2286000"/>
          </a:xfrm>
          <a:prstGeom prst="rect">
            <a:avLst/>
          </a:prstGeom>
        </p:spPr>
      </p:pic>
      <p:sp>
        <p:nvSpPr>
          <p:cNvPr id="303" name="TextBox 3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45: Image effects — brightness/contrast (a:lum)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bright +50% | Center: contrast -30% | Right: bright +20% contrast +40%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0" name="DuotonePic"/>
          <p:cNvPicPr>
            <a:picLocks noChangeAspect="1"/>
          </p:cNvPicPr>
          <p:nvPr/>
        </p:nvPicPr>
        <p:blipFill>
          <a:blip r:embed="rId2">
            <a:duotone>
              <a:srgbClr val="000080"/>
              <a:srgbClr val="FFFF00"/>
            </a:duotone>
          </a:blip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401" name="ClrChangePic"/>
          <p:cNvPicPr>
            <a:picLocks noChangeAspect="1"/>
          </p:cNvPicPr>
          <p:nvPr/>
        </p:nvPicPr>
        <p:blipFill>
          <a:blip r:embed="rId2">
            <a:clrChange>
              <a:clrFrom>
                <a:srgbClr val="FF0000"/>
              </a:clrFrom>
              <a:clrTo>
                <a:srgbClr val="00FF00"/>
              </a:clrTo>
            </a:clrChange>
          </a:blip>
          <a:stretch>
            <a:fillRect/>
          </a:stretch>
        </p:blipFill>
        <p:spPr>
          <a:xfrm>
            <a:off x="4572000" y="914400"/>
            <a:ext cx="3657600" cy="3657600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46: Duotone (a:duotone) + Color change (a:clrChange)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Duotone (navy→yellow) | Right: clrChange (red→green, data preserved)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ltDnDiag">
          <a:fgClr>
            <a:srgbClr val="3366CC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47: Background pattern fill (ltDnDiag)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GradStrokeRect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F0F0F0"/>
          </a:solidFill>
          <a:ln w="76200">
            <a:gradFill>
              <a:gsLst>
                <a:gs pos="0">
                  <a:srgbClr val="FF0000"/>
                </a:gs>
                <a:gs pos="50000">
                  <a:srgbClr val="00FF00"/>
                </a:gs>
                <a:gs pos="100000">
                  <a:srgbClr val="0000FF"/>
                </a:gs>
              </a:gsLst>
              <a:lin ang="0" scaled="1"/>
            </a:gradFill>
          </a:ln>
        </p:spPr>
        <p:txBody>
          <a:bodyPr/>
          <a:lstStyle/>
          <a:p>
            <a:r>
              <a:rPr lang="en-US" sz="1400"/>
              <a:t>Gradient stroke</a:t>
            </a:r>
          </a:p>
        </p:txBody>
      </p:sp>
      <p:sp>
        <p:nvSpPr>
          <p:cNvPr id="101" name="PattStrokeEllipse"/>
          <p:cNvSpPr/>
          <p:nvPr/>
        </p:nvSpPr>
        <p:spPr>
          <a:xfrm>
            <a:off x="5029200" y="1371600"/>
            <a:ext cx="3657600" cy="2286000"/>
          </a:xfrm>
          <a:prstGeom prst="ellipse">
            <a:avLst/>
          </a:prstGeom>
          <a:solidFill>
            <a:srgbClr val="FFFFCC"/>
          </a:solidFill>
          <a:ln w="57150">
            <a:pattFill prst="smCheck">
              <a:fgClr>
                <a:srgbClr val="990000"/>
              </a:fgClr>
              <a:bgClr>
                <a:srgbClr val="FFCC00"/>
              </a:bgClr>
            </a:pattFill>
          </a:ln>
        </p:spPr>
        <p:txBody>
          <a:bodyPr/>
          <a:lstStyle/>
          <a:p>
            <a:r>
              <a:rPr lang="en-US" sz="1400"/>
              <a:t>Pattern stroke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48: Line gradient fill + Line pattern fill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LinkedShape">
            <a:hlinkClick r:id="rId99"/>
          </p:cNvPr>
          <p:cNvSpPr/>
          <p:nvPr/>
        </p:nvSpPr>
        <p:spPr>
          <a:xfrm>
            <a:off x="457200" y="1371600"/>
            <a:ext cx="3657600" cy="1828800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2F5597"/>
            </a:solidFill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Click me (shape link)</a:t>
            </a:r>
          </a:p>
        </p:txBody>
      </p:sp>
      <p:sp>
        <p:nvSpPr>
          <p:cNvPr id="201" name="CompColor"/>
          <p:cNvSpPr/>
          <p:nvPr/>
        </p:nvSpPr>
        <p:spPr>
          <a:xfrm>
            <a:off x="5029200" y="1371600"/>
            <a:ext cx="3657600" cy="1828800"/>
          </a:xfrm>
          <a:prstGeom prst="rect">
            <a:avLst/>
          </a:prstGeom>
          <a:solidFill>
            <a:srgbClr val="FF6600">
              <a:comp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comp(#FF6600) = complementary hue</a:t>
            </a:r>
          </a:p>
        </p:txBody>
      </p:sp>
      <p:sp>
        <p:nvSpPr>
          <p:cNvPr id="202" name="InvColor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solidFill>
            <a:srgbClr val="3366CC">
              <a:inv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inv(#3366CC) → #CC9933</a:t>
            </a:r>
          </a:p>
        </p:txBody>
      </p:sp>
      <p:sp>
        <p:nvSpPr>
          <p:cNvPr id="203" name="HueModColor"/>
          <p:cNvSpPr/>
          <p:nvPr/>
        </p:nvSpPr>
        <p:spPr>
          <a:xfrm>
            <a:off x="5029200" y="3657600"/>
            <a:ext cx="3657600" cy="1828800"/>
          </a:xfrm>
          <a:prstGeom prst="rect">
            <a:avLst/>
          </a:prstGeom>
          <a:solidFill>
            <a:srgbClr val="FF0000">
              <a:hueMod val="50000"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hueMod 50% of red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49: Shape hyperlinks + Color modifiers (comp/inv/hueMod)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OuterShadow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effectLst>
            <a:outerShdw blurRad="152400" dist="114300" dir="5400000" algn="ctr" rotWithShape="0">
              <a:srgbClr val="000000">
                <a:alpha val="4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400" b="1"/>
              <a:t>Outer Shadow</a:t>
            </a:r>
          </a:p>
        </p:txBody>
      </p:sp>
      <p:sp>
        <p:nvSpPr>
          <p:cNvPr id="302" name="InnerShadow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effectLst>
            <a:innerShdw blurRad="114300" dist="76200" dir="2700000">
              <a:srgbClr val="000000">
                <a:alpha val="50000"/>
              </a:srgbClr>
            </a:innerShdw>
          </a:effectLst>
        </p:spPr>
        <p:txBody>
          <a:bodyPr anchor="ctr"/>
          <a:lstStyle/>
          <a:p>
            <a:pPr algn="ctr"/>
            <a:r>
              <a:rPr lang="en-US" sz="1400" b="1"/>
              <a:t>Inner Shadow</a:t>
            </a:r>
          </a:p>
        </p:txBody>
      </p:sp>
      <p:sp>
        <p:nvSpPr>
          <p:cNvPr id="303" name="Glow"/>
          <p:cNvSpPr/>
          <p:nvPr/>
        </p:nvSpPr>
        <p:spPr>
          <a:xfrm>
            <a:off x="5029200" y="1371600"/>
            <a:ext cx="3200400" cy="1828800"/>
          </a:xfrm>
          <a:prstGeom prst="roundRect">
            <a:avLst/>
          </a:prstGeom>
          <a:solidFill>
            <a:srgbClr val="ED7D31"/>
          </a:solidFill>
          <a:effectLst>
            <a:glow rad="228600">
              <a:srgbClr val="FFC000">
                <a:alpha val="60000"/>
              </a:srgbClr>
            </a:glow>
          </a:effectLst>
        </p:spPr>
        <p:txBody>
          <a:bodyPr anchor="ctr"/>
          <a:lstStyle/>
          <a:p>
            <a:pPr algn="ctr"/>
            <a:r>
              <a:rPr lang="en-US" sz="1400" b="1"/>
              <a:t>Glow Effect</a:t>
            </a:r>
          </a:p>
        </p:txBody>
      </p:sp>
      <p:sp>
        <p:nvSpPr>
          <p:cNvPr id="304" name="SoftEdge"/>
          <p:cNvSpPr/>
          <p:nvPr/>
        </p:nvSpPr>
        <p:spPr>
          <a:xfrm>
            <a:off x="5029200" y="3657600"/>
            <a:ext cx="3200400" cy="1828800"/>
          </a:xfrm>
          <a:prstGeom prst="roundRect">
            <a:avLst/>
          </a:prstGeom>
          <a:solidFill>
            <a:srgbClr val="A855F7"/>
          </a:solidFill>
          <a:effectLst>
            <a:softEdge rad="317500"/>
          </a:effectLst>
        </p:spPr>
        <p:txBody>
          <a:bodyPr anchor="ctr"/>
          <a:lstStyle/>
          <a:p>
            <a:pPr algn="ctr"/>
            <a:r>
              <a:rPr lang="en-US" sz="1400" b="1"/>
              <a:t>Soft Edge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50: Shape effects (outerShdw / innerShdw / glow / softEdge)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evel3D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scene3d>
            <a:camera prst="orthographicFront"/>
            <a:lightRig rig="threePt" dir="t"/>
          </a:scene3d>
          <a:sp3d prstMaterial="plastic">
            <a:bevelT w="152400" h="50800" prst="relaxedInset"/>
          </a:sp3d>
        </p:spPr>
        <p:txBody>
          <a:bodyPr anchor="ctr"/>
          <a:lstStyle/>
          <a:p>
            <a:pPr algn="ctr"/>
            <a:r>
              <a:rPr lang="en-US" sz="1400" b="1"/>
              <a:t>3D Bevel</a:t>
            </a:r>
          </a:p>
        </p:txBody>
      </p:sp>
      <p:sp>
        <p:nvSpPr>
          <p:cNvPr id="402" name="TextShadow"/>
          <p:cNvSpPr/>
          <p:nvPr/>
        </p:nvSpPr>
        <p:spPr>
          <a:xfrm>
            <a:off x="5029200" y="1371600"/>
            <a:ext cx="3200400" cy="1828800"/>
          </a:xfrm>
          <a:prstGeom prst="rect">
            <a:avLst/>
          </a:prstGeom>
          <a:solidFill>
            <a:srgbClr val="FFFFFF"/>
          </a:solidFill>
        </p:spPr>
        <p:txBody>
          <a:bodyPr anchor="ctr"/>
          <a:lstStyle/>
          <a:p>
            <a:pPr algn="ctr"/>
            <a:r>
              <a:rPr lang="en-US" sz="2400" b="1">
                <a:solidFill>
                  <a:srgbClr val="333333"/>
                </a:solidFill>
                <a:effectLst>
                  <a:outerShdw blurRad="38100" dist="38100" dir="5400000">
                    <a:srgbClr val="000000">
                      <a:alpha val="40000"/>
                    </a:srgbClr>
                  </a:outerShdw>
                </a:effectLst>
              </a:rPr>
              <a:t>Text with Shadow</a:t>
            </a:r>
          </a:p>
          <a:p>
            <a:pPr algn="ctr"/>
            <a:r>
              <a:rPr lang="en-US" sz="2000">
                <a:solidFill>
                  <a:srgbClr val="FF4444"/>
                </a:solidFill>
                <a:effectLst>
                  <a:glow rad="101600">
                    <a:srgbClr val="FF0000">
                      <a:alpha val="50000"/>
                    </a:srgbClr>
                  </a:glow>
                </a:effectLst>
              </a:rPr>
              <a:t>Text with Glow</a:t>
            </a:r>
          </a:p>
        </p:txBody>
      </p:sp>
      <p:sp>
        <p:nvSpPr>
          <p:cNvPr id="403" name="Extrusion3D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scene3d>
            <a:camera prst="isometricLeftDown"/>
            <a:lightRig rig="balanced" dir="t"/>
          </a:scene3d>
          <a:sp3d extrusionH="76200" contourW="12700" prstMaterial="warmMatte">
            <a:bevelT w="101600" h="38100" prst="circle"/>
            <a:bevelB w="50800" h="25400"/>
            <a:extrusionClr>
              <a:srgbClr val="5B8C3C"/>
            </a:extrusionClr>
            <a:contourClr>
              <a:srgbClr val="2E5B14"/>
            </a:contourClr>
          </a:sp3d>
        </p:spPr>
        <p:txBody>
          <a:bodyPr anchor="ctr"/>
          <a:lstStyle/>
          <a:p>
            <a:pPr algn="ctr"/>
            <a:r>
              <a:rPr lang="en-US" sz="1400" b="1"/>
              <a:t>3D Extrusion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51: 3D effects (bevel/extrusion/scene3d) + text shadow/glow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52: Column chart (clustered)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53: Line chart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54: Pie chart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55: Bar chart (horizontal) + Donut chart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56: Column chart with data labels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57: Pie chart with custom colors + % labels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58: Line chart with series colors + data labels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