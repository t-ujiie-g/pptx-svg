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comments/comment75.xml" ContentType="application/vnd.openxmlformats-officedocument.presentationml.comments+xml"/>
  <Override PartName="/ppt/embeddings/oleObject77.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wmf" ContentType="image/x-wmf"/>
  <Override PartName="/ppt/charts/chartEx1.xml" ContentType="application/vnd.ms-office.chartex+xml"/>
  <Override PartName="/ppt/charts/chartEx2.xml" ContentType="application/vnd.ms-office.chartex+xml"/>
  <Override PartName="/ppt/charts/chartEx3.xml" ContentType="application/vnd.ms-office.chartex+xml"/>
  <Override PartName="/ppt/charts/chartEx4.xml" ContentType="application/vnd.ms-office.chartex+xml"/>
  <Override PartName="/ppt/charts/chartEx5.xml" ContentType="application/vnd.ms-office.chartex+xml"/>
  <Override PartName="/ppt/charts/chartEx6.xml" ContentType="application/vnd.ms-office.chartex+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p:cmAuthor id="1" name="Test User" initials="TU"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notesMaster" Target="notesMasters/notesMaster1.xml"/><Relationship Id="rId83" Type="http://schemas.openxmlformats.org/officeDocument/2006/relationships/commentAuthors" Target="commentAuthors.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 2024</c:v>
                </c:pt>
              </c:strCache>
            </c:strRef>
          </c:tx>
          <c:cat>
            <c:strRef>
              <c:f>Sheet1!$A$2:$A$5</c:f>
              <c:strCache>
                <c:ptCount val="4"/>
                <c:pt idx="0">
                  <c:v>Q1</c:v>
                </c:pt>
                <c:pt idx="1">
                  <c:v>Q2</c:v>
                </c:pt>
                <c:pt idx="2">
                  <c:v>Q3</c:v>
                </c:pt>
                <c:pt idx="3">
                  <c:v>Q4</c:v>
                </c:pt>
              </c:strCache>
            </c:strRef>
          </c:cat>
          <c:val>
            <c:numRef>
              <c:f>Sheet1!$B$2:$B$5</c:f>
              <c:numCache>
                <c:formatCode>General</c:formatCode>
                <c:ptCount val="4"/>
                <c:pt idx="0">
                  <c:v>120</c:v>
                </c:pt>
                <c:pt idx="1">
                  <c:v>150</c:v>
                </c:pt>
                <c:pt idx="2">
                  <c:v>180</c:v>
                </c:pt>
                <c:pt idx="3">
                  <c:v>200</c:v>
                </c:pt>
              </c:numCache>
            </c:numRef>
          </c:val>
        </c:ser>
        <c:ser>
          <c:idx val="1"/>
          <c:order val="1"/>
          <c:tx>
            <c:strRef>
              <c:f>Sheet1!$C$1</c:f>
              <c:strCache>
                <c:ptCount val="1"/>
                <c:pt idx="0">
                  <c:v>Sales 2025</c:v>
                </c:pt>
              </c:strCache>
            </c:strRef>
          </c:tx>
          <c:cat>
            <c:strRef>
              <c:f>Sheet1!$A$2:$A$5</c:f>
              <c:strCache>
                <c:ptCount val="4"/>
                <c:pt idx="0">
                  <c:v>Q1</c:v>
                </c:pt>
                <c:pt idx="1">
                  <c:v>Q2</c:v>
                </c:pt>
                <c:pt idx="2">
                  <c:v>Q3</c:v>
                </c:pt>
                <c:pt idx="3">
                  <c:v>Q4</c:v>
                </c:pt>
              </c:strCache>
            </c:strRef>
          </c:cat>
          <c:val>
            <c:numRef>
              <c:f>Sheet1!$C$2:$C$5</c:f>
              <c:numCache>
                <c:formatCode>General</c:formatCode>
                <c:ptCount val="4"/>
                <c:pt idx="0">
                  <c:v>100</c:v>
                </c:pt>
                <c:pt idx="1">
                  <c:v>130</c:v>
                </c:pt>
                <c:pt idx="2">
                  <c:v>160</c:v>
                </c:pt>
                <c:pt idx="3">
                  <c:v>190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Revenue</c:v>
                </c:pt>
              </c:strCache>
            </c:strRef>
          </c:tx>
          <c:marker>
            <c:symbol val="none"/>
          </c:marker>
          <c:cat>
            <c:strRef>
              <c:f>Sheet1!$A$2:$A$6</c:f>
              <c:strCache>
                <c:ptCount val="5"/>
                <c:pt idx="0">
                  <c:v>Jan</c:v>
                </c:pt>
                <c:pt idx="1">
                  <c:v>Feb</c:v>
                </c:pt>
                <c:pt idx="2">
                  <c:v>Mar</c:v>
                </c:pt>
                <c:pt idx="3">
                  <c:v>Apr</c:v>
                </c:pt>
                <c:pt idx="4">
                  <c:v>May</c:v>
                </c:pt>
              </c:strCache>
            </c:strRef>
          </c:cat>
          <c:val>
            <c:numRef>
              <c:f>Sheet1!$B$2:$B$6</c:f>
              <c:numCache>
                <c:formatCode>General</c:formatCode>
                <c:ptCount val="5"/>
                <c:pt idx="0">
                  <c:v>80</c:v>
                </c:pt>
                <c:pt idx="1">
                  <c:v>95</c:v>
                </c:pt>
                <c:pt idx="2">
                  <c:v>110</c:v>
                </c:pt>
                <c:pt idx="3">
                  <c:v>105</c:v>
                </c:pt>
                <c:pt idx="4">
                  <c:v>130</c:v>
                </c:pt>
              </c:numCache>
            </c:numRef>
          </c:val>
          <c:smooth val="0"/>
        </c:ser>
        <c:ser>
          <c:idx val="1"/>
          <c:order val="1"/>
          <c:tx>
            <c:strRef>
              <c:f>Sheet1!$C$1</c:f>
              <c:strCache>
                <c:ptCount val="1"/>
                <c:pt idx="0">
                  <c:v>Cost</c:v>
                </c:pt>
              </c:strCache>
            </c:strRef>
          </c:tx>
          <c:marker>
            <c:symbol val="none"/>
          </c:marker>
          <c:cat>
            <c:strRef>
              <c:f>Sheet1!$A$2:$A$6</c:f>
              <c:strCache>
                <c:ptCount val="5"/>
                <c:pt idx="0">
                  <c:v>Jan</c:v>
                </c:pt>
                <c:pt idx="1">
                  <c:v>Feb</c:v>
                </c:pt>
                <c:pt idx="2">
                  <c:v>Mar</c:v>
                </c:pt>
                <c:pt idx="3">
                  <c:v>Apr</c:v>
                </c:pt>
                <c:pt idx="4">
                  <c:v>May</c:v>
                </c:pt>
              </c:strCache>
            </c:strRef>
          </c:cat>
          <c:val>
            <c:numRef>
              <c:f>Sheet1!$C$2:$C$6</c:f>
              <c:numCache>
                <c:formatCode>General</c:formatCode>
                <c:ptCount val="5"/>
                <c:pt idx="0">
                  <c:v>60</c:v>
                </c:pt>
                <c:pt idx="1">
                  <c:v>65</c:v>
                </c:pt>
                <c:pt idx="2">
                  <c:v>70</c:v>
                </c:pt>
                <c:pt idx="3">
                  <c:v>75</c:v>
                </c:pt>
                <c:pt idx="4">
                  <c:v>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Market Share</c:v>
                </c:pt>
              </c:strCache>
            </c:strRef>
          </c:tx>
          <c:cat>
            <c:strRef>
              <c:f>Sheet1!$A$2:$A$5</c:f>
              <c:strCache>
                <c:ptCount val="4"/>
                <c:pt idx="0">
                  <c:v>Desktop</c:v>
                </c:pt>
                <c:pt idx="1">
                  <c:v>Mobile</c:v>
                </c:pt>
                <c:pt idx="2">
                  <c:v>Tablet</c:v>
                </c:pt>
                <c:pt idx="3">
                  <c:v>Other</c:v>
                </c:pt>
              </c:strCache>
            </c:strRef>
          </c:cat>
          <c:val>
            <c:numRef>
              <c:f>Sheet1!$B$2:$B$5</c:f>
              <c:numCache>
                <c:formatCode>General</c:formatCode>
                <c:ptCount val="4"/>
                <c:pt idx="0">
                  <c:v>45</c:v>
                </c:pt>
                <c:pt idx="1">
                  <c:v>35</c:v>
                </c:pt>
                <c:pt idx="2">
                  <c:v>15</c:v>
                </c:pt>
                <c:pt idx="3">
                  <c:v>5</c:v>
                </c:pt>
              </c:numCache>
            </c:numRef>
          </c:val>
        </c:ser>
      </c:pieChart>
    </c:plotArea>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Units Sold</c:v>
                </c:pt>
              </c:strCache>
            </c:strRef>
          </c:tx>
          <c:cat>
            <c:strRef>
              <c:f>Sheet1!$A$2:$A$4</c:f>
              <c:strCache>
                <c:ptCount val="3"/>
                <c:pt idx="0">
                  <c:v>Product A</c:v>
                </c:pt>
                <c:pt idx="1">
                  <c:v>Product B</c:v>
                </c:pt>
                <c:pt idx="2">
                  <c:v>Product C</c:v>
                </c:pt>
              </c:strCache>
            </c:strRef>
          </c:cat>
          <c:val>
            <c:numRef>
              <c:f>Sheet1!$B$2:$B$4</c:f>
              <c:numCache>
                <c:formatCode>General</c:formatCode>
                <c:ptCount val="3"/>
                <c:pt idx="0">
                  <c:v>250</c:v>
                </c:pt>
                <c:pt idx="1">
                  <c:v>180</c:v>
                </c:pt>
                <c:pt idx="2">
                  <c:v>320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Responses</c:v>
                </c:pt>
              </c:strCache>
            </c:strRef>
          </c:tx>
          <c:cat>
            <c:strRef>
              <c:f>Sheet1!$A$2:$A$4</c:f>
              <c:strCache>
                <c:ptCount val="3"/>
                <c:pt idx="0">
                  <c:v>Yes</c:v>
                </c:pt>
                <c:pt idx="1">
                  <c:v>No</c:v>
                </c:pt>
                <c:pt idx="2">
                  <c:v>Maybe</c:v>
                </c:pt>
              </c:strCache>
            </c:strRef>
          </c:cat>
          <c:val>
            <c:numRef>
              <c:f>Sheet1!$B$2:$B$4</c:f>
              <c:numCache>
                <c:formatCode>General</c:formatCode>
                <c:ptCount val="3"/>
                <c:pt idx="0">
                  <c:v>60</c:v>
                </c:pt>
                <c:pt idx="1">
                  <c:v>25</c:v>
                </c:pt>
                <c:pt idx="2">
                  <c:v>15</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cat>
            <c:strRef>
              <c:f>Sheet1!$A$2:$A$5</c:f>
              <c:strCache>
                <c:ptCount val="4"/>
                <c:pt idx="0">
                  <c:v>North</c:v>
                </c:pt>
                <c:pt idx="1">
                  <c:v>South</c:v>
                </c:pt>
                <c:pt idx="2">
                  <c:v>East</c:v>
                </c:pt>
                <c:pt idx="3">
                  <c:v>West</c:v>
                </c:pt>
              </c:strCache>
            </c:strRef>
          </c:cat>
          <c:val>
            <c:numRef>
              <c:f>Sheet1!$B$2:$B$5</c:f>
              <c:numCache>
                <c:formatCode>General</c:formatCode>
                <c:ptCount val="4"/>
                <c:pt idx="0">
                  <c:v>320</c:v>
                </c:pt>
                <c:pt idx="1">
                  <c:v>280</c:v>
                </c:pt>
                <c:pt idx="2">
                  <c:v>190</c:v>
                </c:pt>
                <c:pt idx="3">
                  <c:v>410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Browser Share</c:v>
                </c:pt>
              </c:strCache>
            </c:strRef>
          </c:tx>
          <c:cat>
            <c:strRef>
              <c:f>Sheet1!$A$2:$A$6</c:f>
              <c:strCache>
                <c:ptCount val="5"/>
                <c:pt idx="0">
                  <c:v>Chrome</c:v>
                </c:pt>
                <c:pt idx="1">
                  <c:v>Firefox</c:v>
                </c:pt>
                <c:pt idx="2">
                  <c:v>Safari</c:v>
                </c:pt>
                <c:pt idx="3">
                  <c:v>Edge</c:v>
                </c:pt>
                <c:pt idx="4">
                  <c:v>Other</c:v>
                </c:pt>
              </c:strCache>
            </c:strRef>
          </c:cat>
          <c:val>
            <c:numRef>
              <c:f>Sheet1!$B$2:$B$6</c:f>
              <c:numCache>
                <c:formatCode>General</c:formatCode>
                <c:ptCount val="5"/>
                <c:pt idx="0">
                  <c:v>65</c:v>
                </c:pt>
                <c:pt idx="1">
                  <c:v>10</c:v>
                </c:pt>
                <c:pt idx="2">
                  <c:v>18</c:v>
                </c:pt>
                <c:pt idx="3">
                  <c:v>5</c:v>
                </c:pt>
                <c:pt idx="4">
                  <c:v>2</c:v>
                </c:pt>
              </c:numCache>
            </c:numRef>
          </c:val>
          <c:dPt>
            <c:idx val="0"/>
            <c:spPr>
              <a:solidFill>
                <a:srgbClr val="4285F4"/>
              </a:solidFill>
            </c:spPr>
          </c:dPt>
          <c:dPt>
            <c:idx val="1"/>
            <c:spPr>
              <a:solidFill>
                <a:srgbClr val="FF7139"/>
              </a:solidFill>
            </c:spPr>
          </c:dPt>
          <c:dPt>
            <c:idx val="2"/>
            <c:spPr>
              <a:solidFill>
                <a:srgbClr val="000000"/>
              </a:solidFill>
            </c:spPr>
          </c:dPt>
          <c:dPt>
            <c:idx val="3"/>
            <c:spPr>
              <a:solidFill>
                <a:srgbClr val="0078D4"/>
              </a:solidFill>
            </c:spPr>
          </c:dPt>
          <c:dPt>
            <c:idx val="4"/>
            <c:spPr>
              <a:solidFill>
                <a:srgbClr val="888888"/>
              </a:solidFill>
            </c:spPr>
          </c:dPt>
        </c:ser>
        <c:dLbls>
          <c:showLegendKey val="0"/>
          <c:showVal val="0"/>
          <c:showCatName val="1"/>
          <c:showSerName val="0"/>
          <c:showPercent val="1"/>
          <c:showBubbleSize val="0"/>
          <c:showLeaderLines val="1"/>
        </c:dLbls>
      </c:pieChart>
    </c:plotArea>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Actual</c:v>
                </c:pt>
              </c:strCache>
            </c:strRef>
          </c:tx>
          <c:spPr>
            <a:ln>
              <a:solidFill>
                <a:srgbClr val="008800"/>
              </a:solidFill>
            </a:ln>
          </c:spPr>
          <c:marker>
            <c:symbol val="none"/>
          </c:marker>
          <c:cat>
            <c:strRef>
              <c:f>Sheet1!$A$2:$A$5</c:f>
              <c:strCache>
                <c:ptCount val="4"/>
                <c:pt idx="0">
                  <c:v>Week 1</c:v>
                </c:pt>
                <c:pt idx="1">
                  <c:v>Week 2</c:v>
                </c:pt>
                <c:pt idx="2">
                  <c:v>Week 3</c:v>
                </c:pt>
                <c:pt idx="3">
                  <c:v>Week 4</c:v>
                </c:pt>
              </c:strCache>
            </c:strRef>
          </c:cat>
          <c:val>
            <c:numRef>
              <c:f>Sheet1!$B$2:$B$5</c:f>
              <c:numCache>
                <c:formatCode>General</c:formatCode>
                <c:ptCount val="4"/>
                <c:pt idx="0">
                  <c:v>10</c:v>
                </c:pt>
                <c:pt idx="1">
                  <c:v>25</c:v>
                </c:pt>
                <c:pt idx="2">
                  <c:v>40</c:v>
                </c:pt>
                <c:pt idx="3">
                  <c:v>55</c:v>
                </c:pt>
              </c:numCache>
            </c:numRef>
          </c:val>
          <c:smooth val="0"/>
        </c:ser>
        <c:ser>
          <c:idx val="1"/>
          <c:order val="1"/>
          <c:tx>
            <c:strRef>
              <c:f>Sheet1!$C$1</c:f>
              <c:strCache>
                <c:ptCount val="1"/>
                <c:pt idx="0">
                  <c:v>Target</c:v>
                </c:pt>
              </c:strCache>
            </c:strRef>
          </c:tx>
          <c:spPr>
            <a:ln>
              <a:solidFill>
                <a:srgbClr val="FF0000"/>
              </a:solidFill>
            </a:ln>
          </c:spPr>
          <c:marker>
            <c:symbol val="none"/>
          </c:marker>
          <c:cat>
            <c:strRef>
              <c:f>Sheet1!$A$2:$A$5</c:f>
              <c:strCache>
                <c:ptCount val="4"/>
                <c:pt idx="0">
                  <c:v>Week 1</c:v>
                </c:pt>
                <c:pt idx="1">
                  <c:v>Week 2</c:v>
                </c:pt>
                <c:pt idx="2">
                  <c:v>Week 3</c:v>
                </c:pt>
                <c:pt idx="3">
                  <c:v>Week 4</c:v>
                </c:pt>
              </c:strCache>
            </c:strRef>
          </c:cat>
          <c:val>
            <c:numRef>
              <c:f>Sheet1!$C$2:$C$5</c:f>
              <c:numCache>
                <c:formatCode>General</c:formatCode>
                <c:ptCount val="4"/>
                <c:pt idx="0">
                  <c:v>15</c:v>
                </c:pt>
                <c:pt idx="1">
                  <c:v>30</c:v>
                </c:pt>
                <c:pt idx="2">
                  <c:v>45</c:v>
                </c:pt>
                <c:pt idx="3">
                  <c:v>60</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Group A</c:v>
                </c:pt>
              </c:strCache>
            </c:strRef>
          </c:tx>
          <c:spPr>
            <a:ln w="47625">
              <a:noFill/>
            </a:ln>
          </c:spPr>
          <c:xVal>
            <c:numRef>
              <c:f>Sheet1!$A$2:$A$5</c:f>
              <c:numCache>
                <c:formatCode>General</c:formatCode>
                <c:ptCount val="4"/>
                <c:pt idx="0">
                  <c:v>10</c:v>
                </c:pt>
                <c:pt idx="1">
                  <c:v>30</c:v>
                </c:pt>
                <c:pt idx="2">
                  <c:v>50</c:v>
                </c:pt>
                <c:pt idx="3">
                  <c:v>70</c:v>
                </c:pt>
              </c:numCache>
            </c:numRef>
          </c:xVal>
          <c:yVal>
            <c:numRef>
              <c:f>Sheet1!$B$2:$B$5</c:f>
              <c:numCache>
                <c:formatCode>General</c:formatCode>
                <c:ptCount val="4"/>
                <c:pt idx="0">
                  <c:v>20</c:v>
                </c:pt>
                <c:pt idx="1">
                  <c:v>50</c:v>
                </c:pt>
                <c:pt idx="2">
                  <c:v>40</c:v>
                </c:pt>
                <c:pt idx="3">
                  <c:v>80</c:v>
                </c:pt>
              </c:numCache>
            </c:numRef>
          </c:yVal>
          <c:smooth val="0"/>
        </c:ser>
        <c:ser>
          <c:idx val="1"/>
          <c:order val="1"/>
          <c:tx>
            <c:strRef>
              <c:f>Sheet1!$B$7</c:f>
              <c:strCache>
                <c:ptCount val="1"/>
                <c:pt idx="0">
                  <c:v>Group B</c:v>
                </c:pt>
              </c:strCache>
            </c:strRef>
          </c:tx>
          <c:spPr>
            <a:ln w="47625">
              <a:noFill/>
            </a:ln>
          </c:spPr>
          <c:xVal>
            <c:numRef>
              <c:f>Sheet1!$A$8:$A$11</c:f>
              <c:numCache>
                <c:formatCode>General</c:formatCode>
                <c:ptCount val="4"/>
                <c:pt idx="0">
                  <c:v>15</c:v>
                </c:pt>
                <c:pt idx="1">
                  <c:v>35</c:v>
                </c:pt>
                <c:pt idx="2">
                  <c:v>55</c:v>
                </c:pt>
                <c:pt idx="3">
                  <c:v>75</c:v>
                </c:pt>
              </c:numCache>
            </c:numRef>
          </c:xVal>
          <c:yVal>
            <c:numRef>
              <c:f>Sheet1!$B$8:$B$11</c:f>
              <c:numCache>
                <c:formatCode>General</c:formatCode>
                <c:ptCount val="4"/>
                <c:pt idx="0">
                  <c:v>60</c:v>
                </c:pt>
                <c:pt idx="1">
                  <c:v>30</c:v>
                </c:pt>
                <c:pt idx="2">
                  <c:v>70</c:v>
                </c:pt>
                <c:pt idx="3">
                  <c:v>45</c:v>
                </c:pt>
              </c:numCache>
            </c:numRef>
          </c:yVal>
          <c:smooth val="0"/>
        </c:ser>
        <c:axId val="-2128940872"/>
        <c:axId val="-2129643912"/>
      </c:scatterChart>
      <c:valAx>
        <c:axId val="-2128940872"/>
        <c:scaling>
          <c:orientation val="minMax"/>
        </c:scaling>
        <c:delete val="0"/>
        <c:axPos val="b"/>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crossAx val="-2128940872"/>
        <c:crosses val="autoZero"/>
        <c:crossBetween val="midCat"/>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Downloads</c:v>
                </c:pt>
              </c:strCache>
            </c:strRef>
          </c:tx>
          <c:cat>
            <c:strRef>
              <c:f>Sheet1!$A$2:$A$6</c:f>
              <c:strCache>
                <c:ptCount val="5"/>
                <c:pt idx="0">
                  <c:v>Jan</c:v>
                </c:pt>
                <c:pt idx="1">
                  <c:v>Feb</c:v>
                </c:pt>
                <c:pt idx="2">
                  <c:v>Mar</c:v>
                </c:pt>
                <c:pt idx="3">
                  <c:v>Apr</c:v>
                </c:pt>
                <c:pt idx="4">
                  <c:v>May</c:v>
                </c:pt>
              </c:strCache>
            </c:strRef>
          </c:cat>
          <c:val>
            <c:numRef>
              <c:f>Sheet1!$B$2:$B$6</c:f>
              <c:numCache>
                <c:formatCode>General</c:formatCode>
                <c:ptCount val="5"/>
                <c:pt idx="0">
                  <c:v>120</c:v>
                </c:pt>
                <c:pt idx="1">
                  <c:v>180</c:v>
                </c:pt>
                <c:pt idx="2">
                  <c:v>150</c:v>
                </c:pt>
                <c:pt idx="3">
                  <c:v>200</c:v>
                </c:pt>
                <c:pt idx="4">
                  <c:v>250</c:v>
                </c:pt>
              </c:numCache>
            </c:numRef>
          </c:val>
        </c:ser>
        <c:ser>
          <c:idx val="1"/>
          <c:order val="1"/>
          <c:tx>
            <c:strRef>
              <c:f>Sheet1!$C$1</c:f>
              <c:strCache>
                <c:ptCount val="1"/>
                <c:pt idx="0">
                  <c:v>Uploads</c:v>
                </c:pt>
              </c:strCache>
            </c:strRef>
          </c:tx>
          <c:cat>
            <c:strRef>
              <c:f>Sheet1!$A$2:$A$6</c:f>
              <c:strCache>
                <c:ptCount val="5"/>
                <c:pt idx="0">
                  <c:v>Jan</c:v>
                </c:pt>
                <c:pt idx="1">
                  <c:v>Feb</c:v>
                </c:pt>
                <c:pt idx="2">
                  <c:v>Mar</c:v>
                </c:pt>
                <c:pt idx="3">
                  <c:v>Apr</c:v>
                </c:pt>
                <c:pt idx="4">
                  <c:v>May</c:v>
                </c:pt>
              </c:strCache>
            </c:strRef>
          </c:cat>
          <c:val>
            <c:numRef>
              <c:f>Sheet1!$C$2:$C$6</c:f>
              <c:numCache>
                <c:formatCode>General</c:formatCode>
                <c:ptCount val="5"/>
                <c:pt idx="0">
                  <c:v>80</c:v>
                </c:pt>
                <c:pt idx="1">
                  <c:v>100</c:v>
                </c:pt>
                <c:pt idx="2">
                  <c:v>130</c:v>
                </c:pt>
                <c:pt idx="3">
                  <c:v>110</c:v>
                </c:pt>
                <c:pt idx="4">
                  <c:v>170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layout/>
      <c:overlay val="0"/>
    </c:legend>
    <c:plotVisOnly val="1"/>
    <c:dispBlanksAs val="zero"/>
    <c:showDLblsOverMax val="0"/>
  </c:chart>
  <c:txPr>
    <a:bodyPr/>
    <a:lstStyle/>
    <a:p>
      <a:pPr>
        <a:defRPr sz="1800"/>
      </a:pPr>
      <a:endParaR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radarChart>
        <c:radarStyle val="marker"/>
        <c:varyColors val="0"/>
        <c:ser>
          <c:idx val="0"/>
          <c:order val="0"/>
          <c:tx>
            <c:strRef>
              <c:f>Sheet1!$B$1</c:f>
              <c:strCache>
                <c:ptCount val="1"/>
                <c:pt idx="0">
                  <c:v>Character A</c:v>
                </c:pt>
              </c:strCache>
            </c:strRef>
          </c:tx>
          <c:marker>
            <c:symbol val="none"/>
          </c:marker>
          <c:cat>
            <c:strRef>
              <c:f>Sheet1!$A$2:$A$7</c:f>
              <c:strCache>
                <c:ptCount val="6"/>
                <c:pt idx="0">
                  <c:v>Str</c:v>
                </c:pt>
                <c:pt idx="1">
                  <c:v>Dex</c:v>
                </c:pt>
                <c:pt idx="2">
                  <c:v>Con</c:v>
                </c:pt>
                <c:pt idx="3">
                  <c:v>Int</c:v>
                </c:pt>
                <c:pt idx="4">
                  <c:v>Wis</c:v>
                </c:pt>
                <c:pt idx="5">
                  <c:v>Cha</c:v>
                </c:pt>
              </c:strCache>
            </c:strRef>
          </c:cat>
          <c:val>
            <c:numRef>
              <c:f>Sheet1!$B$2:$B$7</c:f>
              <c:numCache>
                <c:formatCode>General</c:formatCode>
                <c:ptCount val="6"/>
                <c:pt idx="0">
                  <c:v>15</c:v>
                </c:pt>
                <c:pt idx="1">
                  <c:v>12</c:v>
                </c:pt>
                <c:pt idx="2">
                  <c:v>14</c:v>
                </c:pt>
                <c:pt idx="3">
                  <c:v>10</c:v>
                </c:pt>
                <c:pt idx="4">
                  <c:v>8</c:v>
                </c:pt>
                <c:pt idx="5">
                  <c:v>16</c:v>
                </c:pt>
              </c:numCache>
            </c:numRef>
          </c:val>
          <c:smooth val="0"/>
        </c:ser>
        <c:ser>
          <c:idx val="1"/>
          <c:order val="1"/>
          <c:tx>
            <c:strRef>
              <c:f>Sheet1!$C$1</c:f>
              <c:strCache>
                <c:ptCount val="1"/>
                <c:pt idx="0">
                  <c:v>Character B</c:v>
                </c:pt>
              </c:strCache>
            </c:strRef>
          </c:tx>
          <c:marker>
            <c:symbol val="none"/>
          </c:marker>
          <c:cat>
            <c:strRef>
              <c:f>Sheet1!$A$2:$A$7</c:f>
              <c:strCache>
                <c:ptCount val="6"/>
                <c:pt idx="0">
                  <c:v>Str</c:v>
                </c:pt>
                <c:pt idx="1">
                  <c:v>Dex</c:v>
                </c:pt>
                <c:pt idx="2">
                  <c:v>Con</c:v>
                </c:pt>
                <c:pt idx="3">
                  <c:v>Int</c:v>
                </c:pt>
                <c:pt idx="4">
                  <c:v>Wis</c:v>
                </c:pt>
                <c:pt idx="5">
                  <c:v>Cha</c:v>
                </c:pt>
              </c:strCache>
            </c:strRef>
          </c:cat>
          <c:val>
            <c:numRef>
              <c:f>Sheet1!$C$2:$C$7</c:f>
              <c:numCache>
                <c:formatCode>General</c:formatCode>
                <c:ptCount val="6"/>
                <c:pt idx="0">
                  <c:v>10</c:v>
                </c:pt>
                <c:pt idx="1">
                  <c:v>16</c:v>
                </c:pt>
                <c:pt idx="2">
                  <c:v>8</c:v>
                </c:pt>
                <c:pt idx="3">
                  <c:v>15</c:v>
                </c:pt>
                <c:pt idx="4">
                  <c:v>14</c:v>
                </c:pt>
                <c:pt idx="5">
                  <c:v>12</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autoTitleDeleted val="0"/>
    <c:plotArea>
      <c:layout/>
      <c:bubbleChart>
        <c:varyColors val="0"/>
        <c:ser>
          <c:idx val="0"/>
          <c:order val="0"/>
          <c:tx>
            <c:strRef>
              <c:f>Sheet1!$B$1</c:f>
              <c:strCache>
                <c:ptCount val="1"/>
                <c:pt idx="0">
                  <c:v>Product X</c:v>
                </c:pt>
              </c:strCache>
            </c:strRef>
          </c:tx>
          <c:invertIfNegative val="0"/>
          <c:xVal>
            <c:numRef>
              <c:f>Sheet1!$A$2:$A$5</c:f>
              <c:numCache>
                <c:formatCode>General</c:formatCode>
                <c:ptCount val="4"/>
                <c:pt idx="0">
                  <c:v>10</c:v>
                </c:pt>
                <c:pt idx="1">
                  <c:v>25</c:v>
                </c:pt>
                <c:pt idx="2">
                  <c:v>40</c:v>
                </c:pt>
                <c:pt idx="3">
                  <c:v>55</c:v>
                </c:pt>
              </c:numCache>
            </c:numRef>
          </c:xVal>
          <c:yVal>
            <c:numRef>
              <c:f>Sheet1!$B$2:$B$5</c:f>
              <c:numCache>
                <c:formatCode>General</c:formatCode>
                <c:ptCount val="4"/>
                <c:pt idx="0">
                  <c:v>40</c:v>
                </c:pt>
                <c:pt idx="1">
                  <c:v>60</c:v>
                </c:pt>
                <c:pt idx="2">
                  <c:v>30</c:v>
                </c:pt>
                <c:pt idx="3">
                  <c:v>70</c:v>
                </c:pt>
              </c:numCache>
            </c:numRef>
          </c:yVal>
          <c:bubbleSize>
            <c:numRef>
              <c:f>Sheet1!$C$2:$C$5</c:f>
              <c:numCache>
                <c:formatCode>General</c:formatCode>
                <c:ptCount val="4"/>
                <c:pt idx="0">
                  <c:v>15</c:v>
                </c:pt>
                <c:pt idx="1">
                  <c:v>30</c:v>
                </c:pt>
                <c:pt idx="2">
                  <c:v>10</c:v>
                </c:pt>
                <c:pt idx="3">
                  <c:v>25</c:v>
                </c:pt>
              </c:numCache>
            </c:numRef>
          </c:bubbleSize>
          <c:bubble3D val="0"/>
        </c:ser>
        <c:ser>
          <c:idx val="1"/>
          <c:order val="1"/>
          <c:tx>
            <c:strRef>
              <c:f>Sheet1!$B$7</c:f>
              <c:strCache>
                <c:ptCount val="1"/>
                <c:pt idx="0">
                  <c:v>Product Y</c:v>
                </c:pt>
              </c:strCache>
            </c:strRef>
          </c:tx>
          <c:invertIfNegative val="0"/>
          <c:xVal>
            <c:numRef>
              <c:f>Sheet1!$A$8:$A$10</c:f>
              <c:numCache>
                <c:formatCode>General</c:formatCode>
                <c:ptCount val="3"/>
                <c:pt idx="0">
                  <c:v>15</c:v>
                </c:pt>
                <c:pt idx="1">
                  <c:v>30</c:v>
                </c:pt>
                <c:pt idx="2">
                  <c:v>50</c:v>
                </c:pt>
              </c:numCache>
            </c:numRef>
          </c:xVal>
          <c:yVal>
            <c:numRef>
              <c:f>Sheet1!$B$8:$B$10</c:f>
              <c:numCache>
                <c:formatCode>General</c:formatCode>
                <c:ptCount val="3"/>
                <c:pt idx="0">
                  <c:v>55</c:v>
                </c:pt>
                <c:pt idx="1">
                  <c:v>35</c:v>
                </c:pt>
                <c:pt idx="2">
                  <c:v>50</c:v>
                </c:pt>
              </c:numCache>
            </c:numRef>
          </c:yVal>
          <c:bubbleSize>
            <c:numRef>
              <c:f>Sheet1!$C$8:$C$10</c:f>
              <c:numCache>
                <c:formatCode>General</c:formatCode>
                <c:ptCount val="3"/>
                <c:pt idx="0">
                  <c:v>20</c:v>
                </c:pt>
                <c:pt idx="1">
                  <c:v>12</c:v>
                </c:pt>
                <c:pt idx="2">
                  <c:v>35</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crossAx val="-2115723560"/>
        <c:crosses val="autoZero"/>
        <c:crossBetween val="midCat"/>
      </c:valAx>
      <c:valAx>
        <c:axId val="-2115723560"/>
        <c:scaling>
          <c:orientation val="minMax"/>
        </c:scaling>
        <c:delete val="0"/>
        <c:axPos val="l"/>
        <c:majorGridlines/>
        <c:numFmt formatCode="General" sourceLinked="1"/>
        <c:majorTickMark val="out"/>
        <c:minorTickMark val="none"/>
        <c:tickLblPos val="nextTo"/>
        <c:crossAx val="-2115720072"/>
        <c:crosses val="autoZero"/>
        <c:crossBetween val="midCat"/>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stockChart>
        <c:ser>
          <c:idx val="0"/>
          <c:order val="0"/>
          <c:tx>
            <c:strRef>
              <c:f>Sheet1!$B$1</c:f>
              <c:strCache>
                <c:ptCount val="1"/>
                <c:pt idx="0">
                  <c:v>Open</c:v>
                </c:pt>
              </c:strCache>
            </c:strRef>
          </c:tx>
          <c:cat>
            <c:strRef>
              <c:f>Sheet1!$A$2:$A$6</c:f>
              <c:strCache>
                <c:ptCount val="5"/>
                <c:pt idx="0">
                  <c:v>Day 1</c:v>
                </c:pt>
                <c:pt idx="1">
                  <c:v>Day 2</c:v>
                </c:pt>
                <c:pt idx="2">
                  <c:v>Day 3</c:v>
                </c:pt>
                <c:pt idx="3">
                  <c:v>Day 4</c:v>
                </c:pt>
                <c:pt idx="4">
                  <c:v>Day 5</c:v>
                </c:pt>
              </c:strCache>
            </c:strRef>
          </c:cat>
          <c:val>
            <c:numRef>
              <c:f>Sheet1!$B$2:$B$6</c:f>
              <c:numCache>
                <c:formatCode>General</c:formatCode>
                <c:ptCount val="5"/>
                <c:pt idx="0">
                  <c:v>100</c:v>
                </c:pt>
                <c:pt idx="1">
                  <c:v>105</c:v>
                </c:pt>
                <c:pt idx="2">
                  <c:v>98</c:v>
                </c:pt>
                <c:pt idx="3">
                  <c:v>110</c:v>
                </c:pt>
                <c:pt idx="4">
                  <c:v>108</c:v>
                </c:pt>
              </c:numCache>
            </c:numRef>
          </c:val>
        </c:ser>
        <c:ser>
          <c:idx val="1"/>
          <c:order val="1"/>
          <c:tx>
            <c:strRef>
              <c:f>Sheet1!$C$1</c:f>
              <c:strCache>
                <c:ptCount val="1"/>
                <c:pt idx="0">
                  <c:v>High</c:v>
                </c:pt>
              </c:strCache>
            </c:strRef>
          </c:tx>
          <c:val>
            <c:numRef>
              <c:f>Sheet1!$C$2:$C$6</c:f>
              <c:numCache>
                <c:formatCode>General</c:formatCode>
                <c:ptCount val="5"/>
                <c:pt idx="0">
                  <c:v>115</c:v>
                </c:pt>
                <c:pt idx="1">
                  <c:v>118</c:v>
                </c:pt>
                <c:pt idx="2">
                  <c:v>112</c:v>
                </c:pt>
                <c:pt idx="3">
                  <c:v>120</c:v>
                </c:pt>
                <c:pt idx="4">
                  <c:v>122</c:v>
                </c:pt>
              </c:numCache>
            </c:numRef>
          </c:val>
        </c:ser>
        <c:ser>
          <c:idx val="2"/>
          <c:order val="2"/>
          <c:tx>
            <c:strRef>
              <c:f>Sheet1!$D$1</c:f>
              <c:strCache>
                <c:ptCount val="1"/>
                <c:pt idx="0">
                  <c:v>Low</c:v>
                </c:pt>
              </c:strCache>
            </c:strRef>
          </c:tx>
          <c:val>
            <c:numRef>
              <c:f>Sheet1!$D$2:$D$6</c:f>
              <c:numCache>
                <c:formatCode>General</c:formatCode>
                <c:ptCount val="5"/>
                <c:pt idx="0">
                  <c:v>95</c:v>
                </c:pt>
                <c:pt idx="1">
                  <c:v>100</c:v>
                </c:pt>
                <c:pt idx="2">
                  <c:v>90</c:v>
                </c:pt>
                <c:pt idx="3">
                  <c:v>105</c:v>
                </c:pt>
                <c:pt idx="4">
                  <c:v>102</c:v>
                </c:pt>
              </c:numCache>
            </c:numRef>
          </c:val>
        </c:ser>
        <c:ser>
          <c:idx val="3"/>
          <c:order val="3"/>
          <c:tx>
            <c:strRef>
              <c:f>Sheet1!$E$1</c:f>
              <c:strCache>
                <c:ptCount val="1"/>
                <c:pt idx="0">
                  <c:v>Close</c:v>
                </c:pt>
              </c:strCache>
            </c:strRef>
          </c:tx>
          <c:val>
            <c:numRef>
              <c:f>Sheet1!$E$2:$E$6</c:f>
              <c:numCache>
                <c:formatCode>General</c:formatCode>
                <c:ptCount val="5"/>
                <c:pt idx="0">
                  <c:v>108</c:v>
                </c:pt>
                <c:pt idx="1">
                  <c:v>102</c:v>
                </c:pt>
                <c:pt idx="2">
                  <c:v>107</c:v>
                </c:pt>
                <c:pt idx="3">
                  <c:v>115</c:v>
                </c:pt>
                <c:pt idx="4">
                  <c:v>118</c:v>
                </c:pt>
              </c:numCache>
            </c:numRef>
          </c:val>
        </c:ser>
        <c:axId val="10000001"/>
        <c:axId val="10000002"/>
      </c:stockChart>
      <c:catAx>
        <c:axId val="10000001"/>
        <c:scaling>
          <c:orientation val="minMax"/>
        </c:scaling>
        <c:delete val="0"/>
        <c:axPos val="b"/>
        <c:crossAx val="10000002"/>
      </c:catAx>
      <c:valAx>
        <c:axId val="10000002"/>
        <c:scaling>
          <c:orientation val="minMax"/>
        </c:scaling>
        <c:delete val="0"/>
        <c:axPos val="l"/>
        <c:crossAx val="10000001"/>
        <c:majorGridlines/>
      </c:valAx>
    </c:plotArea>
    <c:dispBlanksAs val="gap"/>
    <c:legend>
      <c:legendPos val="r"/>
      <c:overlay val="0"/>
    </c:legend>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S1</c:v>
                </c:pt>
              </c:strCache>
            </c:strRef>
          </c:tx>
          <c:cat>
            <c:strRef>
              <c:f>Sheet1!$A$2:$A$4</c:f>
              <c:strCache>
                <c:ptCount val="3"/>
                <c:pt idx="0">
                  <c:v>A</c:v>
                </c:pt>
                <c:pt idx="1">
                  <c:v>B</c:v>
                </c:pt>
                <c:pt idx="2">
                  <c:v>C</c:v>
                </c:pt>
              </c:strCache>
            </c:strRef>
          </c:cat>
          <c:val>
            <c:numRef>
              <c:f>Sheet1!$B$2:$B$4</c:f>
              <c:numCache>
                <c:formatCode>General</c:formatCode>
                <c:ptCount val="3"/>
                <c:pt idx="0">
                  <c:v>30</c:v>
                </c:pt>
                <c:pt idx="1">
                  <c:v>50</c:v>
                </c:pt>
                <c:pt idx="2">
                  <c:v>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S1</c:v>
                </c:pt>
              </c:strCache>
            </c:strRef>
          </c:tx>
          <c:marker>
            <c:symbol val="none"/>
          </c:marker>
          <c:cat>
            <c:strRef>
              <c:f>Sheet1!$A$2:$A$5</c:f>
              <c:strCache>
                <c:ptCount val="4"/>
                <c:pt idx="0">
                  <c:v>A</c:v>
                </c:pt>
                <c:pt idx="1">
                  <c:v>B</c:v>
                </c:pt>
                <c:pt idx="2">
                  <c:v>C</c:v>
                </c:pt>
                <c:pt idx="3">
                  <c:v>D</c:v>
                </c:pt>
              </c:strCache>
            </c:strRef>
          </c:cat>
          <c:val>
            <c:numRef>
              <c:f>Sheet1!$B$2:$B$5</c:f>
              <c:numCache>
                <c:formatCode>General</c:formatCode>
                <c:ptCount val="4"/>
                <c:pt idx="0">
                  <c:v>10</c:v>
                </c:pt>
                <c:pt idx="1">
                  <c:v>30</c:v>
                </c:pt>
                <c:pt idx="2">
                  <c:v>20</c:v>
                </c:pt>
                <c:pt idx="3">
                  <c:v>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S1</c:v>
                </c:pt>
              </c:strCache>
            </c:strRef>
          </c:tx>
          <c:cat>
            <c:strRef>
              <c:f>Sheet1!$A$2:$A$4</c:f>
              <c:strCache>
                <c:ptCount val="3"/>
                <c:pt idx="0">
                  <c:v>X</c:v>
                </c:pt>
                <c:pt idx="1">
                  <c:v>Y</c:v>
                </c:pt>
                <c:pt idx="2">
                  <c:v>Z</c:v>
                </c:pt>
              </c:strCache>
            </c:strRef>
          </c:cat>
          <c:val>
            <c:numRef>
              <c:f>Sheet1!$B$2:$B$4</c:f>
              <c:numCache>
                <c:formatCode>General</c:formatCode>
                <c:ptCount val="3"/>
                <c:pt idx="0">
                  <c:v>40</c:v>
                </c:pt>
                <c:pt idx="1">
                  <c:v>35</c:v>
                </c:pt>
                <c:pt idx="2">
                  <c:v>25</c:v>
                </c:pt>
              </c:numCache>
            </c:numRef>
          </c:val>
        </c:ser>
      </c:pieChart>
    </c:plotArea>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S1</c:v>
                </c:pt>
              </c:strCache>
            </c:strRef>
          </c:tx>
          <c:cat>
            <c:strRef>
              <c:f>Sheet1!$A$2:$A$4</c:f>
              <c:strCache>
                <c:ptCount val="3"/>
                <c:pt idx="0">
                  <c:v>P</c:v>
                </c:pt>
                <c:pt idx="1">
                  <c:v>Q</c:v>
                </c:pt>
                <c:pt idx="2">
                  <c:v>R</c:v>
                </c:pt>
              </c:strCache>
            </c:strRef>
          </c:cat>
          <c:val>
            <c:numRef>
              <c:f>Sheet1!$B$2:$B$4</c:f>
              <c:numCache>
                <c:formatCode>General</c:formatCode>
                <c:ptCount val="3"/>
                <c:pt idx="0">
                  <c:v>25</c:v>
                </c:pt>
                <c:pt idx="1">
                  <c:v>40</c:v>
                </c:pt>
                <c:pt idx="2">
                  <c:v>35</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S1</c:v>
                </c:pt>
              </c:strCache>
            </c:strRef>
          </c:tx>
          <c:spPr>
            <a:ln w="47625">
              <a:noFill/>
            </a:ln>
          </c:spPr>
          <c:xVal>
            <c:numRef>
              <c:f>Sheet1!$A$2:$A$5</c:f>
              <c:numCache>
                <c:formatCode>General</c:formatCode>
                <c:ptCount val="4"/>
                <c:pt idx="0">
                  <c:v>5</c:v>
                </c:pt>
                <c:pt idx="1">
                  <c:v>15</c:v>
                </c:pt>
                <c:pt idx="2">
                  <c:v>25</c:v>
                </c:pt>
                <c:pt idx="3">
                  <c:v>35</c:v>
                </c:pt>
              </c:numCache>
            </c:numRef>
          </c:xVal>
          <c:yVal>
            <c:numRef>
              <c:f>Sheet1!$B$2:$B$5</c:f>
              <c:numCache>
                <c:formatCode>General</c:formatCode>
                <c:ptCount val="4"/>
                <c:pt idx="0">
                  <c:v>10</c:v>
                </c:pt>
                <c:pt idx="1">
                  <c:v>30</c:v>
                </c:pt>
                <c:pt idx="2">
                  <c:v>20</c:v>
                </c:pt>
                <c:pt idx="3">
                  <c:v>40</c:v>
                </c:pt>
              </c:numCache>
            </c:numRef>
          </c:yVal>
          <c:smooth val="0"/>
        </c:ser>
        <c:axId val="-2128940872"/>
        <c:axId val="-2129643912"/>
      </c:scatterChart>
      <c:valAx>
        <c:axId val="-2128940872"/>
        <c:scaling>
          <c:orientation val="minMax"/>
        </c:scaling>
        <c:delete val="0"/>
        <c:axPos val="b"/>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crossAx val="-2128940872"/>
        <c:crosses val="autoZero"/>
        <c:crossBetween val="midCat"/>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S1</c:v>
                </c:pt>
              </c:strCache>
            </c:strRef>
          </c:tx>
          <c:cat>
            <c:strRef>
              <c:f>Sheet1!$A$2:$A$4</c:f>
              <c:strCache>
                <c:ptCount val="3"/>
                <c:pt idx="0">
                  <c:v>A</c:v>
                </c:pt>
                <c:pt idx="1">
                  <c:v>B</c:v>
                </c:pt>
                <c:pt idx="2">
                  <c:v>C</c:v>
                </c:pt>
              </c:strCache>
            </c:strRef>
          </c:cat>
          <c:val>
            <c:numRef>
              <c:f>Sheet1!$B$2:$B$4</c:f>
              <c:numCache>
                <c:formatCode>General</c:formatCode>
                <c:ptCount val="3"/>
                <c:pt idx="0">
                  <c:v>50</c:v>
                </c:pt>
                <c:pt idx="1">
                  <c:v>30</c:v>
                </c:pt>
                <c:pt idx="2">
                  <c:v>20</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Sales</c:v>
                </c:pt>
              </c:strCache>
            </c:strRef>
          </c:tx>
          <c:marker>
            <c:symbol val="none"/>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20</c:v>
                </c:pt>
                <c:pt idx="1">
                  <c:v>35</c:v>
                </c:pt>
                <c:pt idx="2">
                  <c:v>28</c:v>
                </c:pt>
                <c:pt idx="3">
                  <c:v>45</c:v>
                </c:pt>
                <c:pt idx="4">
                  <c:v>52</c:v>
                </c:pt>
                <c:pt idx="5">
                  <c:v>60</c:v>
                </c:pt>
              </c:numCache>
            </c:numRef>
          </c:val>
          <c:smooth val="0"/>
          <c:trendline>
            <c:trendlineType val="linear"/>
            <c:spPr>
              <a:ln w="12700">
                <a:solidFill>
                  <a:srgbClr val="FF0000"/>
                </a:solidFill>
                <a:prstDash val="dash"/>
              </a:ln>
            </c:spPr>
          </c:trendline>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Measurement</c:v>
                </c:pt>
              </c:strCache>
            </c:strRef>
          </c:tx>
          <c:cat>
            <c:strRef>
              <c:f>Sheet1!$A$2:$A$5</c:f>
              <c:strCache>
                <c:ptCount val="4"/>
                <c:pt idx="0">
                  <c:v>Group A</c:v>
                </c:pt>
                <c:pt idx="1">
                  <c:v>Group B</c:v>
                </c:pt>
                <c:pt idx="2">
                  <c:v>Group C</c:v>
                </c:pt>
                <c:pt idx="3">
                  <c:v>Group D</c:v>
                </c:pt>
              </c:strCache>
            </c:strRef>
          </c:cat>
          <c:val>
            <c:numRef>
              <c:f>Sheet1!$B$2:$B$5</c:f>
              <c:numCache>
                <c:formatCode>General</c:formatCode>
                <c:ptCount val="4"/>
                <c:pt idx="0">
                  <c:v>85</c:v>
                </c:pt>
                <c:pt idx="1">
                  <c:v>92</c:v>
                </c:pt>
                <c:pt idx="2">
                  <c:v>78</c:v>
                </c:pt>
                <c:pt idx="3">
                  <c:v>95</c:v>
                </c:pt>
              </c:numCache>
            </c:numRef>
          </c:val>
          <c:errBars>
            <c:errDir val="y"/>
            <c:errBarType val="both"/>
            <c:errValType val="fixedVal"/>
            <c:val val="8"/>
          </c:errBars>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cat>
            <c:strRef>
              <c:f>Sheet1!$A$2:$A$5</c:f>
              <c:strCache>
                <c:ptCount val="4"/>
                <c:pt idx="0">
                  <c:v>Q1</c:v>
                </c:pt>
                <c:pt idx="1">
                  <c:v>Q2</c:v>
                </c:pt>
                <c:pt idx="2">
                  <c:v>Q3</c:v>
                </c:pt>
                <c:pt idx="3">
                  <c:v>Q4</c:v>
                </c:pt>
              </c:strCache>
            </c:strRef>
          </c:cat>
          <c:val>
            <c:numRef>
              <c:f>Sheet1!$B$2:$B$5</c:f>
              <c:numCache>
                <c:formatCode>General</c:formatCode>
                <c:ptCount val="4"/>
                <c:pt idx="0">
                  <c:v>300</c:v>
                </c:pt>
                <c:pt idx="1">
                  <c:v>350</c:v>
                </c:pt>
                <c:pt idx="2">
                  <c:v>400</c:v>
                </c:pt>
                <c:pt idx="3">
                  <c:v>450</c:v>
                </c:pt>
              </c:numCache>
            </c:numRef>
          </c:val>
        </c:ser>
        <c:axId val="-2068027336"/>
        <c:axId val="-2113994440"/>
      </c:barChart>
      <c:lineChart>
        <c:grouping val="standard"/>
        <c:ser>
          <c:idx val="1"/>
          <c:order val="1"/>
          <c:tx>
            <c:strRef>
              <c:f>Sheet1!$C$1</c:f>
              <c:strCache>
                <c:ptCount val="1"/>
                <c:pt idx="0">
                  <c:v>Profit</c:v>
                </c:pt>
              </c:strCache>
            </c:strRef>
          </c:tx>
          <c:spPr>
            <a:ln w="25400">
              <a:solidFill>
                <a:srgbClr val="FF0000"/>
              </a:solidFill>
            </a:ln>
          </c:spPr>
          <c:cat>
            <c:strRef>
              <c:f>Sheet1!$A$2:$A$5</c:f>
              <c:strCache>
                <c:ptCount val="4"/>
                <c:pt idx="0">
                  <c:v>Q1</c:v>
                </c:pt>
                <c:pt idx="1">
                  <c:v>Q2</c:v>
                </c:pt>
                <c:pt idx="2">
                  <c:v>Q3</c:v>
                </c:pt>
                <c:pt idx="3">
                  <c:v>Q4</c:v>
                </c:pt>
              </c:strCache>
            </c:strRef>
          </c:cat>
          <c:val>
            <c:numRef>
              <c:f>Sheet1!$C$2:$C$5</c:f>
              <c:numCache>
                <c:formatCode>General</c:formatCode>
                <c:ptCount val="4"/>
                <c:pt idx="0">
                  <c:v>80</c:v>
                </c:pt>
                <c:pt idx="1">
                  <c:v>120</c:v>
                </c:pt>
                <c:pt idx="2">
                  <c:v>150</c:v>
                </c:pt>
                <c:pt idx="3">
                  <c:v>200</c:v>
                </c:pt>
              </c:numCache>
            </c:numRef>
          </c:val>
        </c:ser>
        <c:axId val="-2068027336"/>
        <c:axId val="-2113994440"/>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view3D>
      <c:rotX val="15"/>
      <c:rotY val="20"/>
      <c:depthPercent val="100"/>
      <c:rAngAx val="1"/>
      <c:perspective val="30"/>
    </c:view3D>
    <c:autoTitleDeleted val="0"/>
    <c:plotArea>
      <c:surfaceChart>
        <c:wireframe val="0"/>
        <c:ser>
          <c:idx val="0"/>
          <c:order val="0"/>
          <c:tx>
            <c:strRef>
              <c:f>Sheet1!$B$1</c:f>
              <c:strCache>
                <c:ptCount val="1"/>
                <c:pt idx="0">
                  <c:v>Row 1</c:v>
                </c:pt>
              </c:strCache>
            </c:strRef>
          </c:tx>
          <c:cat>
            <c:strRef>
              <c:f>Sheet1!$A$2:$A$6</c:f>
              <c:strCache>
                <c:ptCount val="5"/>
                <c:pt idx="0">
                  <c:v>X1</c:v>
                </c:pt>
                <c:pt idx="1">
                  <c:v>X2</c:v>
                </c:pt>
                <c:pt idx="2">
                  <c:v>X3</c:v>
                </c:pt>
                <c:pt idx="3">
                  <c:v>X4</c:v>
                </c:pt>
                <c:pt idx="4">
                  <c:v>X5</c:v>
                </c:pt>
              </c:strCache>
            </c:strRef>
          </c:cat>
          <c:val>
            <c:numRef>
              <c:f>Sheet1!$B$2:$B$6</c:f>
              <c:numCache>
                <c:formatCode>General</c:formatCode>
                <c:ptCount val="5"/>
                <c:pt idx="0">
                  <c:v>10</c:v>
                </c:pt>
                <c:pt idx="1">
                  <c:v>25</c:v>
                </c:pt>
                <c:pt idx="2">
                  <c:v>40</c:v>
                </c:pt>
                <c:pt idx="3">
                  <c:v>30</c:v>
                </c:pt>
                <c:pt idx="4">
                  <c:v>15</c:v>
                </c:pt>
              </c:numCache>
            </c:numRef>
          </c:val>
        </c:ser>
        <c:ser>
          <c:idx val="1"/>
          <c:order val="1"/>
          <c:tx>
            <c:strRef>
              <c:f>Sheet1!$C$1</c:f>
              <c:strCache>
                <c:ptCount val="1"/>
                <c:pt idx="0">
                  <c:v>Row 2</c:v>
                </c:pt>
              </c:strCache>
            </c:strRef>
          </c:tx>
          <c:val>
            <c:numRef>
              <c:f>Sheet1!$C$2:$C$6</c:f>
              <c:numCache>
                <c:formatCode>General</c:formatCode>
                <c:ptCount val="5"/>
                <c:pt idx="0">
                  <c:v>20</c:v>
                </c:pt>
                <c:pt idx="1">
                  <c:v>35</c:v>
                </c:pt>
                <c:pt idx="2">
                  <c:v>50</c:v>
                </c:pt>
                <c:pt idx="3">
                  <c:v>45</c:v>
                </c:pt>
                <c:pt idx="4">
                  <c:v>30</c:v>
                </c:pt>
              </c:numCache>
            </c:numRef>
          </c:val>
        </c:ser>
        <c:ser>
          <c:idx val="2"/>
          <c:order val="2"/>
          <c:tx>
            <c:strRef>
              <c:f>Sheet1!$D$1</c:f>
              <c:strCache>
                <c:ptCount val="1"/>
                <c:pt idx="0">
                  <c:v>Row 3</c:v>
                </c:pt>
              </c:strCache>
            </c:strRef>
          </c:tx>
          <c:val>
            <c:numRef>
              <c:f>Sheet1!$D$2:$D$6</c:f>
              <c:numCache>
                <c:formatCode>General</c:formatCode>
                <c:ptCount val="5"/>
                <c:pt idx="0">
                  <c:v>35</c:v>
                </c:pt>
                <c:pt idx="1">
                  <c:v>50</c:v>
                </c:pt>
                <c:pt idx="2">
                  <c:v>60</c:v>
                </c:pt>
                <c:pt idx="3">
                  <c:v>55</c:v>
                </c:pt>
                <c:pt idx="4">
                  <c:v>40</c:v>
                </c:pt>
              </c:numCache>
            </c:numRef>
          </c:val>
        </c:ser>
        <c:ser>
          <c:idx val="3"/>
          <c:order val="3"/>
          <c:tx>
            <c:strRef>
              <c:f>Sheet1!$E$1</c:f>
              <c:strCache>
                <c:ptCount val="1"/>
                <c:pt idx="0">
                  <c:v>Row 4</c:v>
                </c:pt>
              </c:strCache>
            </c:strRef>
          </c:tx>
          <c:val>
            <c:numRef>
              <c:f>Sheet1!$E$2:$E$6</c:f>
              <c:numCache>
                <c:formatCode>General</c:formatCode>
                <c:ptCount val="5"/>
                <c:pt idx="0">
                  <c:v>25</c:v>
                </c:pt>
                <c:pt idx="1">
                  <c:v>40</c:v>
                </c:pt>
                <c:pt idx="2">
                  <c:v>45</c:v>
                </c:pt>
                <c:pt idx="3">
                  <c:v>50</c:v>
                </c:pt>
                <c:pt idx="4">
                  <c:v>35</c:v>
                </c:pt>
              </c:numCache>
            </c:numRef>
          </c:val>
        </c:ser>
        <c:bandFmts/>
        <c:axId val="111111"/>
        <c:axId val="222222"/>
        <c:axId val="333333"/>
      </c:surfaceChart>
      <c:catAx>
        <c:axId val="111111"/>
        <c:scaling>
          <c:orientation val="minMax"/>
        </c:scaling>
        <c:delete val="0"/>
        <c:axPos val="b"/>
        <c:crossAx val="222222"/>
      </c:catAx>
      <c:valAx>
        <c:axId val="222222"/>
        <c:scaling>
          <c:orientation val="minMax"/>
        </c:scaling>
        <c:delete val="0"/>
        <c:axPos val="l"/>
        <c:crossAx val="111111"/>
        <c:majorGridlines/>
      </c:valAx>
      <c:serAx>
        <c:axId val="333333"/>
        <c:scaling>
          <c:orientation val="minMax"/>
        </c:scaling>
        <c:delete val="0"/>
        <c:axPos val="b"/>
        <c:crossAx val="222222"/>
      </c:serAx>
    </c:plotArea>
    <c:dispBlanksAs val="gap"/>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0"/>
    <c:plotArea>
      <c:ofPieChart>
        <c:ofPieType val="pie"/>
        <c:varyColors val="1"/>
        <c:ser>
          <c:idx val="0"/>
          <c:order val="0"/>
          <c:tx>
            <c:strRef>
              <c:f>Sheet1!$B$1</c:f>
              <c:strCache>
                <c:ptCount val="1"/>
                <c:pt idx="0">
                  <c:v>Sales</c:v>
                </c:pt>
              </c:strCache>
            </c:strRef>
          </c:tx>
          <c:cat>
            <c:strRef>
              <c:f>Sheet1!$A$2:$A$6</c:f>
              <c:strCache>
                <c:ptCount val="5"/>
                <c:pt idx="0">
                  <c:v>Product A</c:v>
                </c:pt>
                <c:pt idx="1">
                  <c:v>Product B</c:v>
                </c:pt>
                <c:pt idx="2">
                  <c:v>Product C</c:v>
                </c:pt>
                <c:pt idx="3">
                  <c:v>Product D</c:v>
                </c:pt>
                <c:pt idx="4">
                  <c:v>Product E</c:v>
                </c:pt>
              </c:strCache>
            </c:strRef>
          </c:cat>
          <c:val>
            <c:numRef>
              <c:f>Sheet1!$B$2:$B$6</c:f>
              <c:numCache>
                <c:formatCode>General</c:formatCode>
                <c:ptCount val="5"/>
                <c:pt idx="0">
                  <c:v>40</c:v>
                </c:pt>
                <c:pt idx="1">
                  <c:v>25</c:v>
                </c:pt>
                <c:pt idx="2">
                  <c:v>15</c:v>
                </c:pt>
                <c:pt idx="3">
                  <c:v>12</c:v>
                </c:pt>
                <c:pt idx="4">
                  <c:v>8</c:v>
                </c:pt>
              </c:numCache>
            </c:numRef>
          </c:val>
        </c:ser>
        <c:gapWidth val="150"/>
        <c:splitPos val="2"/>
      </c:ofPieChart>
    </c:plotArea>
    <c:dispBlanksAs val="gap"/>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view3D>
      <c:rotX val="20"/>
      <c:rotY val="30"/>
      <c:depthPercent val="150"/>
      <c:rAngAx val="1"/>
      <c:perspective val="40"/>
    </c:view3D>
    <c:autoTitleDeleted val="0"/>
    <c:plotArea>
      <c:bar3DChart>
        <c:barDir val="col"/>
        <c:grouping val="clustered"/>
        <c:ser>
          <c:idx val="0"/>
          <c:order val="0"/>
          <c:tx>
            <c:strRef>
              <c:f>Sheet1!$B$1</c:f>
              <c:strCache>
                <c:ptCount val="1"/>
                <c:pt idx="0">
                  <c:v>Revenue</c:v>
                </c:pt>
              </c:strCache>
            </c:strRef>
          </c:tx>
          <c:cat>
            <c:strRef>
              <c:f>Sheet1!$A$2:$A$5</c:f>
              <c:strCache>
                <c:ptCount val="4"/>
                <c:pt idx="0">
                  <c:v>East</c:v>
                </c:pt>
                <c:pt idx="1">
                  <c:v>West</c:v>
                </c:pt>
                <c:pt idx="2">
                  <c:v>North</c:v>
                </c:pt>
                <c:pt idx="3">
                  <c:v>South</c:v>
                </c:pt>
              </c:strCache>
            </c:strRef>
          </c:cat>
          <c:val>
            <c:numRef>
              <c:f>Sheet1!$B$2:$B$5</c:f>
              <c:numCache>
                <c:formatCode>General</c:formatCode>
                <c:ptCount val="4"/>
                <c:pt idx="0">
                  <c:v>320</c:v>
                </c:pt>
                <c:pt idx="1">
                  <c:v>280</c:v>
                </c:pt>
                <c:pt idx="2">
                  <c:v>190</c:v>
                </c:pt>
                <c:pt idx="3">
                  <c:v>250</c:v>
                </c:pt>
              </c:numCache>
            </c:numRef>
          </c:val>
        </c:ser>
        <c:ser>
          <c:idx val="1"/>
          <c:order val="1"/>
          <c:tx>
            <c:strRef>
              <c:f>Sheet1!$C$1</c:f>
              <c:strCache>
                <c:ptCount val="1"/>
                <c:pt idx="0">
                  <c:v>Cost</c:v>
                </c:pt>
              </c:strCache>
            </c:strRef>
          </c:tx>
          <c:cat>
            <c:strRef>
              <c:f>Sheet1!$A$2:$A$5</c:f>
              <c:strCache>
                <c:ptCount val="4"/>
                <c:pt idx="0">
                  <c:v>East</c:v>
                </c:pt>
                <c:pt idx="1">
                  <c:v>West</c:v>
                </c:pt>
                <c:pt idx="2">
                  <c:v>North</c:v>
                </c:pt>
                <c:pt idx="3">
                  <c:v>South</c:v>
                </c:pt>
              </c:strCache>
            </c:strRef>
          </c:cat>
          <c:val>
            <c:numRef>
              <c:f>Sheet1!$C$2:$C$5</c:f>
              <c:numCache>
                <c:formatCode>General</c:formatCode>
                <c:ptCount val="4"/>
                <c:pt idx="0">
                  <c:v>200</c:v>
                </c:pt>
                <c:pt idx="1">
                  <c:v>180</c:v>
                </c:pt>
                <c:pt idx="2">
                  <c:v>140</c:v>
                </c:pt>
                <c:pt idx="3">
                  <c:v>160</c:v>
                </c:pt>
              </c:numCache>
            </c:numRef>
          </c:val>
        </c:ser>
        <c:axId val="-2068027336"/>
        <c:axId val="-2113994440"/>
      </c:bar3D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percentStacked"/>
        <c:ser>
          <c:idx val="0"/>
          <c:order val="0"/>
          <c:tx>
            <c:strRef>
              <c:f>Sheet1!$B$1</c:f>
              <c:strCache>
                <c:ptCount val="1"/>
                <c:pt idx="0">
                  <c:v>Male</c:v>
                </c:pt>
              </c:strCache>
            </c:strRef>
          </c:tx>
          <c:cat>
            <c:strRef>
              <c:f>Sheet1!$A$2:$A$2</c:f>
              <c:strCache>
                <c:ptCount val="1"/>
                <c:pt idx="0">
                  <c:v>Gender</c:v>
                </c:pt>
              </c:strCache>
            </c:strRef>
          </c:cat>
          <c:val>
            <c:numRef>
              <c:f>Sheet1!$B$2:$B$2</c:f>
              <c:numCache>
                <c:formatCode>General</c:formatCode>
                <c:ptCount val="1"/>
                <c:pt idx="0">
                  <c:v>58.1</c:v>
                </c:pt>
              </c:numCache>
            </c:numRef>
          </c:val>
        </c:ser>
        <c:ser>
          <c:idx val="1"/>
          <c:order val="1"/>
          <c:tx>
            <c:strRef>
              <c:f>Sheet1!$C$1</c:f>
              <c:strCache>
                <c:ptCount val="1"/>
                <c:pt idx="0">
                  <c:v>Female</c:v>
                </c:pt>
              </c:strCache>
            </c:strRef>
          </c:tx>
          <c:cat>
            <c:strRef>
              <c:f>Sheet1!$A$2:$A$2</c:f>
              <c:strCache>
                <c:ptCount val="1"/>
                <c:pt idx="0">
                  <c:v>Gender</c:v>
                </c:pt>
              </c:strCache>
            </c:strRef>
          </c:cat>
          <c:val>
            <c:numRef>
              <c:f>Sheet1!$C$2:$C$2</c:f>
              <c:numCache>
                <c:formatCode>General</c:formatCode>
                <c:ptCount val="1"/>
                <c:pt idx="0">
                  <c:v>41.9</c:v>
                </c:pt>
              </c:numCache>
            </c:numRef>
          </c:val>
        </c:ser>
        <c:overlap val="10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Product A</c:v>
                </c:pt>
              </c:strCache>
            </c:strRef>
          </c:tx>
          <c:cat>
            <c:strRef>
              <c:f>Sheet1!$A$2:$A$5</c:f>
              <c:strCache>
                <c:ptCount val="4"/>
                <c:pt idx="0">
                  <c:v>Q1</c:v>
                </c:pt>
                <c:pt idx="1">
                  <c:v>Q2</c:v>
                </c:pt>
                <c:pt idx="2">
                  <c:v>Q3</c:v>
                </c:pt>
                <c:pt idx="3">
                  <c:v>Q4</c:v>
                </c:pt>
              </c:strCache>
            </c:strRef>
          </c:cat>
          <c:val>
            <c:numRef>
              <c:f>Sheet1!$B$2:$B$5</c:f>
              <c:numCache>
                <c:formatCode>General</c:formatCode>
                <c:ptCount val="4"/>
                <c:pt idx="0">
                  <c:v>100</c:v>
                </c:pt>
                <c:pt idx="1">
                  <c:v>120</c:v>
                </c:pt>
                <c:pt idx="2">
                  <c:v>90</c:v>
                </c:pt>
                <c:pt idx="3">
                  <c:v>150</c:v>
                </c:pt>
              </c:numCache>
            </c:numRef>
          </c:val>
        </c:ser>
        <c:ser>
          <c:idx val="1"/>
          <c:order val="1"/>
          <c:tx>
            <c:strRef>
              <c:f>Sheet1!$C$1</c:f>
              <c:strCache>
                <c:ptCount val="1"/>
                <c:pt idx="0">
                  <c:v>Product B</c:v>
                </c:pt>
              </c:strCache>
            </c:strRef>
          </c:tx>
          <c:cat>
            <c:strRef>
              <c:f>Sheet1!$A$2:$A$5</c:f>
              <c:strCache>
                <c:ptCount val="4"/>
                <c:pt idx="0">
                  <c:v>Q1</c:v>
                </c:pt>
                <c:pt idx="1">
                  <c:v>Q2</c:v>
                </c:pt>
                <c:pt idx="2">
                  <c:v>Q3</c:v>
                </c:pt>
                <c:pt idx="3">
                  <c:v>Q4</c:v>
                </c:pt>
              </c:strCache>
            </c:strRef>
          </c:cat>
          <c:val>
            <c:numRef>
              <c:f>Sheet1!$C$2:$C$5</c:f>
              <c:numCache>
                <c:formatCode>General</c:formatCode>
                <c:ptCount val="4"/>
                <c:pt idx="0">
                  <c:v>80</c:v>
                </c:pt>
                <c:pt idx="1">
                  <c:v>70</c:v>
                </c:pt>
                <c:pt idx="2">
                  <c:v>110</c:v>
                </c:pt>
                <c:pt idx="3">
                  <c:v>60</c:v>
                </c:pt>
              </c:numCache>
            </c:numRef>
          </c:val>
        </c:ser>
        <c:ser>
          <c:idx val="2"/>
          <c:order val="2"/>
          <c:tx>
            <c:strRef>
              <c:f>Sheet1!$D$1</c:f>
              <c:strCache>
                <c:ptCount val="1"/>
                <c:pt idx="0">
                  <c:v>Product C</c:v>
                </c:pt>
              </c:strCache>
            </c:strRef>
          </c:tx>
          <c:cat>
            <c:strRef>
              <c:f>Sheet1!$A$2:$A$5</c:f>
              <c:strCache>
                <c:ptCount val="4"/>
                <c:pt idx="0">
                  <c:v>Q1</c:v>
                </c:pt>
                <c:pt idx="1">
                  <c:v>Q2</c:v>
                </c:pt>
                <c:pt idx="2">
                  <c:v>Q3</c:v>
                </c:pt>
                <c:pt idx="3">
                  <c:v>Q4</c:v>
                </c:pt>
              </c:strCache>
            </c:strRef>
          </c:cat>
          <c:val>
            <c:numRef>
              <c:f>Sheet1!$D$2:$D$5</c:f>
              <c:numCache>
                <c:formatCode>General</c:formatCode>
                <c:ptCount val="4"/>
                <c:pt idx="0">
                  <c:v>50</c:v>
                </c:pt>
                <c:pt idx="1">
                  <c:v>40</c:v>
                </c:pt>
                <c:pt idx="2">
                  <c:v>30</c:v>
                </c:pt>
                <c:pt idx="3">
                  <c:v>80</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percentStacked"/>
        <c:ser>
          <c:idx val="0"/>
          <c:order val="0"/>
          <c:tx>
            <c:strRef>
              <c:f>Sheet1!$B$1</c:f>
              <c:strCache>
                <c:ptCount val="1"/>
                <c:pt idx="0">
                  <c:v>2024</c:v>
                </c:pt>
              </c:strCache>
            </c:strRef>
          </c:tx>
          <c:cat>
            <c:strRef>
              <c:f>Sheet1!$A$2:$A$4</c:f>
              <c:strCache>
                <c:ptCount val="3"/>
                <c:pt idx="0">
                  <c:v>East</c:v>
                </c:pt>
                <c:pt idx="1">
                  <c:v>West</c:v>
                </c:pt>
                <c:pt idx="2">
                  <c:v>North</c:v>
                </c:pt>
              </c:strCache>
            </c:strRef>
          </c:cat>
          <c:val>
            <c:numRef>
              <c:f>Sheet1!$B$2:$B$4</c:f>
              <c:numCache>
                <c:formatCode>General</c:formatCode>
                <c:ptCount val="3"/>
                <c:pt idx="0">
                  <c:v>300</c:v>
                </c:pt>
                <c:pt idx="1">
                  <c:v>200</c:v>
                </c:pt>
                <c:pt idx="2">
                  <c:v>150</c:v>
                </c:pt>
              </c:numCache>
            </c:numRef>
          </c:val>
        </c:ser>
        <c:ser>
          <c:idx val="1"/>
          <c:order val="1"/>
          <c:tx>
            <c:strRef>
              <c:f>Sheet1!$C$1</c:f>
              <c:strCache>
                <c:ptCount val="1"/>
                <c:pt idx="0">
                  <c:v>2025</c:v>
                </c:pt>
              </c:strCache>
            </c:strRef>
          </c:tx>
          <c:cat>
            <c:strRef>
              <c:f>Sheet1!$A$2:$A$4</c:f>
              <c:strCache>
                <c:ptCount val="3"/>
                <c:pt idx="0">
                  <c:v>East</c:v>
                </c:pt>
                <c:pt idx="1">
                  <c:v>West</c:v>
                </c:pt>
                <c:pt idx="2">
                  <c:v>North</c:v>
                </c:pt>
              </c:strCache>
            </c:strRef>
          </c:cat>
          <c:val>
            <c:numRef>
              <c:f>Sheet1!$C$2:$C$4</c:f>
              <c:numCache>
                <c:formatCode>General</c:formatCode>
                <c:ptCount val="3"/>
                <c:pt idx="0">
                  <c:v>250</c:v>
                </c:pt>
                <c:pt idx="1">
                  <c:v>350</c:v>
                </c:pt>
                <c:pt idx="2">
                  <c:v>200</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Ex1.xml><?xml version="1.0" encoding="utf-8"?>
<cx:chartSpace xmlns:cx="http://schemas.microsoft.com/office/drawing/2014/chartex" xmlns:a="http://schemas.openxmlformats.org/drawingml/2006/main" xmlns:r="http://schemas.openxmlformats.org/officeDocument/2006/relationships">
  <cx:chartData>
    <cx:data id="0">
      <cx:strDim type="cat">
        <cx:lvl ptCount="5">
          <cx:pt idx="0">Q1</cx:pt>
          <cx:pt idx="1">Q2</cx:pt>
          <cx:pt idx="2">Q3</cx:pt>
          <cx:pt idx="3">Q4</cx:pt>
          <cx:pt idx="4">Total</cx:pt>
        </cx:lvl>
      </cx:strDim>
      <cx:numDim type="val">
        <cx:lvl ptCount="5" formatCode="General">
          <cx:pt idx="0">100</cx:pt>
          <cx:pt idx="1">-20</cx:pt>
          <cx:pt idx="2">50</cx:pt>
          <cx:pt idx="3">-10</cx:pt>
          <cx:pt idx="4">120</cx:pt>
        </cx:lvl>
      </cx:numDim>
    </cx:data>
  </cx:chartData>
  <cx:chart>
    <cx:plotArea>
      <cx:plotAreaRegion>
        <cx:series layoutId="waterfall">
          <cx:dataId val="0"/>
          <cx:layoutPr>
            <cx:subtotals>
              <cx:idx val="4"/>
            </cx:subtotals>
          </cx:layoutPr>
        </cx:series>
      </cx:plotAreaRegion>
    </cx:plotArea>
  </cx:chart>
</cx:chartSpace>
</file>

<file path=ppt/charts/chartEx2.xml><?xml version="1.0" encoding="utf-8"?>
<cx:chartSpace xmlns:cx="http://schemas.microsoft.com/office/drawing/2014/chartex" xmlns:a="http://schemas.openxmlformats.org/drawingml/2006/main">
  <cx:chartData>
    <cx:data id="0">
      <cx:strDim type="cat">
        <cx:lvl ptCount="5">
          <cx:pt idx="0">Product A</cx:pt>
          <cx:pt idx="1">Product B</cx:pt>
          <cx:pt idx="2">Product C</cx:pt>
          <cx:pt idx="3">Product D</cx:pt>
          <cx:pt idx="4">Product E</cx:pt>
        </cx:lvl>
      </cx:strDim>
      <cx:numDim type="val">
        <cx:lvl ptCount="5">
          <cx:pt idx="0">50</cx:pt>
          <cx:pt idx="1">30</cx:pt>
          <cx:pt idx="2">20</cx:pt>
          <cx:pt idx="3">15</cx:pt>
          <cx:pt idx="4">10</cx:pt>
        </cx:lvl>
      </cx:numDim>
    </cx:data>
  </cx:chartData>
  <cx:chart>
    <cx:plotArea>
      <cx:plotAreaRegion>
        <cx:series layoutId="treemap">
          <cx:dataId val="0"/>
        </cx:series>
      </cx:plotAreaRegion>
    </cx:plotArea>
  </cx:chart>
</cx:chartSpace>
</file>

<file path=ppt/charts/chartEx3.xml><?xml version="1.0" encoding="utf-8"?>
<cx:chartSpace xmlns:cx="http://schemas.microsoft.com/office/drawing/2014/chartex" xmlns:a="http://schemas.openxmlformats.org/drawingml/2006/main">
  <cx:chartData>
    <cx:data id="0">
      <cx:strDim type="cat">
        <cx:lvl ptCount="4">
          <cx:pt idx="0">North</cx:pt>
          <cx:pt idx="1">South</cx:pt>
          <cx:pt idx="2">East</cx:pt>
          <cx:pt idx="3">West</cx:pt>
        </cx:lvl>
      </cx:strDim>
      <cx:numDim type="val">
        <cx:lvl ptCount="4">
          <cx:pt idx="0">40</cx:pt>
          <cx:pt idx="1">30</cx:pt>
          <cx:pt idx="2">20</cx:pt>
          <cx:pt idx="3">10</cx:pt>
        </cx:lvl>
      </cx:numDim>
    </cx:data>
  </cx:chartData>
  <cx:chart>
    <cx:plotArea>
      <cx:plotAreaRegion>
        <cx:series layoutId="sunburst">
          <cx:dataId val="0"/>
        </cx:series>
      </cx:plotAreaRegion>
    </cx:plotArea>
  </cx:chart>
</cx:chartSpace>
</file>

<file path=ppt/charts/chartEx4.xml><?xml version="1.0" encoding="utf-8"?>
<cx:chartSpace xmlns:cx="http://schemas.microsoft.com/office/drawing/2014/chartex" xmlns:a="http://schemas.openxmlformats.org/drawingml/2006/main">
  <cx:chartData>
    <cx:data id="0">
      <cx:strDim type="cat">
        <cx:lvl ptCount="5">
          <cx:pt idx="0">0-20</cx:pt>
          <cx:pt idx="1">20-40</cx:pt>
          <cx:pt idx="2">40-60</cx:pt>
          <cx:pt idx="3">60-80</cx:pt>
          <cx:pt idx="4">80-100</cx:pt>
        </cx:lvl>
      </cx:strDim>
      <cx:numDim type="val">
        <cx:lvl ptCount="5">
          <cx:pt idx="0">5</cx:pt>
          <cx:pt idx="1">15</cx:pt>
          <cx:pt idx="2">25</cx:pt>
          <cx:pt idx="3">12</cx:pt>
          <cx:pt idx="4">8</cx:pt>
        </cx:lvl>
      </cx:numDim>
    </cx:data>
  </cx:chartData>
  <cx:chart>
    <cx:plotArea>
      <cx:plotAreaRegion>
        <cx:series layoutId="clusteredColumn">
          <cx:dataId val="0"/>
        </cx:series>
      </cx:plotAreaRegion>
    </cx:plotArea>
  </cx:chart>
</cx:chartSpace>
</file>

<file path=ppt/charts/chartEx5.xml><?xml version="1.0" encoding="utf-8"?>
<cx:chartSpace xmlns:cx="http://schemas.microsoft.com/office/drawing/2014/chartex" xmlns:a="http://schemas.openxmlformats.org/drawingml/2006/main">
  <cx:chartData>
    <cx:data id="0">
      <cx:strDim type="cat">
        <cx:lvl ptCount="1">
          <cx:pt idx="0">Dataset</cx:pt>
        </cx:lvl>
      </cx:strDim>
      <cx:numDim type="val">
        <cx:lvl ptCount="10">
          <cx:pt idx="0">12</cx:pt>
          <cx:pt idx="1">15</cx:pt>
          <cx:pt idx="2">18</cx:pt>
          <cx:pt idx="3">22</cx:pt>
          <cx:pt idx="4">25</cx:pt>
          <cx:pt idx="5">28</cx:pt>
          <cx:pt idx="6">30</cx:pt>
          <cx:pt idx="7">35</cx:pt>
          <cx:pt idx="8">40</cx:pt>
          <cx:pt idx="9">45</cx:pt>
        </cx:lvl>
      </cx:numDim>
    </cx:data>
  </cx:chartData>
  <cx:chart>
    <cx:plotArea>
      <cx:plotAreaRegion>
        <cx:series layoutId="boxWhisker">
          <cx:dataId val="0"/>
        </cx:series>
      </cx:plotAreaRegion>
    </cx:plotArea>
  </cx:chart>
</cx:chartSpace>
</file>

<file path=ppt/charts/chartEx6.xml><?xml version="1.0" encoding="utf-8"?>
<cx:chartSpace xmlns:cx="http://schemas.microsoft.com/office/drawing/2014/chartex" xmlns:a="http://schemas.openxmlformats.org/drawingml/2006/main">
  <cx:chartData>
    <cx:data id="0">
      <cx:strDim type="cat">
        <cx:lvl ptCount="4">
          <cx:pt idx="0">Prospects</cx:pt>
          <cx:pt idx="1">Qualified</cx:pt>
          <cx:pt idx="2">Proposals</cx:pt>
          <cx:pt idx="3">Closed</cx:pt>
        </cx:lvl>
      </cx:strDim>
      <cx:numDim type="val">
        <cx:lvl ptCount="4">
          <cx:pt idx="0">1000</cx:pt>
          <cx:pt idx="1">600</cx:pt>
          <cx:pt idx="2">300</cx:pt>
          <cx:pt idx="3">100</cx:pt>
        </cx:lvl>
      </cx:numDim>
    </cx:data>
  </cx:chartData>
  <cx:chart>
    <cx:plotArea>
      <cx:plotAreaRegion>
        <cx:series layoutId="funnel">
          <cx:dataId val="0"/>
        </cx:series>
      </cx:plotAreaRegion>
    </cx:plotArea>
    <cx:legend pos="r"/>
  </cx:chart>
</cx:chartSpace>
</file>

<file path=ppt/comments/comment75.xml><?xml version="1.0" encoding="utf-8"?>
<p:cmLst xmlns:p="http://schemas.openxmlformats.org/presentationml/2006/main">
  <p:cm authorId="1" dt="2025-01-15T10:30:00.000" idx="1">
    <p:pos x="100" y="200"/>
    <p:text>This is a test comment on slide 74.</p:text>
  </p:cm>
  <p:cm authorId="1" dt="2025-01-15T11:00:00.000" idx="2">
    <p:pos x="300" y="400"/>
    <p:text>Second comment with review feedback.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speaker notes for slide 74.</a:t>
            </a:r>
          </a:p>
          <a:p>
            <a:r>
              <a:t>Second paragraph of notes with key points.</a:t>
            </a:r>
          </a:p>
          <a:p>
            <a:r>
              <a:t>Remember to mention the round-trip preservation.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defRPr sz="4400">
          <a:solidFill>
            <a:srgbClr val="FFFFFF"/>
          </a:solidFill>
        </a:defRPr>
      </a:lvl1pPr>
    </p:titleStyle>
    <p:bodyStyle>
      <a:lvl1pPr algn="l" marL="342900">
        <a:buChar char="•"/>
        <a:defRPr sz="2400">
          <a:solidFill>
            <a:srgbClr val="FFFFFF"/>
          </a:solidFill>
        </a:defRPr>
      </a:lvl1pPr>
      <a:lvl2pPr algn="l" marL="685800">
        <a:buChar char="–"/>
        <a:defRPr sz="2000">
          <a:solidFill>
            <a:srgbClr val="CCCCCC"/>
          </a:solidFill>
        </a:defRPr>
      </a:lvl2pPr>
    </p:bodyStyle>
    <p:otherStyle>
      <a:lvl1pPr>
        <a:defRPr sz="1800">
          <a:solidFill>
            <a:srgbClr val="999999"/>
          </a:solidFill>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click" TargetMode="External"/><Relationship Id="rId3" Type="http://schemas.openxmlformats.org/officeDocument/2006/relationships/hyperlink" Target="https://example.com/hover" TargetMode="External"/><Relationship Id="rId4" Type="http://schemas.openxmlformats.org/officeDocument/2006/relationships/hyperlink" Target="https://example.com/both-click" TargetMode="External"/><Relationship Id="rId5" Type="http://schemas.openxmlformats.org/officeDocument/2006/relationships/hyperlink" Target="https://example.com/both-hove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https://upload.wikimedia.org/wikipedia/commons/thumb/4/47/PNG_transparency_demonstration_1.png/280px-PNG_transparency_demonstration_1.png" TargetMode="External"/><Relationship Id="rId3" Type="http://schemas.openxmlformats.org/officeDocument/2006/relationships/image" Target="https://picsum.photos/id/237/200/30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shape-link"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chart" Target="../charts/chart17.xml"/><Relationship Id="rId6" Type="http://schemas.openxmlformats.org/officeDocument/2006/relationships/chart" Target="../charts/chart18.xml"/><Relationship Id="rId7" Type="http://schemas.openxmlformats.org/officeDocument/2006/relationships/chart" Target="../charts/char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6.xml"/><Relationship Id="rId3" Type="http://schemas.openxmlformats.org/officeDocument/2006/relationships/chart" Target="../charts/chart27.xml"/><Relationship Id="rId4" Type="http://schemas.openxmlformats.org/officeDocument/2006/relationships/chart" Target="../charts/chart2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comments" Target="../comments/comment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oleImage77.png"/><Relationship Id="rId3" Type="http://schemas.openxmlformats.org/officeDocument/2006/relationships/oleObject" Target="../embeddings/oleObject77.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posterFrame78.png"/><Relationship Id="rId3" Type="http://schemas.openxmlformats.org/officeDocument/2006/relationships/video" Target="../media/video78.mp4"/></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Wmf1" Type="http://schemas.openxmlformats.org/officeDocument/2006/relationships/image" Target="../media/image_wmf1.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Cx1" Type="http://schemas.microsoft.com/office/2014/relationships/chartEx" Target="../charts/chartEx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Cx2" Type="http://schemas.microsoft.com/office/2014/relationships/chartEx" Target="../charts/chartEx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Cx3" Type="http://schemas.microsoft.com/office/2014/relationships/chartEx" Target="../charts/chartEx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Cx4" Type="http://schemas.microsoft.com/office/2014/relationships/chartEx" Target="../charts/chartEx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Cx5" Type="http://schemas.microsoft.com/office/2014/relationships/chartEx" Target="../charts/chartEx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Cx6" Type="http://schemas.microsoft.com/office/2014/relationships/chartEx" Target="../charts/chartEx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 Vertical Alignment (top / center / bottom)</a:t>
            </a:r>
          </a:p>
        </p:txBody>
      </p:sp>
      <p:sp>
        <p:nvSpPr>
          <p:cNvPr id="3" name="TextBox 2"/>
          <p:cNvSpPr txBox="1"/>
          <p:nvPr/>
        </p:nvSpPr>
        <p:spPr>
          <a:xfrm>
            <a:off x="457200" y="1097280"/>
            <a:ext cx="2560320" cy="2286000"/>
          </a:xfrm>
          <a:prstGeom prst="rect">
            <a:avLst/>
          </a:prstGeom>
          <a:solidFill>
            <a:srgbClr val="DCE6F0"/>
          </a:solidFill>
        </p:spPr>
        <p:txBody>
          <a:bodyPr wrap="square" anchor="t">
            <a:spAutoFit/>
          </a:bodyPr>
          <a:lstStyle/>
          <a:p>
            <a:pPr algn="l">
              <a:defRPr sz="1400">
                <a:solidFill>
                  <a:srgbClr val="000000"/>
                </a:solidFill>
              </a:defRPr>
            </a:pPr>
            <a:r>
              <a:t>TOP aligned text</a:t>
            </a:r>
          </a:p>
          <a:p>
            <a:r>
              <a:t>(anchor=t)</a:t>
            </a:r>
          </a:p>
        </p:txBody>
      </p:sp>
      <p:sp>
        <p:nvSpPr>
          <p:cNvPr id="4" name="TextBox 3"/>
          <p:cNvSpPr txBox="1"/>
          <p:nvPr/>
        </p:nvSpPr>
        <p:spPr>
          <a:xfrm>
            <a:off x="3291840" y="1097280"/>
            <a:ext cx="2560320" cy="2286000"/>
          </a:xfrm>
          <a:prstGeom prst="rect">
            <a:avLst/>
          </a:prstGeom>
          <a:solidFill>
            <a:srgbClr val="C8DCF0"/>
          </a:solidFill>
        </p:spPr>
        <p:txBody>
          <a:bodyPr wrap="square" anchor="ctr">
            <a:spAutoFit/>
          </a:bodyPr>
          <a:lstStyle/>
          <a:p>
            <a:pPr>
              <a:defRPr sz="1400">
                <a:solidFill>
                  <a:srgbClr val="000000"/>
                </a:solidFill>
              </a:defRPr>
            </a:pPr>
            <a:r>
              <a:t>CENTER aligned text</a:t>
            </a:r>
          </a:p>
          <a:p>
            <a:r>
              <a:t>(anchor=ctr)</a:t>
            </a:r>
          </a:p>
        </p:txBody>
      </p:sp>
      <p:sp>
        <p:nvSpPr>
          <p:cNvPr id="5" name="TextBox 4"/>
          <p:cNvSpPr txBox="1"/>
          <p:nvPr/>
        </p:nvSpPr>
        <p:spPr>
          <a:xfrm>
            <a:off x="6126480" y="1097280"/>
            <a:ext cx="2560320" cy="2286000"/>
          </a:xfrm>
          <a:prstGeom prst="rect">
            <a:avLst/>
          </a:prstGeom>
          <a:solidFill>
            <a:srgbClr val="B4D2F0"/>
          </a:solidFill>
        </p:spPr>
        <p:txBody>
          <a:bodyPr wrap="square" anchor="b">
            <a:spAutoFit/>
          </a:bodyPr>
          <a:lstStyle/>
          <a:p>
            <a:pPr>
              <a:defRPr sz="1400">
                <a:solidFill>
                  <a:srgbClr val="000000"/>
                </a:solidFill>
              </a:defRPr>
            </a:pPr>
            <a:r>
              <a:t>BOTTOM aligned text</a:t>
            </a:r>
          </a:p>
          <a:p>
            <a:r>
              <a:t>(anchor=b)</a:t>
            </a:r>
          </a:p>
        </p:txBody>
      </p:sp>
      <p:sp>
        <p:nvSpPr>
          <p:cNvPr id="6" name="TextBox 5"/>
          <p:cNvSpPr txBox="1"/>
          <p:nvPr/>
        </p:nvSpPr>
        <p:spPr>
          <a:xfrm>
            <a:off x="457200" y="3840480"/>
            <a:ext cx="3657600" cy="2286000"/>
          </a:xfrm>
          <a:prstGeom prst="rect">
            <a:avLst/>
          </a:prstGeom>
          <a:solidFill>
            <a:srgbClr val="F0E6C8"/>
          </a:solidFill>
        </p:spPr>
        <p:txBody>
          <a:bodyPr wrap="none" lIns="457200" tIns="457200" rIns="457200" bIns="457200">
            <a:spAutoFit/>
          </a:bodyPr>
          <a:lstStyle/>
          <a:p>
            <a:pPr>
              <a:defRPr sz="1200"/>
            </a:pPr>
            <a:r>
              <a:t>Large insets (lIns=36pt, tIns=36pt)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2: Paragraph Spacing &amp; Indent</a:t>
            </a:r>
          </a:p>
        </p:txBody>
      </p:sp>
      <p:sp>
        <p:nvSpPr>
          <p:cNvPr id="3" name="TextBox 2"/>
          <p:cNvSpPr txBox="1"/>
          <p:nvPr/>
        </p:nvSpPr>
        <p:spPr>
          <a:xfrm>
            <a:off x="457200" y="1097280"/>
            <a:ext cx="8229600" cy="4572000"/>
          </a:xfrm>
          <a:prstGeom prst="rect">
            <a:avLst/>
          </a:prstGeom>
          <a:solidFill>
            <a:srgbClr val="F5F5FA"/>
          </a:solidFill>
        </p:spPr>
        <p:txBody>
          <a:bodyPr wrap="square">
            <a:spAutoFit/>
          </a:bodyPr>
          <a:lstStyle/>
          <a:p>
            <a:pPr>
              <a:defRPr sz="1400"/>
            </a:pPr>
            <a:r>
              <a:t>Paragraph 1: No special spacing or indent.</a:t>
            </a:r>
          </a:p>
          <a:p>
            <a:pPr>
              <a:defRPr sz="1400"/>
              <a:spcBef>
                <a:spcPts val="2400"/>
              </a:spcBef>
            </a:pPr>
            <a:r>
              <a:t>Paragraph 2: spcBef=24pt (gap above this line)</a:t>
            </a:r>
          </a:p>
          <a:p>
            <a:pPr marL="914400">
              <a:defRPr sz="1400"/>
            </a:pPr>
            <a:r>
              <a:t>Paragraph 3: marL=1in (indented from left)</a:t>
            </a:r>
          </a:p>
          <a:p>
            <a:pPr>
              <a:defRPr sz="1400"/>
              <a:spcAft>
                <a:spcPts val="1800"/>
              </a:spcAft>
            </a:pPr>
            <a:r>
              <a:t>Paragraph 4: spcAft=18pt (gap below this line)</a:t>
            </a:r>
          </a:p>
          <a:p>
            <a:pPr>
              <a:defRPr sz="1400"/>
            </a:pPr>
            <a:r>
              <a:t>Paragraph 5: After the 18pt gap. Should be visibly separated from P4.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3: Bullets &amp; Auto-Numbering</a:t>
            </a:r>
          </a:p>
        </p:txBody>
      </p:sp>
      <p:sp>
        <p:nvSpPr>
          <p:cNvPr id="3" name="TextBox 2"/>
          <p:cNvSpPr txBox="1"/>
          <p:nvPr/>
        </p:nvSpPr>
        <p:spPr>
          <a:xfrm>
            <a:off x="457200" y="1097280"/>
            <a:ext cx="3657600" cy="2286000"/>
          </a:xfrm>
          <a:prstGeom prst="rect">
            <a:avLst/>
          </a:prstGeom>
          <a:solidFill>
            <a:srgbClr val="E6F5E6"/>
          </a:solidFill>
        </p:spPr>
        <p:txBody>
          <a:bodyPr wrap="square">
            <a:spAutoFit/>
          </a:bodyPr>
          <a:lstStyle/>
          <a:p>
            <a:pPr marL="457200" indent="-228600">
              <a:defRPr sz="1400"/>
              <a:buChar char="•"/>
            </a:pPr>
            <a:r>
              <a:t>First bullet item</a:t>
            </a:r>
          </a:p>
          <a:p>
            <a:pPr marL="457200" indent="-228600">
              <a:defRPr sz="1400"/>
              <a:buChar char="•"/>
            </a:pPr>
            <a:r>
              <a:t>Second bullet item</a:t>
            </a:r>
          </a:p>
          <a:p>
            <a:pPr marL="457200" indent="-228600">
              <a:defRPr sz="1400"/>
              <a:buChar char="–"/>
            </a:pPr>
            <a:r>
              <a:t>Third with dash</a:t>
            </a:r>
          </a:p>
          <a:p>
            <a:pPr marL="457200" indent="-228600">
              <a:defRPr sz="1400"/>
              <a:buChar char="▶"/>
            </a:pPr>
            <a:r>
              <a:t>Fourth with arrow</a:t>
            </a:r>
          </a:p>
        </p:txBody>
      </p:sp>
      <p:sp>
        <p:nvSpPr>
          <p:cNvPr id="4" name="TextBox 3"/>
          <p:cNvSpPr txBox="1"/>
          <p:nvPr/>
        </p:nvSpPr>
        <p:spPr>
          <a:xfrm>
            <a:off x="4572000" y="1097280"/>
            <a:ext cx="4114800" cy="2286000"/>
          </a:xfrm>
          <a:prstGeom prst="rect">
            <a:avLst/>
          </a:prstGeom>
          <a:solidFill>
            <a:srgbClr val="E6E6F5"/>
          </a:solidFill>
        </p:spPr>
        <p:txBody>
          <a:bodyPr wrap="square">
            <a:spAutoFit/>
          </a:bodyPr>
          <a:lstStyle/>
          <a:p>
            <a:pPr marL="457200" indent="-228600">
              <a:defRPr sz="1400"/>
              <a:buAutoNum type="arabicPeriod"/>
            </a:pPr>
            <a:r>
              <a:t>Arabic period</a:t>
            </a:r>
          </a:p>
          <a:p>
            <a:pPr marL="457200" indent="-228600">
              <a:defRPr sz="1400"/>
              <a:buAutoNum type="arabicPeriod"/>
            </a:pPr>
            <a:r>
              <a:t>Second item</a:t>
            </a:r>
          </a:p>
          <a:p>
            <a:pPr marL="457200" indent="-228600">
              <a:defRPr sz="1400"/>
              <a:buAutoNum type="arabicPeriod"/>
            </a:pPr>
            <a:r>
              <a:t>Third item</a:t>
            </a:r>
          </a:p>
          <a:p>
            <a:pPr marL="457200" indent="-228600">
              <a:defRPr sz="1400"/>
              <a:buAutoNum type="arabicPeriod"/>
            </a:pPr>
            <a:r>
              <a:t>Fourth item</a:t>
            </a:r>
          </a:p>
        </p:txBody>
      </p:sp>
      <p:sp>
        <p:nvSpPr>
          <p:cNvPr id="5" name="TextBox 4"/>
          <p:cNvSpPr txBox="1"/>
          <p:nvPr/>
        </p:nvSpPr>
        <p:spPr>
          <a:xfrm>
            <a:off x="457200" y="3840480"/>
            <a:ext cx="3657600" cy="2286000"/>
          </a:xfrm>
          <a:prstGeom prst="rect">
            <a:avLst/>
          </a:prstGeom>
          <a:solidFill>
            <a:srgbClr val="F5F0E6"/>
          </a:solidFill>
        </p:spPr>
        <p:txBody>
          <a:bodyPr wrap="square">
            <a:spAutoFit/>
          </a:bodyPr>
          <a:lstStyle/>
          <a:p>
            <a:pPr marL="457200" indent="-228600">
              <a:defRPr sz="1400"/>
              <a:buAutoNum type="romanUcPeriod"/>
            </a:pPr>
            <a:r>
              <a:t>Roman upper item</a:t>
            </a:r>
          </a:p>
          <a:p>
            <a:pPr marL="457200" indent="-228600">
              <a:defRPr sz="1400"/>
              <a:buAutoNum type="romanUcPeriod"/>
            </a:pPr>
            <a:r>
              <a:t>Another item</a:t>
            </a:r>
          </a:p>
          <a:p>
            <a:pPr marL="457200" indent="-228600">
              <a:defRPr sz="1400"/>
              <a:buAutoNum type="romanUcPeriod"/>
            </a:pPr>
            <a:r>
              <a:t>Third one</a:t>
            </a:r>
          </a:p>
        </p:txBody>
      </p:sp>
      <p:sp>
        <p:nvSpPr>
          <p:cNvPr id="6" name="TextBox 5"/>
          <p:cNvSpPr txBox="1"/>
          <p:nvPr/>
        </p:nvSpPr>
        <p:spPr>
          <a:xfrm>
            <a:off x="4572000" y="3840480"/>
            <a:ext cx="4114800" cy="2286000"/>
          </a:xfrm>
          <a:prstGeom prst="rect">
            <a:avLst/>
          </a:prstGeom>
          <a:solidFill>
            <a:srgbClr val="F0F5F5"/>
          </a:solidFill>
        </p:spPr>
        <p:txBody>
          <a:bodyPr wrap="square">
            <a:spAutoFit/>
          </a:bodyPr>
          <a:lstStyle/>
          <a:p>
            <a:pPr marL="457200" indent="-228600">
              <a:defRPr sz="1400"/>
              <a:buAutoNum type="alphaLcParenR"/>
            </a:pPr>
            <a:r>
              <a:t>Alpha lower a</a:t>
            </a:r>
          </a:p>
          <a:p>
            <a:pPr marL="457200" indent="-228600">
              <a:defRPr sz="1400"/>
              <a:buAutoNum type="alphaLcParenR"/>
            </a:pPr>
            <a:r>
              <a:t>Alpha lower b</a:t>
            </a:r>
          </a:p>
          <a:p>
            <a:pPr marL="457200" indent="-228600">
              <a:defRPr sz="1400"/>
              <a:buAutoNum type="alphaLcParenR"/>
            </a:pPr>
            <a:r>
              <a:t>Alpha lower 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4: Run Decorations</a:t>
            </a:r>
          </a:p>
        </p:txBody>
      </p:sp>
      <p:sp>
        <p:nvSpPr>
          <p:cNvPr id="3" name="TextBox 2"/>
          <p:cNvSpPr txBox="1"/>
          <p:nvPr/>
        </p:nvSpPr>
        <p:spPr>
          <a:xfrm>
            <a:off x="457200" y="1097280"/>
            <a:ext cx="8229600" cy="4572000"/>
          </a:xfrm>
          <a:prstGeom prst="rect">
            <a:avLst/>
          </a:prstGeom>
          <a:noFill/>
        </p:spPr>
        <p:txBody>
          <a:bodyPr wrap="square">
            <a:spAutoFit/>
          </a:bodyPr>
          <a:lstStyle/>
          <a:p>
            <a:r>
              <a:rPr sz="1800" u="sng"/>
              <a:t>This text has single underline</a:t>
            </a:r>
          </a:p>
          <a:p>
            <a:r>
              <a:rPr sz="1800" strike="sngStrike"/>
              <a:t>This text has strikethrough</a:t>
            </a:r>
          </a:p>
          <a:p>
            <a:r>
              <a:rPr sz="1800" u="sng" strike="sngStrike"/>
              <a:t>Both underline AND strikethrough</a:t>
            </a:r>
          </a:p>
          <a:p>
            <a:r>
              <a:rPr sz="1800"/>
              <a:t>E = mc</a:t>
            </a:r>
            <a:r>
              <a:rPr sz="1800" baseline="30000"/>
              <a:t>2</a:t>
            </a:r>
          </a:p>
          <a:p>
            <a:r>
              <a:rPr sz="1800"/>
              <a:t>H</a:t>
            </a:r>
            <a:r>
              <a:rPr sz="1800" baseline="-25000"/>
              <a:t>2</a:t>
            </a:r>
            <a:r>
              <a:rPr sz="1800"/>
              <a:t>O (water)</a:t>
            </a:r>
          </a:p>
          <a:p>
            <a:r>
              <a:rPr b="1" sz="1800"/>
              <a:t>Bold </a:t>
            </a:r>
            <a:r>
              <a:rPr i="1" sz="1800"/>
              <a:t>Italic </a:t>
            </a:r>
            <a:r>
              <a:rPr b="1" i="1" u="sng" sz="1800"/>
              <a:t>BoldItalicUnderline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nchor="ctr">
            <a:spAutoFit/>
          </a:bodyPr>
          <a:lstStyle/>
          <a:p>
            <a:pPr>
              <a:defRPr sz="2800" b="1">
                <a:solidFill>
                  <a:srgbClr val="FFFFFF"/>
                </a:solidFill>
              </a:defRPr>
            </a:pPr>
            <a:r>
              <a:t>Slide 5: Combined Features</a:t>
            </a:r>
          </a:p>
        </p:txBody>
      </p:sp>
      <p:sp>
        <p:nvSpPr>
          <p:cNvPr id="3" name="TextBox 2"/>
          <p:cNvSpPr txBox="1"/>
          <p:nvPr/>
        </p:nvSpPr>
        <p:spPr>
          <a:xfrm>
            <a:off x="914400" y="1371600"/>
            <a:ext cx="7315200" cy="4572000"/>
          </a:xfrm>
          <a:prstGeom prst="rect">
            <a:avLst/>
          </a:prstGeom>
          <a:solidFill>
            <a:srgbClr val="F0F0FA"/>
          </a:solidFill>
        </p:spPr>
        <p:txBody>
          <a:bodyPr wrap="square" anchor="ctr" lIns="228600" tIns="228600">
            <a:spAutoFit/>
          </a:bodyPr>
          <a:lstStyle/>
          <a:p>
            <a:pPr marL="457200" indent="-228600">
              <a:defRPr sz="1600"/>
              <a:buChar char="•"/>
              <a:spcBef>
                <a:spcPts val="1200"/>
              </a:spcBef>
            </a:pPr>
            <a:r>
              <a:t>Center-anchored box with bullets</a:t>
            </a:r>
          </a:p>
          <a:p>
            <a:pPr marL="457200" indent="-228600">
              <a:defRPr sz="1600"/>
              <a:buChar char="•"/>
              <a:spcBef>
                <a:spcPts val="1200"/>
              </a:spcBef>
            </a:pPr>
            <a:r>
              <a:t>Second item with spacing</a:t>
            </a:r>
          </a:p>
          <a:p>
            <a:pPr marL="457200" indent="-228600">
              <a:defRPr sz="1600"/>
              <a:buChar char="•"/>
              <a:spcBef>
                <a:spcPts val="1200"/>
              </a:spcBef>
            </a:pPr>
            <a:r>
              <a:t>Third item with underline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solidFill>
                  <a:srgbClr val="FFFFFF"/>
                </a:solidFill>
              </a:defRPr>
            </a:pPr>
            <a:r>
              <a:t>Slide 6: Inherits master navy bg</a:t>
            </a:r>
          </a:p>
        </p:txBody>
      </p:sp>
      <p:sp>
        <p:nvSpPr>
          <p:cNvPr id="3" name="TextBox 2"/>
          <p:cNvSpPr txBox="1"/>
          <p:nvPr/>
        </p:nvSpPr>
        <p:spPr>
          <a:xfrm>
            <a:off x="457200" y="1828800"/>
            <a:ext cx="8229600" cy="2743200"/>
          </a:xfrm>
          <a:prstGeom prst="rect">
            <a:avLst/>
          </a:prstGeom>
          <a:noFill/>
        </p:spPr>
        <p:txBody>
          <a:bodyPr wrap="square">
            <a:spAutoFit/>
          </a:bodyPr>
          <a:lstStyle/>
          <a:p>
            <a:pPr>
              <a:defRPr sz="1800">
                <a:solidFill>
                  <a:srgbClr val="C8DCFF"/>
                </a:solidFill>
              </a:defRPr>
            </a:pPr>
            <a:r>
              <a:t>Navy bg (#1B3A6B) = inheritance OK</a:t>
            </a:r>
          </a:p>
          <a:p>
            <a:pPr>
              <a:defRPr sz="1800">
                <a:solidFill>
                  <a:srgbClr val="FF9696"/>
                </a:solidFill>
              </a:defRPr>
            </a:pPr>
            <a:r>
              <a:t>White bg = inheritance FAILED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7: Placeholder Title (inherits 44pt ctr white)</a:t>
            </a:r>
          </a:p>
        </p:txBody>
      </p:sp>
      <p:sp>
        <p:nvSpPr>
          <p:cNvPr id="3" name="Content Placeholder 2"/>
          <p:cNvSpPr>
            <a:spLocks noGrp="1"/>
          </p:cNvSpPr>
          <p:nvPr>
            <p:ph idx="1"/>
          </p:nvPr>
        </p:nvSpPr>
        <p:spPr/>
        <p:txBody>
          <a:bodyPr/>
          <a:lstStyle/>
          <a:p>
            <a:r>
              <a:t>Level 0: Should inherit 24pt white from master bodyStyle</a:t>
            </a:r>
          </a:p>
          <a:p>
            <a:pPr lvl="1"/>
            <a:r>
              <a:t>Level 1: Should inherit 20pt lightgray from master bodyStyle lvl2</a:t>
            </a:r>
          </a:p>
          <a:p>
            <a:r>
              <a:t>Level 0 again: back to 24pt white</a:t>
            </a:r>
          </a:p>
        </p:txBody>
      </p:sp>
      <p:sp>
        <p:nvSpPr>
          <p:cNvPr id="4" name="TextBox 3"/>
          <p:cNvSpPr txBox="1"/>
          <p:nvPr/>
        </p:nvSpPr>
        <p:spPr>
          <a:xfrm>
            <a:off x="457200" y="5029200"/>
            <a:ext cx="8229600" cy="1371600"/>
          </a:xfrm>
          <a:prstGeom prst="rect">
            <a:avLst/>
          </a:prstGeom>
          <a:noFill/>
        </p:spPr>
        <p:txBody>
          <a:bodyPr wrap="square">
            <a:spAutoFit/>
          </a:bodyPr>
          <a:lstStyle/>
          <a:p>
            <a:pPr>
              <a:defRPr sz="1200">
                <a:solidFill>
                  <a:srgbClr val="B4C8FF"/>
                </a:solidFill>
              </a:defRPr>
            </a:pPr>
            <a:r>
              <a:t>^ Title should be 44pt centered white. Body bullets should be 24pt/20pt white/gray.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28B22"/>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FFFFFF"/>
                </a:solidFill>
              </a:defRPr>
            </a:pPr>
            <a:r>
              <a:t>Slide 8: Explicit green bg (#228B22) — overrides master</a:t>
            </a:r>
          </a:p>
        </p:txBody>
      </p:sp>
      <p:sp>
        <p:nvSpPr>
          <p:cNvPr id="3" name="TextBox 2"/>
          <p:cNvSpPr txBox="1"/>
          <p:nvPr/>
        </p:nvSpPr>
        <p:spPr>
          <a:xfrm>
            <a:off x="457200" y="1828800"/>
            <a:ext cx="8229600" cy="2743200"/>
          </a:xfrm>
          <a:prstGeom prst="rect">
            <a:avLst/>
          </a:prstGeom>
          <a:noFill/>
        </p:spPr>
        <p:txBody>
          <a:bodyPr wrap="square">
            <a:spAutoFit/>
          </a:bodyPr>
          <a:lstStyle/>
          <a:p>
            <a:pPr>
              <a:defRPr sz="1800">
                <a:solidFill>
                  <a:srgbClr val="DCFFDC"/>
                </a:solidFill>
              </a:defRPr>
            </a:pPr>
            <a:r>
              <a:t>This slide has an explicit green background. It should NOT show the master's navy.</a:t>
            </a:r>
          </a:p>
          <a:p>
            <a:pPr>
              <a:defRPr sz="1800">
                <a:solidFill>
                  <a:srgbClr val="FFFFFF"/>
                </a:solidFill>
              </a:defRPr>
            </a:pPr>
            <a:r>
              <a:t>If you see green, explicit bg override is working correctly.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9: East Asian Fonts &amp; Theme References</a:t>
            </a:r>
          </a:p>
        </p:txBody>
      </p:sp>
      <p:sp>
        <p:nvSpPr>
          <p:cNvPr id="3" name="TextBox 2"/>
          <p:cNvSpPr txBox="1"/>
          <p:nvPr/>
        </p:nvSpPr>
        <p:spPr>
          <a:xfrm>
            <a:off x="457200" y="1097280"/>
            <a:ext cx="3657600" cy="1828800"/>
          </a:xfrm>
          <a:prstGeom prst="rect">
            <a:avLst/>
          </a:prstGeom>
          <a:solidFill>
            <a:srgbClr val="F0F0FF"/>
          </a:solidFill>
        </p:spPr>
        <p:txBody>
          <a:bodyPr wrap="square">
            <a:spAutoFit/>
          </a:bodyPr>
          <a:lstStyle/>
          <a:p>
            <a:r>
              <a:rPr sz="1800">
                <a:ea typeface="MS PGothic"/>
                <a:latin typeface="Arial"/>
              </a:rPr>
              <a:t>日本語テキスト（MS PGothic）</a:t>
            </a:r>
          </a:p>
          <a:p>
            <a:r>
              <a:rPr sz="1600">
                <a:ea typeface="+mj-ea"/>
                <a:latin typeface="+mj-lt"/>
              </a:rPr>
              <a:t>テーマ参照: +mj-ea / +mj-lt</a:t>
            </a:r>
          </a:p>
          <a:p>
            <a:r>
              <a:rPr sz="1400">
                <a:ea typeface="+mn-ea"/>
                <a:latin typeface="+mn-lt"/>
              </a:rPr>
              <a:t>マイナーフォント: +mn-ea / +mn-lt</a:t>
            </a:r>
          </a:p>
        </p:txBody>
      </p:sp>
      <p:sp>
        <p:nvSpPr>
          <p:cNvPr id="4" name="TextBox 3"/>
          <p:cNvSpPr txBox="1"/>
          <p:nvPr/>
        </p:nvSpPr>
        <p:spPr>
          <a:xfrm>
            <a:off x="4572000" y="1097280"/>
            <a:ext cx="4114800" cy="1828800"/>
          </a:xfrm>
          <a:prstGeom prst="rect">
            <a:avLst/>
          </a:prstGeom>
          <a:solidFill>
            <a:srgbClr val="FFF5EB"/>
          </a:solidFill>
        </p:spPr>
        <p:txBody>
          <a:bodyPr wrap="square">
            <a:spAutoFit/>
          </a:bodyPr>
          <a:lstStyle/>
          <a:p>
            <a:r>
              <a:rPr sz="1800">
                <a:ea typeface="Meiryo"/>
                <a:latin typeface="Segoe UI"/>
              </a:rPr>
              <a:t>Mixed: ABC + あいう + 123</a:t>
            </a:r>
          </a:p>
        </p:txBody>
      </p:sp>
      <p:sp>
        <p:nvSpPr>
          <p:cNvPr id="5" name="TextBox 4"/>
          <p:cNvSpPr txBox="1"/>
          <p:nvPr/>
        </p:nvSpPr>
        <p:spPr>
          <a:xfrm>
            <a:off x="457200" y="3657600"/>
            <a:ext cx="8229600" cy="1828800"/>
          </a:xfrm>
          <a:prstGeom prst="rect">
            <a:avLst/>
          </a:prstGeom>
          <a:noFill/>
        </p:spPr>
        <p:txBody>
          <a:bodyPr wrap="square">
            <a:spAutoFit/>
          </a:bodyPr>
          <a:lstStyle/>
          <a:p>
            <a:pPr>
              <a:defRPr sz="1200">
                <a:solidFill>
                  <a:srgbClr val="646464"/>
                </a:solidFill>
              </a:defRPr>
            </a:pPr>
            <a:r>
              <a:t>Verify: EA fonts should appear in font-family. Theme refs (+mj-ea/+mn-ea) should resolve to Yu Gothic.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10: Line Spacing (a:lnSpc)</a:t>
            </a:r>
          </a:p>
        </p:txBody>
      </p:sp>
      <p:sp>
        <p:nvSpPr>
          <p:cNvPr id="3" name="TextBox 2"/>
          <p:cNvSpPr txBox="1"/>
          <p:nvPr/>
        </p:nvSpPr>
        <p:spPr>
          <a:xfrm>
            <a:off x="457200" y="1097280"/>
            <a:ext cx="3657600" cy="2743200"/>
          </a:xfrm>
          <a:prstGeom prst="rect">
            <a:avLst/>
          </a:prstGeom>
          <a:solidFill>
            <a:srgbClr val="E6F5FF"/>
          </a:solidFill>
        </p:spPr>
        <p:txBody>
          <a:bodyPr wrap="square">
            <a:spAutoFit/>
          </a:bodyPr>
          <a:lstStyle/>
          <a:p>
            <a:pPr>
              <a:defRPr sz="1400"/>
              <a:lnSpc>
                <a:spcPct val="150000"/>
              </a:lnSpc>
            </a:pPr>
            <a:r>
              <a:t>Line 1: 150% spacing</a:t>
            </a:r>
          </a:p>
          <a:p>
            <a:pPr>
              <a:defRPr sz="1400"/>
              <a:lnSpc>
                <a:spcPct val="150000"/>
              </a:lnSpc>
            </a:pPr>
            <a:r>
              <a:t>Line 2: wider gap above</a:t>
            </a:r>
          </a:p>
          <a:p>
            <a:pPr>
              <a:defRPr sz="1400"/>
              <a:lnSpc>
                <a:spcPct val="150000"/>
              </a:lnSpc>
            </a:pPr>
            <a:r>
              <a:t>Line 3: still 150%</a:t>
            </a:r>
          </a:p>
        </p:txBody>
      </p:sp>
      <p:sp>
        <p:nvSpPr>
          <p:cNvPr id="4" name="TextBox 3"/>
          <p:cNvSpPr txBox="1"/>
          <p:nvPr/>
        </p:nvSpPr>
        <p:spPr>
          <a:xfrm>
            <a:off x="4572000" y="1097280"/>
            <a:ext cx="4114800" cy="2743200"/>
          </a:xfrm>
          <a:prstGeom prst="rect">
            <a:avLst/>
          </a:prstGeom>
          <a:solidFill>
            <a:srgbClr val="FFF0E6"/>
          </a:solidFill>
        </p:spPr>
        <p:txBody>
          <a:bodyPr wrap="square">
            <a:spAutoFit/>
          </a:bodyPr>
          <a:lstStyle/>
          <a:p>
            <a:pPr>
              <a:defRPr sz="1400"/>
              <a:lnSpc>
                <a:spcPts val="3600"/>
              </a:lnSpc>
            </a:pPr>
            <a:r>
              <a:t>Line 1: 36pt absolute</a:t>
            </a:r>
          </a:p>
          <a:p>
            <a:pPr>
              <a:defRPr sz="1400"/>
              <a:lnSpc>
                <a:spcPts val="3600"/>
              </a:lnSpc>
            </a:pPr>
            <a:r>
              <a:t>Line 2: fixed height</a:t>
            </a:r>
          </a:p>
          <a:p>
            <a:pPr>
              <a:defRPr sz="1400"/>
              <a:lnSpc>
                <a:spcPts val="3600"/>
              </a:lnSpc>
            </a:pPr>
            <a:r>
              <a:t>Line 3: still 36pt</a:t>
            </a:r>
          </a:p>
        </p:txBody>
      </p:sp>
      <p:sp>
        <p:nvSpPr>
          <p:cNvPr id="5" name="TextBox 4"/>
          <p:cNvSpPr txBox="1"/>
          <p:nvPr/>
        </p:nvSpPr>
        <p:spPr>
          <a:xfrm>
            <a:off x="457200" y="4114800"/>
            <a:ext cx="3657600" cy="2286000"/>
          </a:xfrm>
          <a:prstGeom prst="rect">
            <a:avLst/>
          </a:prstGeom>
          <a:solidFill>
            <a:srgbClr val="F5FFF0"/>
          </a:solidFill>
        </p:spPr>
        <p:txBody>
          <a:bodyPr wrap="square">
            <a:spAutoFit/>
          </a:bodyPr>
          <a:lstStyle/>
          <a:p>
            <a:pPr>
              <a:defRPr sz="1400"/>
              <a:lnSpc>
                <a:spcPct val="80000"/>
              </a:lnSpc>
            </a:pPr>
            <a:r>
              <a:t>Tight: 80% spacing</a:t>
            </a:r>
          </a:p>
          <a:p>
            <a:pPr>
              <a:defRPr sz="1400"/>
              <a:lnSpc>
                <a:spcPct val="80000"/>
              </a:lnSpc>
            </a:pPr>
            <a:r>
              <a:t>Lines should be close together</a:t>
            </a:r>
          </a:p>
          <a:p>
            <a:pPr>
              <a:defRPr sz="1400"/>
              <a:lnSpc>
                <a:spcPct val="80000"/>
              </a:lnSpc>
            </a:pPr>
            <a:r>
              <a:t>Third tight 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11: Character Spacing &amp; lstStyle</a:t>
            </a:r>
          </a:p>
        </p:txBody>
      </p:sp>
      <p:sp>
        <p:nvSpPr>
          <p:cNvPr id="3" name="TextBox 2"/>
          <p:cNvSpPr txBox="1"/>
          <p:nvPr/>
        </p:nvSpPr>
        <p:spPr>
          <a:xfrm>
            <a:off x="457200" y="1097280"/>
            <a:ext cx="8229600" cy="2286000"/>
          </a:xfrm>
          <a:prstGeom prst="rect">
            <a:avLst/>
          </a:prstGeom>
          <a:solidFill>
            <a:srgbClr val="F5F0FF"/>
          </a:solidFill>
        </p:spPr>
        <p:txBody>
          <a:bodyPr wrap="square">
            <a:spAutoFit/>
          </a:bodyPr>
          <a:lstStyle/>
          <a:p>
            <a:r>
              <a:rPr sz="1600"/>
              <a:t>Normal spacing (spc=0)</a:t>
            </a:r>
          </a:p>
          <a:p>
            <a:r>
              <a:rPr sz="1600" spc="300"/>
              <a:t>Wide spacing (spc=300, 3pt)</a:t>
            </a:r>
          </a:p>
          <a:p>
            <a:r>
              <a:rPr sz="1600" spc="1000"/>
              <a:t>Very wide (spc=1000, 10pt)</a:t>
            </a:r>
          </a:p>
          <a:p>
            <a:r>
              <a:rPr sz="1600" spc="-100"/>
              <a:t>Tight spacing (spc=-100, -1pt)</a:t>
            </a:r>
          </a:p>
        </p:txBody>
      </p:sp>
      <p:sp>
        <p:nvSpPr>
          <p:cNvPr id="4" name="TextBox 3"/>
          <p:cNvSpPr txBox="1"/>
          <p:nvPr/>
        </p:nvSpPr>
        <p:spPr>
          <a:xfrm>
            <a:off x="457200" y="3840480"/>
            <a:ext cx="8229600" cy="2286000"/>
          </a:xfrm>
          <a:prstGeom prst="rect">
            <a:avLst/>
          </a:prstGeom>
          <a:solidFill>
            <a:srgbClr val="FFFAEB"/>
          </a:solidFill>
        </p:spPr>
        <p:txBody>
          <a:bodyPr wrap="square">
            <a:spAutoFit/>
          </a:bodyPr>
          <a:lstStyle>
            <a:lvl1pPr>
              <a:defRPr sz="2000" b="1">
                <a:solidFill>
                  <a:srgbClr val="003366"/>
                </a:solidFill>
                <a:ea typeface="Meiryo"/>
              </a:defRPr>
            </a:lvl1pPr>
          </a:lstStyle>
          <a:p>
            <a:r>
              <a:t>lstStyle lvl1: inherits 20pt bold #003366 Meiryo</a:t>
            </a:r>
          </a:p>
          <a:p>
            <a:r>
              <a:t>Second paragraph: should also inherit lstStyle defaults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12: normAutofit (fontScale / lnSpcReduction)</a:t>
            </a:r>
          </a:p>
        </p:txBody>
      </p:sp>
      <p:sp>
        <p:nvSpPr>
          <p:cNvPr id="3" name="TextBox 2"/>
          <p:cNvSpPr txBox="1"/>
          <p:nvPr/>
        </p:nvSpPr>
        <p:spPr>
          <a:xfrm>
            <a:off x="457200" y="1097280"/>
            <a:ext cx="3657600" cy="1645920"/>
          </a:xfrm>
          <a:prstGeom prst="rect">
            <a:avLst/>
          </a:prstGeom>
          <a:solidFill>
            <a:srgbClr val="E8EAF6"/>
          </a:solidFill>
          <a:ln w="12700">
            <a:solidFill>
              <a:srgbClr val="3F51B5"/>
            </a:solidFill>
          </a:ln>
        </p:spPr>
        <p:txBody>
          <a:bodyPr wrap="square" lIns="91440" tIns="45720" rIns="91440" bIns="45720">
            <a:spAutoFit/>
            <a:normAutofit fontScale="80000"/>
          </a:bodyPr>
          <a:lstStyle/>
          <a:p>
            <a:r>
              <a:rPr sz="2000" b="1"/>
              <a:t>fontScale=80%</a:t>
            </a:r>
          </a:p>
          <a:p>
            <a:r>
              <a:rPr sz="1600"/>
              <a:t>Line 2: scaled down</a:t>
            </a:r>
          </a:p>
          <a:p>
            <a:r>
              <a:rPr sz="1600"/>
              <a:t>Line 3: smaller text</a:t>
            </a:r>
          </a:p>
          <a:p>
            <a:r>
              <a:rPr sz="1600"/>
              <a:t>Line 4: fits in box</a:t>
            </a:r>
          </a:p>
        </p:txBody>
      </p:sp>
      <p:sp>
        <p:nvSpPr>
          <p:cNvPr id="4" name="TextBox 3"/>
          <p:cNvSpPr txBox="1"/>
          <p:nvPr/>
        </p:nvSpPr>
        <p:spPr>
          <a:xfrm>
            <a:off x="4572000" y="1097280"/>
            <a:ext cx="3657600" cy="1645920"/>
          </a:xfrm>
          <a:prstGeom prst="rect">
            <a:avLst/>
          </a:prstGeom>
          <a:solidFill>
            <a:srgbClr val="FFF3E0"/>
          </a:solidFill>
          <a:ln w="12700">
            <a:solidFill>
              <a:srgbClr val="FF9800"/>
            </a:solidFill>
          </a:ln>
        </p:spPr>
        <p:txBody>
          <a:bodyPr wrap="square" lIns="91440" tIns="45720" rIns="91440" bIns="45720">
            <a:spAutoFit/>
            <a:normAutofit fontScale="62500" lnSpcReduction="20000"/>
          </a:bodyPr>
          <a:lstStyle/>
          <a:p>
            <a:r>
              <a:rPr sz="2000" b="1"/>
              <a:t>62.5% + lnSpc 20%</a:t>
            </a:r>
          </a:p>
          <a:p>
            <a:r>
              <a:rPr sz="1600"/>
              <a:t>Line 2: even smaller</a:t>
            </a:r>
          </a:p>
          <a:p>
            <a:r>
              <a:rPr sz="1600"/>
              <a:t>Line 3: tighter spacing</a:t>
            </a:r>
          </a:p>
          <a:p>
            <a:r>
              <a:rPr sz="1600"/>
              <a:t>Line 4: compact text</a:t>
            </a:r>
          </a:p>
        </p:txBody>
      </p:sp>
      <p:sp>
        <p:nvSpPr>
          <p:cNvPr id="5" name="TextBox 4"/>
          <p:cNvSpPr txBox="1"/>
          <p:nvPr/>
        </p:nvSpPr>
        <p:spPr>
          <a:xfrm>
            <a:off x="457200" y="3200400"/>
            <a:ext cx="3657600" cy="1645920"/>
          </a:xfrm>
          <a:prstGeom prst="rect">
            <a:avLst/>
          </a:prstGeom>
          <a:solidFill>
            <a:srgbClr val="E8F5E9"/>
          </a:solidFill>
          <a:ln w="12700">
            <a:solidFill>
              <a:srgbClr val="4CAF50"/>
            </a:solidFill>
          </a:ln>
        </p:spPr>
        <p:txBody>
          <a:bodyPr wrap="square" lIns="91440" tIns="45720" rIns="91440" bIns="45720">
            <a:spAutoFit/>
            <a:normAutofit/>
          </a:bodyPr>
          <a:lstStyle/>
          <a:p>
            <a:r>
              <a:rPr sz="2000" b="1"/>
              <a:t>normAutofit default</a:t>
            </a:r>
          </a:p>
          <a:p>
            <a:r>
              <a:rPr sz="1600"/>
              <a:t>Line 2: no scaling</a:t>
            </a:r>
          </a:p>
          <a:p>
            <a:r>
              <a:rPr sz="1600"/>
              <a:t>Line 3: same as original</a:t>
            </a:r>
          </a:p>
        </p:txBody>
      </p:sp>
      <p:sp>
        <p:nvSpPr>
          <p:cNvPr id="6" name="TextBox 5"/>
          <p:cNvSpPr txBox="1"/>
          <p:nvPr/>
        </p:nvSpPr>
        <p:spPr>
          <a:xfrm>
            <a:off x="4572000" y="3200400"/>
            <a:ext cx="3657600" cy="1645920"/>
          </a:xfrm>
          <a:prstGeom prst="rect">
            <a:avLst/>
          </a:prstGeom>
          <a:solidFill>
            <a:srgbClr val="F3E5F5"/>
          </a:solidFill>
          <a:ln w="12700">
            <a:solidFill>
              <a:srgbClr val="9C27B0"/>
            </a:solidFill>
          </a:ln>
        </p:spPr>
        <p:txBody>
          <a:bodyPr wrap="square" lIns="91440" tIns="45720" rIns="91440" bIns="45720">
            <a:spAutoFit/>
          </a:bodyPr>
          <a:lstStyle/>
          <a:p>
            <a:r>
              <a:rPr sz="2000" b="1"/>
              <a:t>No autofit (ref)</a:t>
            </a:r>
          </a:p>
          <a:p>
            <a:r>
              <a:rPr sz="1600"/>
              <a:t>Line 2: original size</a:t>
            </a:r>
          </a:p>
          <a:p>
            <a:r>
              <a:rPr sz="1600"/>
              <a:t>Line 3: may overflow</a:t>
            </a:r>
          </a:p>
        </p:txBody>
      </p:sp>
      <p:sp>
        <p:nvSpPr>
          <p:cNvPr id="7" name="TextBox 6"/>
          <p:cNvSpPr txBox="1"/>
          <p:nvPr/>
        </p:nvSpPr>
        <p:spPr>
          <a:xfrm>
            <a:off x="457200" y="5303520"/>
            <a:ext cx="8229600" cy="914400"/>
          </a:xfrm>
          <a:prstGeom prst="rect">
            <a:avLst/>
          </a:prstGeom>
          <a:noFill/>
        </p:spPr>
        <p:txBody>
          <a:bodyPr wrap="square">
            <a:spAutoFit/>
          </a:bodyPr>
          <a:lstStyle/>
          <a:p>
            <a:pPr>
              <a:defRPr sz="1200">
                <a:solidFill>
                  <a:srgbClr val="646464"/>
                </a:solidFill>
              </a:defRPr>
            </a:pPr>
            <a:r>
              <a:t>Compare: top-left (80%) should be visibly smaller than bottom-right (no autofit). Top-right (62.5%+20%) should be smallest and tightest.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13: Text Wrapping</a:t>
            </a:r>
          </a:p>
        </p:txBody>
      </p:sp>
      <p:sp>
        <p:nvSpPr>
          <p:cNvPr id="3" name="TextBox 2"/>
          <p:cNvSpPr txBox="1"/>
          <p:nvPr/>
        </p:nvSpPr>
        <p:spPr>
          <a:xfrm>
            <a:off x="457200" y="1097280"/>
            <a:ext cx="3657600" cy="2286000"/>
          </a:xfrm>
          <a:prstGeom prst="rect">
            <a:avLst/>
          </a:prstGeom>
          <a:solidFill>
            <a:srgbClr val="E6F0FF"/>
          </a:solidFill>
        </p:spPr>
        <p:txBody>
          <a:bodyPr wrap="square">
            <a:spAutoFit/>
          </a:bodyPr>
          <a:lstStyle/>
          <a:p>
            <a:pPr>
              <a:defRPr sz="1600"/>
            </a:pPr>
            <a:r>
              <a:t>This is a long paragraph of Latin text that should automatically wrap at the shape boundary. Word-level wrapping should break at spaces.</a:t>
            </a:r>
          </a:p>
          <a:p>
            <a:pPr>
              <a:defRPr sz="1400"/>
            </a:pPr>
            <a:r>
              <a:t>Another paragraph with a very long sentence that exercises the wrapping algorithm more thoroughly, including multiple lines of content.</a:t>
            </a:r>
          </a:p>
        </p:txBody>
      </p:sp>
      <p:sp>
        <p:nvSpPr>
          <p:cNvPr id="4" name="TextBox 3"/>
          <p:cNvSpPr txBox="1"/>
          <p:nvPr/>
        </p:nvSpPr>
        <p:spPr>
          <a:xfrm>
            <a:off x="4572000" y="1097280"/>
            <a:ext cx="4114800" cy="2286000"/>
          </a:xfrm>
          <a:prstGeom prst="rect">
            <a:avLst/>
          </a:prstGeom>
          <a:solidFill>
            <a:srgbClr val="FFF5E6"/>
          </a:solidFill>
        </p:spPr>
        <p:txBody>
          <a:bodyPr wrap="square">
            <a:spAutoFit/>
          </a:bodyPr>
          <a:lstStyle/>
          <a:p>
            <a:r>
              <a:rPr sz="1600">
                <a:ea typeface="Yu Gothic"/>
              </a:rPr>
              <a:t>日本語テキストの折り返しテスト。文字単位で折り返されるべきです。漢字とひらがなが混在しています。</a:t>
            </a:r>
          </a:p>
          <a:p>
            <a:r>
              <a:rPr sz="1400">
                <a:ea typeface="Yu Gothic"/>
              </a:rPr>
              <a:t>Mixed テキスト: ABC あいう 123 日本語 English words and 漢字が混在</a:t>
            </a:r>
          </a:p>
        </p:txBody>
      </p:sp>
      <p:sp>
        <p:nvSpPr>
          <p:cNvPr id="5" name="TextBox 4"/>
          <p:cNvSpPr txBox="1"/>
          <p:nvPr/>
        </p:nvSpPr>
        <p:spPr>
          <a:xfrm>
            <a:off x="457200" y="3840480"/>
            <a:ext cx="3657600" cy="1371600"/>
          </a:xfrm>
          <a:prstGeom prst="rect">
            <a:avLst/>
          </a:prstGeom>
          <a:solidFill>
            <a:srgbClr val="FFE6E6"/>
          </a:solidFill>
        </p:spPr>
        <p:txBody>
          <a:bodyPr wrap="none">
            <a:spAutoFit/>
          </a:bodyPr>
          <a:lstStyle/>
          <a:p>
            <a:pPr>
              <a:defRPr sz="1600"/>
            </a:pPr>
            <a:r>
              <a:t>wrap=none: This text should NOT wrap even though it is long and exceeds the box width</a:t>
            </a:r>
          </a:p>
        </p:txBody>
      </p:sp>
      <p:sp>
        <p:nvSpPr>
          <p:cNvPr id="6" name="TextBox 5"/>
          <p:cNvSpPr txBox="1"/>
          <p:nvPr/>
        </p:nvSpPr>
        <p:spPr>
          <a:xfrm>
            <a:off x="4572000" y="3840480"/>
            <a:ext cx="2286000" cy="2286000"/>
          </a:xfrm>
          <a:prstGeom prst="rect">
            <a:avLst/>
          </a:prstGeom>
          <a:solidFill>
            <a:srgbClr val="E6FFE6"/>
          </a:solidFill>
        </p:spPr>
        <p:txBody>
          <a:bodyPr wrap="square">
            <a:spAutoFit/>
          </a:bodyPr>
          <a:lstStyle/>
          <a:p>
            <a:pPr>
              <a:defRPr sz="2800"/>
            </a:pPr>
            <a:r>
              <a:t>Large font in narrow box</a:t>
            </a:r>
          </a:p>
          <a:p>
            <a:pPr>
              <a:defRPr sz="2000"/>
            </a:pPr>
            <a:r>
              <a:t>Should wrap to multiple 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200" b="1"/>
            </a:pPr>
            <a:r>
              <a:t>Slide 14: Bullet Formatting (buFont / buSzPct / buSzPts / buClr)</a:t>
            </a:r>
          </a:p>
        </p:txBody>
      </p:sp>
      <p:sp>
        <p:nvSpPr>
          <p:cNvPr id="3" name="TextBox 2"/>
          <p:cNvSpPr txBox="1"/>
          <p:nvPr/>
        </p:nvSpPr>
        <p:spPr>
          <a:xfrm>
            <a:off x="457200" y="1097280"/>
            <a:ext cx="3657600" cy="2286000"/>
          </a:xfrm>
          <a:prstGeom prst="rect">
            <a:avLst/>
          </a:prstGeom>
          <a:solidFill>
            <a:srgbClr val="F0EBFF"/>
          </a:solidFill>
        </p:spPr>
        <p:txBody>
          <a:bodyPr wrap="square">
            <a:spAutoFit/>
          </a:bodyPr>
          <a:lstStyle/>
          <a:p>
            <a:pPr marL="457200" indent="-228600">
              <a:defRPr sz="1600"/>
              <a:buFont typeface="Wingdings"/>
              <a:buChar char="l"/>
            </a:pPr>
            <a:r>
              <a:t>Wingdings bullet font</a:t>
            </a:r>
          </a:p>
          <a:p>
            <a:pPr marL="457200" indent="-228600">
              <a:defRPr sz="1600"/>
              <a:buFont typeface="Symbol"/>
              <a:buChar char="·"/>
            </a:pPr>
            <a:r>
              <a:t>Symbol bullet font</a:t>
            </a:r>
          </a:p>
          <a:p>
            <a:pPr marL="457200" indent="-228600">
              <a:defRPr sz="1600"/>
              <a:buChar char="•"/>
            </a:pPr>
            <a:r>
              <a:t>Default font bullet</a:t>
            </a:r>
          </a:p>
        </p:txBody>
      </p:sp>
      <p:sp>
        <p:nvSpPr>
          <p:cNvPr id="4" name="TextBox 3"/>
          <p:cNvSpPr txBox="1"/>
          <p:nvPr/>
        </p:nvSpPr>
        <p:spPr>
          <a:xfrm>
            <a:off x="4572000" y="1097280"/>
            <a:ext cx="4114800" cy="2286000"/>
          </a:xfrm>
          <a:prstGeom prst="rect">
            <a:avLst/>
          </a:prstGeom>
          <a:solidFill>
            <a:srgbClr val="E6FFF0"/>
          </a:solidFill>
        </p:spPr>
        <p:txBody>
          <a:bodyPr wrap="square">
            <a:spAutoFit/>
          </a:bodyPr>
          <a:lstStyle/>
          <a:p>
            <a:pPr marL="457200" indent="-228600">
              <a:defRPr sz="1600"/>
              <a:buChar char="•"/>
              <a:buSzPct val="150000"/>
            </a:pPr>
            <a:r>
              <a:t>buSzPct=150000 (150%)</a:t>
            </a:r>
          </a:p>
          <a:p>
            <a:pPr marL="457200" indent="-228600">
              <a:defRPr sz="1600"/>
              <a:buChar char="•"/>
              <a:buSzPct val="75000"/>
            </a:pPr>
            <a:r>
              <a:t>buSzPct=75000 (75%)</a:t>
            </a:r>
          </a:p>
          <a:p>
            <a:pPr marL="457200" indent="-228600">
              <a:defRPr sz="1600"/>
              <a:buChar char="•"/>
              <a:buSzPts val="3200"/>
            </a:pPr>
            <a:r>
              <a:t>buSzPts=3200 (32pt)</a:t>
            </a:r>
          </a:p>
          <a:p>
            <a:pPr marL="457200" indent="-228600">
              <a:defRPr sz="1600"/>
              <a:buChar char="•"/>
              <a:buSzPts val="800"/>
            </a:pPr>
            <a:r>
              <a:t>buSzPts=800 (8pt)</a:t>
            </a:r>
          </a:p>
        </p:txBody>
      </p:sp>
      <p:sp>
        <p:nvSpPr>
          <p:cNvPr id="5" name="TextBox 4"/>
          <p:cNvSpPr txBox="1"/>
          <p:nvPr/>
        </p:nvSpPr>
        <p:spPr>
          <a:xfrm>
            <a:off x="457200" y="3840480"/>
            <a:ext cx="3657600" cy="2286000"/>
          </a:xfrm>
          <a:prstGeom prst="rect">
            <a:avLst/>
          </a:prstGeom>
          <a:solidFill>
            <a:srgbClr val="FFF5EB"/>
          </a:solidFill>
        </p:spPr>
        <p:txBody>
          <a:bodyPr wrap="square">
            <a:spAutoFit/>
          </a:bodyPr>
          <a:lstStyle/>
          <a:p>
            <a:pPr marL="457200" indent="-228600">
              <a:defRPr sz="1600"/>
              <a:buChar char="•"/>
              <a:buClr>
                <a:srgbClr val="FF0000"/>
              </a:buClr>
            </a:pPr>
            <a:r>
              <a:t>Red bullet</a:t>
            </a:r>
          </a:p>
          <a:p>
            <a:pPr marL="457200" indent="-228600">
              <a:defRPr sz="1600"/>
              <a:buChar char="•"/>
              <a:buClr>
                <a:srgbClr val="00AA00"/>
              </a:buClr>
            </a:pPr>
            <a:r>
              <a:t>Green bullet</a:t>
            </a:r>
          </a:p>
          <a:p>
            <a:pPr marL="457200" indent="-228600">
              <a:defRPr sz="1600"/>
              <a:buChar char="•"/>
              <a:buClr>
                <a:srgbClr val="0000FF"/>
              </a:buClr>
            </a:pPr>
            <a:r>
              <a:t>Blue bullet</a:t>
            </a:r>
          </a:p>
          <a:p>
            <a:pPr marL="457200" indent="-228600">
              <a:defRPr sz="1600"/>
              <a:buChar char="•"/>
            </a:pPr>
            <a:r>
              <a:t>No bullet color (inherits)</a:t>
            </a:r>
          </a:p>
        </p:txBody>
      </p:sp>
      <p:sp>
        <p:nvSpPr>
          <p:cNvPr id="6" name="TextBox 5"/>
          <p:cNvSpPr txBox="1"/>
          <p:nvPr/>
        </p:nvSpPr>
        <p:spPr>
          <a:xfrm>
            <a:off x="4572000" y="3840480"/>
            <a:ext cx="4114800" cy="2286000"/>
          </a:xfrm>
          <a:prstGeom prst="rect">
            <a:avLst/>
          </a:prstGeom>
          <a:solidFill>
            <a:srgbClr val="F5F0FF"/>
          </a:solidFill>
        </p:spPr>
        <p:txBody>
          <a:bodyPr wrap="square">
            <a:spAutoFit/>
          </a:bodyPr>
          <a:lstStyle/>
          <a:p>
            <a:pPr marL="457200" indent="-228600">
              <a:defRPr sz="1600"/>
              <a:buFont typeface="Wingdings"/>
              <a:buSzPct val="120000"/>
              <a:buClr>
                <a:srgbClr val="FF0000"/>
              </a:buClr>
              <a:buChar char="l"/>
            </a:pPr>
            <a:r>
              <a:t>Combined: Wingdings + 120% + red</a:t>
            </a:r>
          </a:p>
          <a:p>
            <a:pPr marL="457200" indent="-228600">
              <a:defRPr sz="1600"/>
              <a:buChar char="•"/>
            </a:pPr>
            <a:r>
              <a:t>Normal bullet for comparison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15: Capitalization (a:rPr cap)</a:t>
            </a:r>
          </a:p>
        </p:txBody>
      </p:sp>
      <p:sp>
        <p:nvSpPr>
          <p:cNvPr id="3" name="TextBox 2"/>
          <p:cNvSpPr txBox="1"/>
          <p:nvPr/>
        </p:nvSpPr>
        <p:spPr>
          <a:xfrm>
            <a:off x="457200" y="1097280"/>
            <a:ext cx="3657600" cy="2286000"/>
          </a:xfrm>
          <a:prstGeom prst="rect">
            <a:avLst/>
          </a:prstGeom>
          <a:solidFill>
            <a:srgbClr val="E6F5FF"/>
          </a:solidFill>
        </p:spPr>
        <p:txBody>
          <a:bodyPr wrap="square">
            <a:spAutoFit/>
          </a:bodyPr>
          <a:lstStyle/>
          <a:p>
            <a:r>
              <a:rPr sz="1800" cap="all"/>
              <a:t>cap=all: This Should Be All Caps</a:t>
            </a:r>
          </a:p>
          <a:p>
            <a:r>
              <a:rPr sz="1600"/>
              <a:t>Mixed: </a:t>
            </a:r>
            <a:r>
              <a:rPr sz="1600" cap="all"/>
              <a:t>all caps part</a:t>
            </a:r>
            <a:r>
              <a:rPr sz="1600"/>
              <a:t> and normal part</a:t>
            </a:r>
          </a:p>
          <a:p>
            <a:r>
              <a:rPr sz="1600"/>
              <a:t>No cap: Regular text for comparison</a:t>
            </a:r>
          </a:p>
        </p:txBody>
      </p:sp>
      <p:sp>
        <p:nvSpPr>
          <p:cNvPr id="4" name="TextBox 3"/>
          <p:cNvSpPr txBox="1"/>
          <p:nvPr/>
        </p:nvSpPr>
        <p:spPr>
          <a:xfrm>
            <a:off x="4572000" y="1097280"/>
            <a:ext cx="4114800" cy="2286000"/>
          </a:xfrm>
          <a:prstGeom prst="rect">
            <a:avLst/>
          </a:prstGeom>
          <a:solidFill>
            <a:srgbClr val="FFF5E6"/>
          </a:solidFill>
        </p:spPr>
        <p:txBody>
          <a:bodyPr wrap="square">
            <a:spAutoFit/>
          </a:bodyPr>
          <a:lstStyle/>
          <a:p>
            <a:r>
              <a:rPr sz="1800" cap="small"/>
              <a:t>cap=small: Small Caps Text</a:t>
            </a:r>
          </a:p>
          <a:p>
            <a:r>
              <a:rPr sz="1600"/>
              <a:t>No cap: Regular text</a:t>
            </a:r>
          </a:p>
          <a:p>
            <a:r>
              <a:rPr sz="1800" b="1" cap="small"/>
              <a:t>Bold Small Caps</a:t>
            </a:r>
          </a:p>
        </p:txBody>
      </p:sp>
      <p:sp>
        <p:nvSpPr>
          <p:cNvPr id="5" name="TextBox 4"/>
          <p:cNvSpPr txBox="1"/>
          <p:nvPr/>
        </p:nvSpPr>
        <p:spPr>
          <a:xfrm>
            <a:off x="457200" y="4114800"/>
            <a:ext cx="8229600" cy="1828800"/>
          </a:xfrm>
          <a:prstGeom prst="rect">
            <a:avLst/>
          </a:prstGeom>
          <a:noFill/>
        </p:spPr>
        <p:txBody>
          <a:bodyPr wrap="square">
            <a:spAutoFit/>
          </a:bodyPr>
          <a:lstStyle/>
          <a:p>
            <a:pPr>
              <a:defRPr sz="1200">
                <a:solidFill>
                  <a:srgbClr val="646464"/>
                </a:solidFill>
              </a:defRPr>
            </a:pPr>
            <a:r>
              <a:t>cap=all: lowercase a-z should display as UPPERCASE A-Z. cap=small: should display with SVG font-variant=small-caps.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bg>
    <p:bgPr>
      <a:solidFill>
        <a:srgbClr val="1A1A2E"/>
      </a:solidFill>
    </p:bgPr>
  </p:bg>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457200"/>
            <a:ext cx="8229600" cy="1371600"/>
          </a:xfrm>
          <a:prstGeom prst="rect">
            <a:avLst/>
          </a:prstGeom>
          <a:noFill/>
        </p:spPr>
        <p:txBody>
          <a:bodyPr wrap="square">
            <a:spAutoFit/>
          </a:bodyPr>
          <a:lstStyle/>
          <a:p>
            <a:pPr>
              <a:defRPr sz="2800" b="1"/>
            </a:pPr>
            <a:r>
              <a:rPr>
                <a:solidFill>
                  <a:schemeClr val="tx1"/>
                </a:solidFill>
              </a:rPr>
              <a:t>Color Map Override: bg1=dk1, tx1=lt1</a:t>
            </a:r>
          </a:p>
        </p:txBody>
      </p:sp>
      <p:sp>
        <p:nvSpPr>
          <p:cNvPr id="5" name="TextBox 4"/>
          <p:cNvSpPr txBox="1"/>
          <p:nvPr/>
        </p:nvSpPr>
        <p:spPr>
          <a:xfrm>
            <a:off x="457200" y="2286000"/>
            <a:ext cx="8229600" cy="1828800"/>
          </a:xfrm>
          <a:prstGeom prst="rect">
            <a:avLst/>
          </a:prstGeom>
          <a:noFill/>
        </p:spPr>
        <p:txBody>
          <a:bodyPr wrap="square">
            <a:spAutoFit/>
          </a:bodyPr>
          <a:lstStyle/>
          <a:p>
            <a:pPr>
              <a:defRPr sz="1600"/>
            </a:pPr>
            <a:r>
              <a:rPr>
                <a:solidFill>
                  <a:schemeClr val="tx1"/>
                </a:solidFill>
              </a:rPr>
              <a:t>This slide has clrMapOvr swapping bg1/tx1. Text using scheme color tx1 should appear light (white) because tx1 maps to lt1.</a:t>
            </a:r>
          </a:p>
        </p:txBody>
      </p:sp>
    </p:spTree>
  </p:cSld>
  <p:clrMapOvr>
    <a:overrideClrMapping bg1="dk1" tx1="lt1" bg2="lt2" tx2="dk2" accent1="accent1" accent2="accent2" accent3="accent3" accent4="accent4" accent5="accent5" accent6="accent6" hlink="hlink" folHlink="folHlink"/>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371600"/>
          </a:xfrm>
          <a:prstGeom prst="rect">
            <a:avLst/>
          </a:prstGeom>
          <a:noFill/>
        </p:spPr>
        <p:txBody>
          <a:bodyPr wrap="square">
            <a:spAutoFit/>
          </a:bodyPr>
          <a:lstStyle/>
          <a:p>
            <a:pPr>
              <a:defRPr sz="2400" b="1"/>
            </a:pPr>
            <a:r>
              <a:rPr>
                <a:cs typeface="Arial"/>
              </a:rPr>
              <a:t>Complex Script Font (Arabic style)</a:t>
            </a:r>
          </a:p>
        </p:txBody>
      </p:sp>
      <p:sp>
        <p:nvSpPr>
          <p:cNvPr id="3" name="TextBox 2"/>
          <p:cNvSpPr txBox="1"/>
          <p:nvPr/>
        </p:nvSpPr>
        <p:spPr>
          <a:xfrm>
            <a:off x="457200" y="2286000"/>
            <a:ext cx="8229600" cy="1371600"/>
          </a:xfrm>
          <a:prstGeom prst="rect">
            <a:avLst/>
          </a:prstGeom>
          <a:noFill/>
        </p:spPr>
        <p:txBody>
          <a:bodyPr wrap="none">
            <a:spAutoFit/>
          </a:bodyPr>
          <a:lstStyle/>
          <a:p>
            <a:pPr>
              <a:defRPr sz="2400"/>
            </a:pPr>
            <a:r>
              <a:rPr>
                <a:sym typeface="Wingdings"/>
              </a:rPr>
              <a:t>Symbol Font Text</a:t>
            </a:r>
          </a:p>
        </p:txBody>
      </p:sp>
      <p:sp>
        <p:nvSpPr>
          <p:cNvPr id="4" name="TextBox 3"/>
          <p:cNvSpPr txBox="1"/>
          <p:nvPr/>
        </p:nvSpPr>
        <p:spPr>
          <a:xfrm>
            <a:off x="457200" y="4114800"/>
            <a:ext cx="8229600" cy="1371600"/>
          </a:xfrm>
          <a:prstGeom prst="rect">
            <a:avLst/>
          </a:prstGeom>
          <a:noFill/>
        </p:spPr>
        <p:txBody>
          <a:bodyPr wrap="none">
            <a:spAutoFit/>
          </a:bodyPr>
          <a:lstStyle/>
          <a:p>
            <a:pPr>
              <a:defRPr sz="2400"/>
            </a:pPr>
            <a:r>
              <a:rPr kern="1200"/>
              <a:t>Kerning enabled at 1200 hundredths-pt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3657600" cy="1828800"/>
          </a:xfrm>
          <a:prstGeom prst="rect">
            <a:avLst/>
          </a:prstGeom>
          <a:noFill/>
        </p:spPr>
        <p:txBody>
          <a:bodyPr wrap="none" rot="2700000">
            <a:spAutoFit/>
          </a:bodyPr>
          <a:lstStyle/>
          <a:p>
            <a:pPr>
              <a:defRPr sz="2000"/>
            </a:pPr>
            <a:r>
              <a:t>Rotated text (45 degrees)</a:t>
            </a:r>
          </a:p>
        </p:txBody>
      </p:sp>
      <p:sp>
        <p:nvSpPr>
          <p:cNvPr id="3" name="TextBox 2"/>
          <p:cNvSpPr txBox="1"/>
          <p:nvPr/>
        </p:nvSpPr>
        <p:spPr>
          <a:xfrm>
            <a:off x="457200" y="2743200"/>
            <a:ext cx="8229600" cy="2743200"/>
          </a:xfrm>
          <a:prstGeom prst="rect">
            <a:avLst/>
          </a:prstGeom>
          <a:noFill/>
        </p:spPr>
        <p:txBody>
          <a:bodyPr wrap="square">
            <a:spAutoFit/>
          </a:bodyPr>
          <a:lstStyle/>
          <a:p>
            <a:pPr>
              <a:defRPr sz="1800"/>
              <a:tabLst>
                <a:tab pos="2743200" algn="l"/>
                <a:tab pos="5486400" algn="r"/>
              </a:tabLst>
            </a:pPr>
            <a:r>
              <a:t>Col1	Col2	Col3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828800" cy="4572000"/>
          </a:xfrm>
          <a:prstGeom prst="rect">
            <a:avLst/>
          </a:prstGeom>
          <a:noFill/>
        </p:spPr>
        <p:txBody>
          <a:bodyPr wrap="none" vert="vert">
            <a:spAutoFit/>
          </a:bodyPr>
          <a:lstStyle/>
          <a:p>
            <a:pPr>
              <a:defRPr sz="2000"/>
            </a:pPr>
            <a:r>
              <a:t>Vertical text</a:t>
            </a:r>
          </a:p>
        </p:txBody>
      </p:sp>
      <p:sp>
        <p:nvSpPr>
          <p:cNvPr id="3" name="TextBox 2"/>
          <p:cNvSpPr txBox="1"/>
          <p:nvPr/>
        </p:nvSpPr>
        <p:spPr>
          <a:xfrm>
            <a:off x="2743200" y="457200"/>
            <a:ext cx="1828800" cy="4572000"/>
          </a:xfrm>
          <a:prstGeom prst="rect">
            <a:avLst/>
          </a:prstGeom>
          <a:noFill/>
        </p:spPr>
        <p:txBody>
          <a:bodyPr wrap="none" vert="eaVert">
            <a:spAutoFit/>
          </a:bodyPr>
          <a:lstStyle/>
          <a:p>
            <a:pPr>
              <a:defRPr sz="2000"/>
            </a:pPr>
            <a:r>
              <a:t>EA Vertical</a:t>
            </a:r>
          </a:p>
        </p:txBody>
      </p:sp>
      <p:sp>
        <p:nvSpPr>
          <p:cNvPr id="4" name="TextBox 3"/>
          <p:cNvSpPr txBox="1"/>
          <p:nvPr/>
        </p:nvSpPr>
        <p:spPr>
          <a:xfrm>
            <a:off x="5029200" y="457200"/>
            <a:ext cx="3657600" cy="4572000"/>
          </a:xfrm>
          <a:prstGeom prst="rect">
            <a:avLst/>
          </a:prstGeom>
          <a:noFill/>
        </p:spPr>
        <p:txBody>
          <a:bodyPr wrap="square" numCol="2" spcCol="457200">
            <a:spAutoFit/>
          </a:bodyPr>
          <a:lstStyle/>
          <a:p>
            <a:pPr>
              <a:defRPr sz="1400"/>
            </a:pPr>
            <a:r>
              <a:t>This is column text that spans multiple columns. The text should flow from the first column to the second column when it reaches the bottom.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1828800"/>
          </a:xfrm>
          <a:prstGeom prst="rect">
            <a:avLst/>
          </a:prstGeom>
          <a:noFill/>
        </p:spPr>
        <p:txBody>
          <a:bodyPr wrap="square">
            <a:spAutoFit/>
          </a:bodyPr>
          <a:lstStyle/>
          <a:p>
            <a:r>
              <a:rPr sz="2000" u="sng">
                <a:solidFill>
                  <a:srgbClr val="0066CC"/>
                </a:solidFill>
                <a:hlinkClick r:id="rId2"/>
              </a:rPr>
              <a:t>Click here to visit example.com</a:t>
            </a:r>
          </a:p>
        </p:txBody>
      </p:sp>
      <p:sp>
        <p:nvSpPr>
          <p:cNvPr id="3" name="TextBox 2"/>
          <p:cNvSpPr txBox="1"/>
          <p:nvPr/>
        </p:nvSpPr>
        <p:spPr>
          <a:xfrm>
            <a:off x="457200" y="2743200"/>
            <a:ext cx="8229600" cy="1828800"/>
          </a:xfrm>
          <a:prstGeom prst="rect">
            <a:avLst/>
          </a:prstGeom>
          <a:noFill/>
        </p:spPr>
        <p:txBody>
          <a:bodyPr wrap="square">
            <a:spAutoFit/>
          </a:bodyPr>
          <a:lstStyle/>
          <a:p>
            <a:pPr rtl="1">
              <a:defRPr sz="2000"/>
            </a:pPr>
            <a:r>
              <a:t>RTL paragraph text (right-to-left)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4572000"/>
          </a:xfrm>
          <a:prstGeom prst="rect">
            <a:avLst/>
          </a:prstGeom>
          <a:noFill/>
        </p:spPr>
        <p:txBody>
          <a:bodyPr wrap="square">
            <a:spAutoFit/>
          </a:bodyPr>
          <a:lstStyle/>
          <a:p>
            <a:pPr>
              <a:defRPr sz="2000"/>
              <a:buBlip>
                <a:blip r:embed="rId2"/>
              </a:buBlip>
            </a:pPr>
            <a:r>
              <a:t>Image bullet paragraph 1</a:t>
            </a:r>
          </a:p>
          <a:p>
            <a:pPr>
              <a:buBlip>
                <a:blip r:embed="rId2"/>
              </a:buBlip>
            </a:pPr>
            <a:r>
              <a:rPr lang="en-US" sz="2000"/>
              <a:t>Image bullet paragraph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4572000"/>
          </a:xfrm>
          <a:prstGeom prst="rect">
            <a:avLst/>
          </a:prstGeom>
          <a:noFill/>
        </p:spPr>
        <p:txBody>
          <a:bodyPr wrap="square">
            <a:spAutoFit/>
          </a:bodyPr>
          <a:lstStyle/>
          <a:p>
            <a:r>
              <a:rPr sz="2400">
                <a:hlinkClick r:id="rId2"/>
              </a:rPr>
              <a:t>Click link</a:t>
            </a:r>
          </a:p>
          <a:p>
            <a:r>
              <a:rPr sz="2400">
                <a:hlinkHover r:id="rId3"/>
              </a:rPr>
              <a:t>Hover link</a:t>
            </a:r>
          </a:p>
          <a:p>
            <a:r>
              <a:rPr sz="2400">
                <a:hlinkClick r:id="rId4"/>
                <a:hlinkHover r:id="rId5"/>
              </a:rPr>
              <a:t>Both links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743200" cy="1828800"/>
          </a:xfrm>
          <a:prstGeom prst="rect">
            <a:avLst/>
          </a:prstGeom>
          <a:gradFill rotWithShape="1">
            <a:gsLst>
              <a:gs pos="0">
                <a:srgbClr val="FF0000"/>
              </a:gs>
              <a:gs pos="50000">
                <a:srgbClr val="FFFF00"/>
              </a:gs>
              <a:gs pos="100000">
                <a:srgbClr val="0000F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FFFFFF"/>
                </a:solidFill>
              </a:defRPr>
            </a:pPr>
            <a:r>
              <a:t>Linear 0deg</a:t>
            </a:r>
          </a:p>
        </p:txBody>
      </p:sp>
      <p:sp>
        <p:nvSpPr>
          <p:cNvPr id="3" name="Rectangle 2"/>
          <p:cNvSpPr/>
          <p:nvPr/>
        </p:nvSpPr>
        <p:spPr>
          <a:xfrm>
            <a:off x="3657600" y="457200"/>
            <a:ext cx="2743200" cy="1828800"/>
          </a:xfrm>
          <a:prstGeom prst="rect">
            <a:avLst/>
          </a:prstGeom>
          <a:gradFill rotWithShape="1">
            <a:gsLst>
              <a:gs pos="0">
                <a:srgbClr val="003366"/>
              </a:gs>
              <a:gs pos="100000">
                <a:srgbClr val="66CCFF"/>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FFFFFF"/>
                </a:solidFill>
              </a:defRPr>
            </a:pPr>
            <a:r>
              <a:t>Linear 90deg</a:t>
            </a:r>
          </a:p>
        </p:txBody>
      </p:sp>
      <p:sp>
        <p:nvSpPr>
          <p:cNvPr id="4" name="Rectangle 3"/>
          <p:cNvSpPr/>
          <p:nvPr/>
        </p:nvSpPr>
        <p:spPr>
          <a:xfrm>
            <a:off x="6858000" y="457200"/>
            <a:ext cx="1828800" cy="1828800"/>
          </a:xfrm>
          <a:prstGeom prst="rect">
            <a:avLst/>
          </a:prstGeom>
          <a:gradFill rotWithShape="0">
            <a:gsLst>
              <a:gs pos="0">
                <a:srgbClr val="00FF00"/>
              </a:gs>
              <a:gs pos="100000">
                <a:srgbClr val="006600"/>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Linear 45deg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743200" cy="2286000"/>
          </a:xfrm>
          <a:prstGeom prst="rect">
            <a:avLst/>
          </a:prstGeom>
          <a:gradFill rotWithShape="1">
            <a:gsLst>
              <a:gs pos="0">
                <a:srgbClr val="FFFFFF"/>
              </a:gs>
              <a:gs pos="100000">
                <a:srgbClr val="FF6600"/>
              </a:gs>
            </a:gsLst>
            <a:path path="circle">
              <a:fillToRect l="50000" t="50000" r="50000" b="50000"/>
            </a:path>
          </a:gradFill>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FFFFFF"/>
                </a:solidFill>
              </a:defRPr>
            </a:pPr>
            <a:r>
              <a:t>Radial circle</a:t>
            </a:r>
          </a:p>
        </p:txBody>
      </p:sp>
      <p:sp>
        <p:nvSpPr>
          <p:cNvPr id="3" name="Rectangle 2"/>
          <p:cNvSpPr/>
          <p:nvPr/>
        </p:nvSpPr>
        <p:spPr>
          <a:xfrm>
            <a:off x="3657600" y="457200"/>
            <a:ext cx="2743200" cy="2286000"/>
          </a:xfrm>
          <a:prstGeom prst="rect">
            <a:avLst/>
          </a:prstGeom>
          <a:gradFill rotWithShape="1">
            <a:gsLst>
              <a:gs pos="0">
                <a:srgbClr val="FFFF00"/>
              </a:gs>
              <a:gs pos="50000">
                <a:srgbClr val="FF0000"/>
              </a:gs>
              <a:gs pos="100000">
                <a:srgbClr val="660000"/>
              </a:gs>
            </a:gsLst>
            <a:path path="rect">
              <a:fillToRect l="25000" t="25000" r="75000" b="75000"/>
            </a:path>
          </a:gra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t>Radial rect</a:t>
            </a:r>
          </a:p>
        </p:txBody>
      </p:sp>
      <p:sp>
        <p:nvSpPr>
          <p:cNvPr id="4" name="Oval 3"/>
          <p:cNvSpPr/>
          <p:nvPr/>
        </p:nvSpPr>
        <p:spPr>
          <a:xfrm>
            <a:off x="6858000" y="457200"/>
            <a:ext cx="1828800" cy="2286000"/>
          </a:xfrm>
          <a:prstGeom prst="ellipse">
            <a:avLst/>
          </a:prstGeom>
          <a:gradFill>
            <a:gsLst>
              <a:gs pos="0">
                <a:srgbClr val="9933FF"/>
              </a:gs>
              <a:gs pos="100000">
                <a:srgbClr val="330066"/>
              </a:gs>
            </a:gsLst>
            <a:lin ang="1620000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defRPr>
            </a:pPr>
            <a:r>
              <a:t>Ellipse grad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gradFill>
          <a:gsLst>
            <a:gs pos="0">
              <a:srgbClr val="1B2838"/>
            </a:gs>
            <a:gs pos="50000">
              <a:srgbClr val="2A475E"/>
            </a:gs>
            <a:gs pos="100000">
              <a:srgbClr val="66C0F4"/>
            </a:gs>
          </a:gsLst>
          <a:lin ang="5400000" scaled="0"/>
        </a:gradFill>
        <a:effectLst/>
      </p:bgPr>
    </p:bg>
    <p:spTree>
      <p:nvGrpSpPr>
        <p:cNvPr id="1" name=""/>
        <p:cNvGrpSpPr/>
        <p:nvPr/>
      </p:nvGrpSpPr>
      <p:grpSpPr/>
      <p:sp>
        <p:nvSpPr>
          <p:cNvPr id="2" name="TextBox 1"/>
          <p:cNvSpPr txBox="1"/>
          <p:nvPr/>
        </p:nvSpPr>
        <p:spPr>
          <a:xfrm>
            <a:off x="914400" y="1828800"/>
            <a:ext cx="7315200" cy="2743200"/>
          </a:xfrm>
          <a:prstGeom prst="rect">
            <a:avLst/>
          </a:prstGeom>
          <a:noFill/>
        </p:spPr>
        <p:txBody>
          <a:bodyPr wrap="none">
            <a:spAutoFit/>
          </a:bodyPr>
          <a:lstStyle/>
          <a:p>
            <a:pPr algn="ctr">
              <a:defRPr sz="3600">
                <a:solidFill>
                  <a:srgbClr val="FFFFFF"/>
                </a:solidFill>
              </a:defRPr>
            </a:pPr>
            <a:r>
              <a:t>Gradient Background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743200" cy="1828800"/>
          </a:xfrm>
          <a:prstGeom prst="rect">
            <a:avLst/>
          </a:prstGeom>
          <a:solidFill>
            <a:srgbClr val="FF0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t>Alpha 50%</a:t>
            </a:r>
          </a:p>
        </p:txBody>
      </p:sp>
      <p:sp>
        <p:nvSpPr>
          <p:cNvPr id="3" name="Rectangle 2"/>
          <p:cNvSpPr/>
          <p:nvPr/>
        </p:nvSpPr>
        <p:spPr>
          <a:xfrm>
            <a:off x="3657600" y="457200"/>
            <a:ext cx="2743200" cy="1828800"/>
          </a:xfrm>
          <a:prstGeom prst="rect">
            <a:avLst/>
          </a:prstGeom>
          <a:gradFill rotWithShape="1">
            <a:gsLst>
              <a:gs pos="0">
                <a:srgbClr val="0000FF">
                  <a:alpha val="80000"/>
                </a:srgbClr>
              </a:gs>
              <a:gs pos="100000">
                <a:srgbClr val="0000FF">
                  <a:alpha val="2000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FFFFFF"/>
                </a:solidFill>
              </a:defRPr>
            </a:pPr>
            <a:r>
              <a:t>Alpha Gradient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914400"/>
            <a:ext cx="3657600" cy="2743200"/>
          </a:xfrm>
          <a:prstGeom prst="rect">
            <a:avLst/>
          </a:prstGeom>
          <a:blipFill>
            <a:blip r:embed="rId2"/>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286000" cy="1828800"/>
          </a:xfrm>
          <a:prstGeom prst="rect">
            <a:avLst/>
          </a:prstGeom>
          <a:pattFill prst="ltDnDiag">
            <a:fgClr>
              <a:srgbClr val="000000"/>
            </a:fgClr>
            <a:bgClr>
              <a:srgbClr val="FFFFFF"/>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ltDnDiag</a:t>
            </a:r>
          </a:p>
        </p:txBody>
      </p:sp>
      <p:sp>
        <p:nvSpPr>
          <p:cNvPr id="3" name="Rectangle 2"/>
          <p:cNvSpPr/>
          <p:nvPr/>
        </p:nvSpPr>
        <p:spPr>
          <a:xfrm>
            <a:off x="3200400" y="457200"/>
            <a:ext cx="2286000" cy="1828800"/>
          </a:xfrm>
          <a:prstGeom prst="rect">
            <a:avLst/>
          </a:prstGeom>
          <a:pattFill prst="smCheck">
            <a:fgClr>
              <a:srgbClr val="FF0000"/>
            </a:fgClr>
            <a:bgClr>
              <a:srgbClr val="FFFF00"/>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smCheck</a:t>
            </a:r>
          </a:p>
        </p:txBody>
      </p:sp>
      <p:sp>
        <p:nvSpPr>
          <p:cNvPr id="4" name="Rectangle 3"/>
          <p:cNvSpPr/>
          <p:nvPr/>
        </p:nvSpPr>
        <p:spPr>
          <a:xfrm>
            <a:off x="5943600" y="457200"/>
            <a:ext cx="2286000" cy="1828800"/>
          </a:xfrm>
          <a:prstGeom prst="rect">
            <a:avLst/>
          </a:prstGeom>
          <a:pattFill prst="dkHorz">
            <a:fgClr>
              <a:srgbClr val="003366"/>
            </a:fgClr>
            <a:bgClr>
              <a:srgbClr val="CCCCCC"/>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dkHorz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286000" cy="1828800"/>
          </a:xfrm>
          <a:prstGeom prst="rect">
            <a:avLst/>
          </a:prstGeom>
          <a:gradFill rotWithShape="1" tileFlip="x">
            <a:gsLst>
              <a:gs pos="0">
                <a:srgbClr val="FF0000"/>
              </a:gs>
              <a:gs pos="100000">
                <a:srgbClr val="0000F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tileFlip=x</a:t>
            </a:r>
          </a:p>
        </p:txBody>
      </p:sp>
      <p:sp>
        <p:nvSpPr>
          <p:cNvPr id="3" name="Rectangle 2"/>
          <p:cNvSpPr/>
          <p:nvPr/>
        </p:nvSpPr>
        <p:spPr>
          <a:xfrm>
            <a:off x="3200400" y="457200"/>
            <a:ext cx="2286000" cy="1828800"/>
          </a:xfrm>
          <a:prstGeom prst="rect">
            <a:avLst/>
          </a:prstGeom>
          <a:gradFill rotWithShape="1" tileFlip="y">
            <a:gsLst>
              <a:gs pos="0">
                <a:srgbClr val="00FF00"/>
              </a:gs>
              <a:gs pos="100000">
                <a:srgbClr val="FF00FF"/>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tileFlip=y</a:t>
            </a:r>
          </a:p>
        </p:txBody>
      </p:sp>
      <p:sp>
        <p:nvSpPr>
          <p:cNvPr id="4" name="Rectangle 3"/>
          <p:cNvSpPr/>
          <p:nvPr/>
        </p:nvSpPr>
        <p:spPr>
          <a:xfrm>
            <a:off x="5943600" y="457200"/>
            <a:ext cx="2286000" cy="1828800"/>
          </a:xfrm>
          <a:prstGeom prst="rect">
            <a:avLst/>
          </a:prstGeom>
          <a:gradFill rotWithShape="1" tileFlip="xy">
            <a:gsLst>
              <a:gs pos="0">
                <a:srgbClr val="FFFF00"/>
              </a:gs>
              <a:gs pos="50000">
                <a:srgbClr val="FF6600"/>
              </a:gs>
              <a:gs pos="100000">
                <a:srgbClr val="0066F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tileFlip=xy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286000" cy="1828800"/>
          </a:xfrm>
          <a:prstGeom prst="rect">
            <a:avLst/>
          </a:prstGeom>
          <a:pattFill prst="pct50">
            <a:fgClr>
              <a:srgbClr val="333333"/>
            </a:fgClr>
            <a:bgClr>
              <a:srgbClr val="CCCCCC"/>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pct50</a:t>
            </a:r>
          </a:p>
        </p:txBody>
      </p:sp>
      <p:sp>
        <p:nvSpPr>
          <p:cNvPr id="3" name="Rectangle 2"/>
          <p:cNvSpPr/>
          <p:nvPr/>
        </p:nvSpPr>
        <p:spPr>
          <a:xfrm>
            <a:off x="3200400" y="457200"/>
            <a:ext cx="2286000" cy="1828800"/>
          </a:xfrm>
          <a:prstGeom prst="rect">
            <a:avLst/>
          </a:prstGeom>
          <a:pattFill prst="dnDiag">
            <a:fgClr>
              <a:srgbClr val="000080"/>
            </a:fgClr>
            <a:bgClr>
              <a:srgbClr val="FFFFFF"/>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dnDiag</a:t>
            </a:r>
          </a:p>
        </p:txBody>
      </p:sp>
      <p:sp>
        <p:nvSpPr>
          <p:cNvPr id="4" name="Rectangle 3"/>
          <p:cNvSpPr/>
          <p:nvPr/>
        </p:nvSpPr>
        <p:spPr>
          <a:xfrm>
            <a:off x="5943600" y="457200"/>
            <a:ext cx="2286000" cy="1828800"/>
          </a:xfrm>
          <a:prstGeom prst="rect">
            <a:avLst/>
          </a:prstGeom>
          <a:pattFill prst="cross">
            <a:fgClr>
              <a:srgbClr val="FF0000"/>
            </a:fgClr>
            <a:bgClr>
              <a:srgbClr val="FFFFCC"/>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cross</a:t>
            </a:r>
          </a:p>
        </p:txBody>
      </p:sp>
      <p:sp>
        <p:nvSpPr>
          <p:cNvPr id="5" name="Rectangle 4"/>
          <p:cNvSpPr/>
          <p:nvPr/>
        </p:nvSpPr>
        <p:spPr>
          <a:xfrm>
            <a:off x="457200" y="2743200"/>
            <a:ext cx="2286000" cy="1828800"/>
          </a:xfrm>
          <a:prstGeom prst="rect">
            <a:avLst/>
          </a:prstGeom>
          <a:pattFill prst="lgCheck">
            <a:fgClr>
              <a:srgbClr val="008000"/>
            </a:fgClr>
            <a:bgClr>
              <a:srgbClr val="FFFFFF"/>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lgCheck</a:t>
            </a:r>
          </a:p>
        </p:txBody>
      </p:sp>
      <p:sp>
        <p:nvSpPr>
          <p:cNvPr id="6" name="Rectangle 5"/>
          <p:cNvSpPr/>
          <p:nvPr/>
        </p:nvSpPr>
        <p:spPr>
          <a:xfrm>
            <a:off x="3200400" y="2743200"/>
            <a:ext cx="2286000" cy="1828800"/>
          </a:xfrm>
          <a:prstGeom prst="rect">
            <a:avLst/>
          </a:prstGeom>
          <a:pattFill prst="solidDmnd">
            <a:fgClr>
              <a:srgbClr val="800080"/>
            </a:fgClr>
            <a:bgClr>
              <a:srgbClr val="FFE0FF"/>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solidDmnd</a:t>
            </a:r>
          </a:p>
        </p:txBody>
      </p:sp>
      <p:sp>
        <p:nvSpPr>
          <p:cNvPr id="7" name="Rectangle 6"/>
          <p:cNvSpPr/>
          <p:nvPr/>
        </p:nvSpPr>
        <p:spPr>
          <a:xfrm>
            <a:off x="5943600" y="2743200"/>
            <a:ext cx="2286000" cy="1828800"/>
          </a:xfrm>
          <a:prstGeom prst="rect">
            <a:avLst/>
          </a:prstGeom>
          <a:pattFill prst="trellis">
            <a:fgClr>
              <a:srgbClr val="004040"/>
            </a:fgClr>
            <a:bgClr>
              <a:srgbClr val="E0FFFF"/>
            </a:bgClr>
          </a:patt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trellis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3657600" cy="2743200"/>
          </a:xfrm>
          <a:prstGeom prst="rect">
            <a:avLst/>
          </a:prstGeom>
          <a:blipFill>
            <a:blip r:embed="rId2"/>
            <a:tile tx="0" ty="0" sx="50000" sy="50000" flip="xy" algn="tl"/>
          </a:blip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Tile fill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000" b="1"/>
            </a:pPr>
            <a:r>
              <a:t>Slide 32: Line Stroke Styles</a:t>
            </a:r>
          </a:p>
        </p:txBody>
      </p:sp>
      <p:sp>
        <p:nvSpPr>
          <p:cNvPr id="3" name="Rectangle 2"/>
          <p:cNvSpPr/>
          <p:nvPr/>
        </p:nvSpPr>
        <p:spPr>
          <a:xfrm>
            <a:off x="914400" y="914400"/>
            <a:ext cx="7315200" cy="0"/>
          </a:xfrm>
          <a:prstGeom prst="line">
            <a:avLst/>
          </a:prstGeom>
          <a:noFill/>
          <a:ln w="25400">
            <a:solidFill>
              <a:srgbClr val="0000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85800"/>
            <a:ext cx="731520" cy="274320"/>
          </a:xfrm>
          <a:prstGeom prst="rect">
            <a:avLst/>
          </a:prstGeom>
          <a:noFill/>
        </p:spPr>
        <p:txBody>
          <a:bodyPr wrap="none">
            <a:spAutoFit/>
          </a:bodyPr>
          <a:lstStyle/>
          <a:p>
            <a:pPr>
              <a:defRPr sz="900">
                <a:solidFill>
                  <a:srgbClr val="FFFFFF"/>
                </a:solidFill>
              </a:defRPr>
            </a:pPr>
            <a:r>
              <a:t>dash</a:t>
            </a:r>
          </a:p>
        </p:txBody>
      </p:sp>
      <p:sp>
        <p:nvSpPr>
          <p:cNvPr id="5" name="Rectangle 4"/>
          <p:cNvSpPr/>
          <p:nvPr/>
        </p:nvSpPr>
        <p:spPr>
          <a:xfrm>
            <a:off x="914400" y="1737360"/>
            <a:ext cx="7315200" cy="0"/>
          </a:xfrm>
          <a:prstGeom prst="line">
            <a:avLst/>
          </a:prstGeom>
          <a:noFill/>
          <a:ln w="25400">
            <a:solidFill>
              <a:srgbClr val="0066CC"/>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508760"/>
            <a:ext cx="731520" cy="274320"/>
          </a:xfrm>
          <a:prstGeom prst="rect">
            <a:avLst/>
          </a:prstGeom>
          <a:noFill/>
        </p:spPr>
        <p:txBody>
          <a:bodyPr wrap="none">
            <a:spAutoFit/>
          </a:bodyPr>
          <a:lstStyle/>
          <a:p>
            <a:pPr>
              <a:defRPr sz="900">
                <a:solidFill>
                  <a:srgbClr val="FFFFFF"/>
                </a:solidFill>
              </a:defRPr>
            </a:pPr>
            <a:r>
              <a:t>dot</a:t>
            </a:r>
          </a:p>
        </p:txBody>
      </p:sp>
      <p:sp>
        <p:nvSpPr>
          <p:cNvPr id="7" name="Rectangle 6"/>
          <p:cNvSpPr/>
          <p:nvPr/>
        </p:nvSpPr>
        <p:spPr>
          <a:xfrm>
            <a:off x="914400" y="2560320"/>
            <a:ext cx="7315200" cy="0"/>
          </a:xfrm>
          <a:prstGeom prst="line">
            <a:avLst/>
          </a:prstGeom>
          <a:noFill/>
          <a:ln w="25400">
            <a:solidFill>
              <a:srgbClr val="009900"/>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2331720"/>
            <a:ext cx="731520" cy="274320"/>
          </a:xfrm>
          <a:prstGeom prst="rect">
            <a:avLst/>
          </a:prstGeom>
          <a:noFill/>
        </p:spPr>
        <p:txBody>
          <a:bodyPr wrap="none">
            <a:spAutoFit/>
          </a:bodyPr>
          <a:lstStyle/>
          <a:p>
            <a:pPr>
              <a:defRPr sz="900">
                <a:solidFill>
                  <a:srgbClr val="FFFFFF"/>
                </a:solidFill>
              </a:defRPr>
            </a:pPr>
            <a:r>
              <a:t>dashDot</a:t>
            </a:r>
          </a:p>
        </p:txBody>
      </p:sp>
      <p:sp>
        <p:nvSpPr>
          <p:cNvPr id="9" name="Rectangle 8"/>
          <p:cNvSpPr/>
          <p:nvPr/>
        </p:nvSpPr>
        <p:spPr>
          <a:xfrm>
            <a:off x="914400" y="3383280"/>
            <a:ext cx="7315200" cy="0"/>
          </a:xfrm>
          <a:prstGeom prst="line">
            <a:avLst/>
          </a:prstGeom>
          <a:noFill/>
          <a:ln w="25400">
            <a:solidFill>
              <a:srgbClr val="CC660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3154680"/>
            <a:ext cx="731520" cy="274320"/>
          </a:xfrm>
          <a:prstGeom prst="rect">
            <a:avLst/>
          </a:prstGeom>
          <a:noFill/>
        </p:spPr>
        <p:txBody>
          <a:bodyPr wrap="none">
            <a:spAutoFit/>
          </a:bodyPr>
          <a:lstStyle/>
          <a:p>
            <a:pPr>
              <a:defRPr sz="900">
                <a:solidFill>
                  <a:srgbClr val="FFFFFF"/>
                </a:solidFill>
              </a:defRPr>
            </a:pPr>
            <a:r>
              <a:t>lgDash</a:t>
            </a:r>
          </a:p>
        </p:txBody>
      </p:sp>
      <p:sp>
        <p:nvSpPr>
          <p:cNvPr id="11" name="Rectangle 10"/>
          <p:cNvSpPr/>
          <p:nvPr/>
        </p:nvSpPr>
        <p:spPr>
          <a:xfrm>
            <a:off x="914400" y="4206240"/>
            <a:ext cx="7315200" cy="0"/>
          </a:xfrm>
          <a:prstGeom prst="line">
            <a:avLst/>
          </a:prstGeom>
          <a:noFill/>
          <a:ln w="25400">
            <a:solidFill>
              <a:srgbClr val="990099"/>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3977639"/>
            <a:ext cx="731520" cy="274320"/>
          </a:xfrm>
          <a:prstGeom prst="rect">
            <a:avLst/>
          </a:prstGeom>
          <a:noFill/>
        </p:spPr>
        <p:txBody>
          <a:bodyPr wrap="none">
            <a:spAutoFit/>
          </a:bodyPr>
          <a:lstStyle/>
          <a:p>
            <a:pPr>
              <a:defRPr sz="900">
                <a:solidFill>
                  <a:srgbClr val="FFFFFF"/>
                </a:solidFill>
              </a:defRPr>
            </a:pPr>
            <a:r>
              <a:t>sysDot</a:t>
            </a:r>
          </a:p>
        </p:txBody>
      </p:sp>
      <p:sp>
        <p:nvSpPr>
          <p:cNvPr id="13" name="Rectangle 12"/>
          <p:cNvSpPr/>
          <p:nvPr/>
        </p:nvSpPr>
        <p:spPr>
          <a:xfrm>
            <a:off x="914400" y="5029200"/>
            <a:ext cx="7315200" cy="0"/>
          </a:xfrm>
          <a:prstGeom prst="line">
            <a:avLst/>
          </a:prstGeom>
          <a:noFill/>
          <a:ln w="25400">
            <a:solidFill>
              <a:srgbClr val="CC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4800600"/>
            <a:ext cx="731520" cy="274320"/>
          </a:xfrm>
          <a:prstGeom prst="rect">
            <a:avLst/>
          </a:prstGeom>
          <a:noFill/>
        </p:spPr>
        <p:txBody>
          <a:bodyPr wrap="none">
            <a:spAutoFit/>
          </a:bodyPr>
          <a:lstStyle/>
          <a:p>
            <a:pPr>
              <a:defRPr sz="900">
                <a:solidFill>
                  <a:srgbClr val="FFFFFF"/>
                </a:solidFill>
              </a:defRPr>
            </a:pPr>
            <a:r>
              <a:t>sysDash</a:t>
            </a:r>
          </a:p>
        </p:txBody>
      </p:sp>
      <p:sp>
        <p:nvSpPr>
          <p:cNvPr id="15" name="Rectangle 14"/>
          <p:cNvSpPr/>
          <p:nvPr/>
        </p:nvSpPr>
        <p:spPr>
          <a:xfrm>
            <a:off x="914400" y="5852160"/>
            <a:ext cx="7315200" cy="0"/>
          </a:xfrm>
          <a:prstGeom prst="line">
            <a:avLst/>
          </a:prstGeom>
          <a:noFill/>
          <a:ln w="25400">
            <a:solidFill>
              <a:srgbClr val="FF6600"/>
            </a:solidFill>
            <a:custDash>
              <a:ds d="400000" sp="100000"/>
              <a:ds d="100000" sp="100000"/>
            </a:cust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 y="5623560"/>
            <a:ext cx="731520" cy="274320"/>
          </a:xfrm>
          <a:prstGeom prst="rect">
            <a:avLst/>
          </a:prstGeom>
          <a:noFill/>
        </p:spPr>
        <p:txBody>
          <a:bodyPr wrap="none">
            <a:spAutoFit/>
          </a:bodyPr>
          <a:lstStyle/>
          <a:p>
            <a:pPr>
              <a:defRPr sz="900">
                <a:solidFill>
                  <a:srgbClr val="FFFFFF"/>
                </a:solidFill>
              </a:defRPr>
            </a:pPr>
            <a:r>
              <a:t>custDash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000" b="1"/>
            </a:pPr>
            <a:r>
              <a:t>Slide 33: Arrow Lines</a:t>
            </a:r>
          </a:p>
        </p:txBody>
      </p:sp>
      <p:sp>
        <p:nvSpPr>
          <p:cNvPr id="3" name="Rectangle 2"/>
          <p:cNvSpPr/>
          <p:nvPr/>
        </p:nvSpPr>
        <p:spPr>
          <a:xfrm>
            <a:off x="457200" y="1097280"/>
            <a:ext cx="3657600" cy="0"/>
          </a:xfrm>
          <a:prstGeom prst="line">
            <a:avLst/>
          </a:prstGeom>
          <a:noFill/>
          <a:ln w="25400">
            <a:solidFill>
              <a:srgbClr val="FF0000"/>
            </a:solidFill>
            <a:headEnd type="triangle" w="med" len="med"/>
            <a:tailEnd type="stealth" w="lg" len="lg"/>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3657600" cy="274320"/>
          </a:xfrm>
          <a:prstGeom prst="rect">
            <a:avLst/>
          </a:prstGeom>
          <a:noFill/>
        </p:spPr>
        <p:txBody>
          <a:bodyPr wrap="none">
            <a:spAutoFit/>
          </a:bodyPr>
          <a:lstStyle/>
          <a:p>
            <a:pPr>
              <a:defRPr sz="900">
                <a:solidFill>
                  <a:srgbClr val="FFFFFF"/>
                </a:solidFill>
              </a:defRPr>
            </a:pPr>
            <a:r>
              <a:t>triangle head + stealth tail</a:t>
            </a:r>
          </a:p>
        </p:txBody>
      </p:sp>
      <p:sp>
        <p:nvSpPr>
          <p:cNvPr id="5" name="Rectangle 4"/>
          <p:cNvSpPr/>
          <p:nvPr/>
        </p:nvSpPr>
        <p:spPr>
          <a:xfrm>
            <a:off x="457200" y="1828800"/>
            <a:ext cx="3657600" cy="0"/>
          </a:xfrm>
          <a:prstGeom prst="line">
            <a:avLst/>
          </a:prstGeom>
          <a:noFill/>
          <a:ln w="19050">
            <a:solidFill>
              <a:srgbClr val="008000"/>
            </a:solidFill>
            <a:headEnd type="diamond" w="med" len="med"/>
            <a:tailEnd type="oval"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20240"/>
            <a:ext cx="3657600" cy="274320"/>
          </a:xfrm>
          <a:prstGeom prst="rect">
            <a:avLst/>
          </a:prstGeom>
          <a:noFill/>
        </p:spPr>
        <p:txBody>
          <a:bodyPr wrap="none">
            <a:spAutoFit/>
          </a:bodyPr>
          <a:lstStyle/>
          <a:p>
            <a:pPr>
              <a:defRPr sz="900">
                <a:solidFill>
                  <a:srgbClr val="FFFFFF"/>
                </a:solidFill>
              </a:defRPr>
            </a:pPr>
            <a:r>
              <a:t>diamond head + oval tail</a:t>
            </a:r>
          </a:p>
        </p:txBody>
      </p:sp>
      <p:sp>
        <p:nvSpPr>
          <p:cNvPr id="7" name="Rectangle 6"/>
          <p:cNvSpPr/>
          <p:nvPr/>
        </p:nvSpPr>
        <p:spPr>
          <a:xfrm>
            <a:off x="457200" y="2560320"/>
            <a:ext cx="3657600" cy="0"/>
          </a:xfrm>
          <a:prstGeom prst="line">
            <a:avLst/>
          </a:prstGeom>
          <a:noFill/>
          <a:ln w="25400">
            <a:solidFill>
              <a:srgbClr val="0000FF"/>
            </a:solidFill>
            <a:headEnd type="arrow" w="med" len="med"/>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51760"/>
            <a:ext cx="3657600" cy="274320"/>
          </a:xfrm>
          <a:prstGeom prst="rect">
            <a:avLst/>
          </a:prstGeom>
          <a:noFill/>
        </p:spPr>
        <p:txBody>
          <a:bodyPr wrap="none">
            <a:spAutoFit/>
          </a:bodyPr>
          <a:lstStyle/>
          <a:p>
            <a:pPr>
              <a:defRPr sz="900">
                <a:solidFill>
                  <a:srgbClr val="FFFFFF"/>
                </a:solidFill>
              </a:defRPr>
            </a:pPr>
            <a:r>
              <a:t>arrow head + triangle tail (sm)</a:t>
            </a:r>
          </a:p>
        </p:txBody>
      </p:sp>
      <p:sp>
        <p:nvSpPr>
          <p:cNvPr id="9" name="Rectangle 8"/>
          <p:cNvSpPr/>
          <p:nvPr/>
        </p:nvSpPr>
        <p:spPr>
          <a:xfrm>
            <a:off x="4572000" y="1097280"/>
            <a:ext cx="4114800" cy="0"/>
          </a:xfrm>
          <a:prstGeom prst="line">
            <a:avLst/>
          </a:prstGeom>
          <a:noFill/>
          <a:ln w="38100" cap="rnd">
            <a:solidFill>
              <a:srgbClr val="800080"/>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188720"/>
            <a:ext cx="4114800" cy="274320"/>
          </a:xfrm>
          <a:prstGeom prst="rect">
            <a:avLst/>
          </a:prstGeom>
          <a:noFill/>
        </p:spPr>
        <p:txBody>
          <a:bodyPr wrap="none">
            <a:spAutoFit/>
          </a:bodyPr>
          <a:lstStyle/>
          <a:p>
            <a:pPr>
              <a:defRPr sz="900">
                <a:solidFill>
                  <a:srgbClr val="FFFFFF"/>
                </a:solidFill>
              </a:defRPr>
            </a:pPr>
            <a:r>
              <a:t>dash + round cap + round join</a:t>
            </a:r>
          </a:p>
        </p:txBody>
      </p:sp>
      <p:sp>
        <p:nvSpPr>
          <p:cNvPr id="11" name="Rectangle 10"/>
          <p:cNvSpPr/>
          <p:nvPr/>
        </p:nvSpPr>
        <p:spPr>
          <a:xfrm>
            <a:off x="4572000" y="1828800"/>
            <a:ext cx="4114800" cy="0"/>
          </a:xfrm>
          <a:prstGeom prst="line">
            <a:avLst/>
          </a:prstGeom>
          <a:noFill/>
          <a:ln w="25400" cap="sq">
            <a:solidFill>
              <a:srgbClr val="006699"/>
            </a:solidFill>
            <a:prstDash val="lgDash"/>
            <a:beve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20240"/>
            <a:ext cx="4114800" cy="274320"/>
          </a:xfrm>
          <a:prstGeom prst="rect">
            <a:avLst/>
          </a:prstGeom>
          <a:noFill/>
        </p:spPr>
        <p:txBody>
          <a:bodyPr wrap="none">
            <a:spAutoFit/>
          </a:bodyPr>
          <a:lstStyle/>
          <a:p>
            <a:pPr>
              <a:defRPr sz="900">
                <a:solidFill>
                  <a:srgbClr val="FFFFFF"/>
                </a:solidFill>
              </a:defRPr>
            </a:pPr>
            <a:r>
              <a:t>lgDash + sq cap + bevel join</a:t>
            </a:r>
          </a:p>
        </p:txBody>
      </p:sp>
      <p:sp>
        <p:nvSpPr>
          <p:cNvPr id="13" name="Rectangle 12"/>
          <p:cNvSpPr/>
          <p:nvPr/>
        </p:nvSpPr>
        <p:spPr>
          <a:xfrm>
            <a:off x="4572000" y="2560320"/>
            <a:ext cx="4114800" cy="0"/>
          </a:xfrm>
          <a:prstGeom prst="line">
            <a:avLst/>
          </a:prstGeom>
          <a:noFill/>
          <a:ln w="25400">
            <a:solidFill>
              <a:srgbClr val="FF6600"/>
            </a:solidFill>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651760"/>
            <a:ext cx="4114800" cy="274320"/>
          </a:xfrm>
          <a:prstGeom prst="rect">
            <a:avLst/>
          </a:prstGeom>
          <a:noFill/>
        </p:spPr>
        <p:txBody>
          <a:bodyPr wrap="none">
            <a:spAutoFit/>
          </a:bodyPr>
          <a:lstStyle/>
          <a:p>
            <a:pPr>
              <a:defRPr sz="900">
                <a:solidFill>
                  <a:srgbClr val="FFFFFF"/>
                </a:solidFill>
              </a:defRPr>
            </a:pPr>
            <a:r>
              <a:t>miter join (lim=800000)</a:t>
            </a:r>
          </a:p>
        </p:txBody>
      </p:sp>
      <p:sp>
        <p:nvSpPr>
          <p:cNvPr id="15" name="Rectangle 14"/>
          <p:cNvSpPr/>
          <p:nvPr/>
        </p:nvSpPr>
        <p:spPr>
          <a:xfrm>
            <a:off x="457200" y="3657600"/>
            <a:ext cx="3657600" cy="1828800"/>
          </a:xfrm>
          <a:prstGeom prst="rect">
            <a:avLst/>
          </a:prstGeom>
          <a:ln w="25400" cap="rnd">
            <a:solidFill>
              <a:srgbClr val="FF00FF"/>
            </a:solidFill>
            <a:prstDash val="dashDot"/>
            <a:round/>
          </a:ln>
        </p:spPr>
        <p:style>
          <a:lnRef idx="1">
            <a:schemeClr val="accent1"/>
          </a:lnRef>
          <a:fillRef idx="3">
            <a:schemeClr val="accent1"/>
          </a:fillRef>
          <a:effectRef idx="2">
            <a:schemeClr val="accent1"/>
          </a:effectRef>
          <a:fontRef idx="minor">
            <a:schemeClr val="lt1"/>
          </a:fontRef>
        </p:style>
        <p:txBody>
          <a:bodyPr rtlCol="0" anchor="ctr"/>
          <a:lstStyle/>
          <a:p>
            <a:pPr>
              <a:defRPr sz="1200"/>
            </a:pPr>
            <a:r>
              <a:t>Rect: dashDot + rnd cap</a:t>
            </a:r>
          </a:p>
        </p:txBody>
      </p:sp>
      <p:sp>
        <p:nvSpPr>
          <p:cNvPr id="16" name="Rectangle 15"/>
          <p:cNvSpPr/>
          <p:nvPr/>
        </p:nvSpPr>
        <p:spPr>
          <a:xfrm>
            <a:off x="4572000" y="3657600"/>
            <a:ext cx="4114800" cy="731520"/>
          </a:xfrm>
          <a:prstGeom prst="rect">
            <a:avLst/>
          </a:prstGeom>
          <a:ln w="38100" cmpd="dbl">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defRPr sz="1200"/>
            </a:pPr>
            <a:r>
              <a:t>Compound: dbl</a:t>
            </a:r>
          </a:p>
        </p:txBody>
      </p:sp>
      <p:sp>
        <p:nvSpPr>
          <p:cNvPr id="17" name="Rectangle 16"/>
          <p:cNvSpPr/>
          <p:nvPr/>
        </p:nvSpPr>
        <p:spPr>
          <a:xfrm>
            <a:off x="4572000" y="4754880"/>
            <a:ext cx="4114800" cy="731520"/>
          </a:xfrm>
          <a:prstGeom prst="rect">
            <a:avLst/>
          </a:prstGeom>
          <a:ln w="25400">
            <a:noFill/>
          </a:ln>
        </p:spPr>
        <p:style>
          <a:lnRef idx="1">
            <a:schemeClr val="accent1"/>
          </a:lnRef>
          <a:fillRef idx="3">
            <a:schemeClr val="accent1"/>
          </a:fillRef>
          <a:effectRef idx="2">
            <a:schemeClr val="accent1"/>
          </a:effectRef>
          <a:fontRef idx="minor">
            <a:schemeClr val="lt1"/>
          </a:fontRef>
        </p:style>
        <p:txBody>
          <a:bodyPr rtlCol="0" anchor="ctr"/>
          <a:lstStyle/>
          <a:p>
            <a:pPr>
              <a:defRPr sz="1200"/>
            </a:pPr>
            <a:r>
              <a:t>Line noFill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34: Group Shapes</a:t>
            </a:r>
          </a:p>
        </p:txBody>
      </p:sp>
      <p:grpSp>
        <p:nvGrpSpPr>
          <p:cNvPr id="100" name="Group 1"/>
          <p:cNvGrpSpPr/>
          <p:nvPr/>
        </p:nvGrpSpPr>
        <p:grpSpPr>
          <a:xfrm>
            <a:off x="457200" y="1371600"/>
            <a:ext cx="3657600" cy="2743200"/>
            <a:chOff x="0" y="0"/>
            <a:chExt cx="3657600" cy="2743200"/>
          </a:xfrm>
        </p:grpSpPr>
        <p:sp>
          <p:nvSpPr>
            <p:cNvPr id="101" name="Rect1"/>
            <p:cNvSpPr/>
            <p:nvPr/>
          </p:nvSpPr>
          <p:spPr>
            <a:xfrm>
              <a:off x="0" y="0"/>
              <a:ext cx="1828800" cy="1371600"/>
            </a:xfrm>
            <a:prstGeom prst="rect">
              <a:avLst/>
            </a:prstGeom>
            <a:solidFill>
              <a:srgbClr val="FF6B6B"/>
            </a:solidFill>
            <a:ln w="12700">
              <a:solidFill>
                <a:srgbClr val="333333"/>
              </a:solidFill>
            </a:ln>
          </p:spPr>
          <p:txBody>
            <a:bodyPr/>
            <a:lstStyle/>
            <a:p>
              <a:r>
                <a:rPr lang="en-US" sz="1400"/>
                <a:t>Child 1 (red)</a:t>
              </a:r>
            </a:p>
          </p:txBody>
        </p:sp>
        <p:sp>
          <p:nvSpPr>
            <p:cNvPr id="102" name="Rect2"/>
            <p:cNvSpPr/>
            <p:nvPr/>
          </p:nvSpPr>
          <p:spPr>
            <a:xfrm>
              <a:off x="1828800" y="1371600"/>
              <a:ext cx="1828800" cy="1371600"/>
            </a:xfrm>
            <a:prstGeom prst="ellipse">
              <a:avLst/>
            </a:prstGeom>
            <a:solidFill>
              <a:srgbClr val="4ECDC4"/>
            </a:solidFill>
            <a:ln w="12700">
              <a:solidFill>
                <a:srgbClr val="333333"/>
              </a:solidFill>
            </a:ln>
          </p:spPr>
          <p:txBody>
            <a:bodyPr/>
            <a:lstStyle/>
            <a:p>
              <a:r>
                <a:rPr lang="en-US" sz="1400"/>
                <a:t>Child 2 (teal)</a:t>
              </a:r>
            </a:p>
          </p:txBody>
        </p:sp>
      </p:grpSp>
      <p:grpSp>
        <p:nvGrpSpPr>
          <p:cNvPr id="200" name="Outer Group"/>
          <p:cNvGrpSpPr/>
          <p:nvPr/>
        </p:nvGrpSpPr>
        <p:grpSpPr>
          <a:xfrm>
            <a:off x="4572000" y="1371600"/>
            <a:ext cx="4572000" cy="2743200"/>
            <a:chOff x="0" y="0"/>
            <a:chExt cx="4572000" cy="2743200"/>
          </a:xfrm>
        </p:grpSpPr>
        <p:sp>
          <p:nvSpPr>
            <p:cNvPr id="201" name="Outer Rect"/>
            <p:cNvSpPr/>
            <p:nvPr/>
          </p:nvSpPr>
          <p:spPr>
            <a:xfrm>
              <a:off x="0" y="0"/>
              <a:ext cx="4572000" cy="2743200"/>
            </a:xfrm>
            <a:prstGeom prst="rect">
              <a:avLst/>
            </a:prstGeom>
            <a:solidFill>
              <a:srgbClr val="E8E8E8"/>
            </a:solidFill>
            <a:ln w="12700">
              <a:solidFill>
                <a:srgbClr val="999999"/>
              </a:solidFill>
            </a:ln>
          </p:spPr>
          <p:txBody>
            <a:bodyPr/>
            <a:lstStyle/>
            <a:p>
              <a:r>
                <a:rPr lang="en-US" sz="1200"/>
                <a:t>Outer bg</a:t>
              </a:r>
            </a:p>
          </p:txBody>
        </p:sp>
        <p:grpSp>
          <p:nvGrpSpPr>
            <p:cNvPr id="210" name="Inner Group"/>
            <p:cNvGrpSpPr/>
            <p:nvPr/>
          </p:nvGrpSpPr>
          <p:grpSpPr>
            <a:xfrm>
              <a:off x="457200" y="457200"/>
              <a:ext cx="3657600" cy="1828800"/>
              <a:chOff x="0" y="0"/>
              <a:chExt cx="3657600" cy="1828800"/>
            </a:xfrm>
          </p:grpSpPr>
          <p:sp>
            <p:nvSpPr>
              <p:cNvPr id="211" name="Inner Circle"/>
              <p:cNvSpPr/>
              <p:nvPr/>
            </p:nvSpPr>
            <p:spPr>
              <a:xfrm>
                <a:off x="0" y="0"/>
                <a:ext cx="1828800" cy="1828800"/>
              </a:xfrm>
              <a:prstGeom prst="ellipse">
                <a:avLst/>
              </a:prstGeom>
              <a:solidFill>
                <a:srgbClr val="FFD93D"/>
              </a:solidFill>
            </p:spPr>
            <p:txBody>
              <a:bodyPr anchor="ctr"/>
              <a:lstStyle/>
              <a:p>
                <a:pPr algn="ctr"/>
                <a:r>
                  <a:rPr lang="en-US" sz="1400" b="1"/>
                  <a:t>Nested A</a:t>
                </a:r>
              </a:p>
            </p:txBody>
          </p:sp>
          <p:sp>
            <p:nvSpPr>
              <p:cNvPr id="212" name="Inner Rect"/>
              <p:cNvSpPr/>
              <p:nvPr/>
            </p:nvSpPr>
            <p:spPr>
              <a:xfrm>
                <a:off x="1828800" y="0"/>
                <a:ext cx="1828800" cy="1828800"/>
              </a:xfrm>
              <a:prstGeom prst="roundRect">
                <a:avLst/>
              </a:prstGeom>
              <a:solidFill>
                <a:srgbClr val="6C5CE7"/>
              </a:solidFill>
            </p:spPr>
            <p:txBody>
              <a:bodyPr anchor="ctr"/>
              <a:lstStyle/>
              <a:p>
                <a:pPr algn="ctr"/>
                <a:r>
                  <a:rPr lang="en-US" sz="1400" b="1">
                    <a:solidFill>
                      <a:srgbClr val="FFFFFF"/>
                    </a:solidFill>
                  </a:rPr>
                  <a:t>Nested B</a:t>
                </a:r>
              </a:p>
            </p:txBody>
          </p:sp>
        </p:grpSp>
      </p:grpSp>
      <p:sp>
        <p:nvSpPr>
          <p:cNvPr id="213" name="TextBox 212"/>
          <p:cNvSpPr txBox="1"/>
          <p:nvPr/>
        </p:nvSpPr>
        <p:spPr>
          <a:xfrm>
            <a:off x="457200" y="5029200"/>
            <a:ext cx="8229600" cy="914400"/>
          </a:xfrm>
          <a:prstGeom prst="rect">
            <a:avLst/>
          </a:prstGeom>
          <a:noFill/>
        </p:spPr>
        <p:txBody>
          <a:bodyPr wrap="none">
            <a:spAutoFit/>
          </a:bodyPr>
          <a:lstStyle/>
          <a:p>
            <a:pPr>
              <a:defRPr sz="1200">
                <a:solidFill>
                  <a:srgbClr val="646464"/>
                </a:solidFill>
              </a:defRPr>
            </a:pPr>
            <a:r>
              <a:t>Left: simple group (red rect + teal ellipse). Right: nested group (outer bg + inner circle + rounded rect).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400" b="1"/>
            </a:pPr>
            <a:r>
              <a:t>Slide 35: Connectors (p:cxnSp)</a:t>
            </a:r>
          </a:p>
        </p:txBody>
      </p:sp>
      <p:cxnSp>
        <p:nvCxnSpPr>
          <p:cNvPr id="300" name="Straight Connector"/>
          <p:cNvCxnSpPr/>
          <p:nvPr/>
        </p:nvCxnSpPr>
        <p:spPr>
          <a:xfrm>
            <a:off x="457200" y="1371600"/>
            <a:ext cx="3657600" cy="0"/>
          </a:xfrm>
          <a:prstGeom prst="straightConnector1">
            <a:avLst/>
          </a:prstGeom>
          <a:ln w="25400">
            <a:solidFill>
              <a:srgbClr val="FF0000"/>
            </a:solidFill>
            <a:tailEnd type="triangle"/>
          </a:ln>
        </p:spPr>
      </p:cxnSp>
      <p:cxnSp>
        <p:nvCxnSpPr>
          <p:cNvPr id="301" name="Diagonal Connector"/>
          <p:cNvCxnSpPr/>
          <p:nvPr/>
        </p:nvCxnSpPr>
        <p:spPr>
          <a:xfrm>
            <a:off x="457200" y="2286000"/>
            <a:ext cx="3657600" cy="1828800"/>
          </a:xfrm>
          <a:prstGeom prst="straightConnector1">
            <a:avLst/>
          </a:prstGeom>
          <a:ln w="19050">
            <a:solidFill>
              <a:srgbClr val="0066CC"/>
            </a:solidFill>
            <a:prstDash val="dash"/>
            <a:headEnd type="diamond"/>
            <a:tailEnd type="stealth"/>
          </a:ln>
        </p:spPr>
      </p:cxnSp>
      <p:cxnSp>
        <p:nvCxnSpPr>
          <p:cNvPr id="302" name="Bent Connector"/>
          <p:cNvCxnSpPr/>
          <p:nvPr/>
        </p:nvCxnSpPr>
        <p:spPr>
          <a:xfrm>
            <a:off x="5029200" y="1371600"/>
            <a:ext cx="3657600" cy="1371600"/>
          </a:xfrm>
          <a:prstGeom prst="bentConnector3">
            <a:avLst>
              <a:gd name="adj1" fmla="val 50000"/>
            </a:avLst>
          </a:prstGeom>
          <a:ln w="25400">
            <a:solidFill>
              <a:srgbClr val="009900"/>
            </a:solidFill>
            <a:tailEnd type="triangle"/>
          </a:ln>
        </p:spPr>
      </p:cxnSp>
      <p:cxnSp>
        <p:nvCxnSpPr>
          <p:cNvPr id="303" name="Curved Connector"/>
          <p:cNvCxnSpPr/>
          <p:nvPr/>
        </p:nvCxnSpPr>
        <p:spPr>
          <a:xfrm>
            <a:off x="5029200" y="3200400"/>
            <a:ext cx="3657600" cy="1371600"/>
          </a:xfrm>
          <a:prstGeom prst="curvedConnector3">
            <a:avLst>
              <a:gd name="adj1" fmla="val 50000"/>
            </a:avLst>
          </a:prstGeom>
          <a:ln w="25400">
            <a:solidFill>
              <a:srgbClr val="FF6600"/>
            </a:solidFill>
            <a:headEnd type="oval"/>
            <a:tailEnd type="arrow"/>
          </a:ln>
        </p:spPr>
      </p:cxnSp>
      <p:sp>
        <p:nvSpPr>
          <p:cNvPr id="304" name="TextBox 303"/>
          <p:cNvSpPr txBox="1"/>
          <p:nvPr/>
        </p:nvSpPr>
        <p:spPr>
          <a:xfrm>
            <a:off x="457200" y="5029200"/>
            <a:ext cx="8229600" cy="914400"/>
          </a:xfrm>
          <a:prstGeom prst="rect">
            <a:avLst/>
          </a:prstGeom>
          <a:noFill/>
        </p:spPr>
        <p:txBody>
          <a:bodyPr wrap="none">
            <a:spAutoFit/>
          </a:bodyPr>
          <a:lstStyle/>
          <a:p>
            <a:pPr>
              <a:defRPr sz="1200">
                <a:solidFill>
                  <a:srgbClr val="646464"/>
                </a:solidFill>
              </a:defRPr>
            </a:pPr>
            <a:r>
              <a:t>Left: straight + diagonal. Right: bent (green) + curved (orange).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0" name="prst_triangle"/>
          <p:cNvSpPr/>
          <p:nvPr/>
        </p:nvSpPr>
        <p:spPr>
          <a:xfrm>
            <a:off x="457200" y="457200"/>
            <a:ext cx="1143000" cy="1143000"/>
          </a:xfrm>
          <a:prstGeom prst="triangle">
            <a:avLst/>
          </a:prstGeom>
          <a:solidFill>
            <a:srgbClr val="FF6B6B"/>
          </a:solidFill>
          <a:ln w="12700">
            <a:solidFill>
              <a:srgbClr val="333333"/>
            </a:solidFill>
          </a:ln>
        </p:spPr>
        <p:txBody>
          <a:bodyPr/>
          <a:lstStyle/>
          <a:p>
            <a:r>
              <a:rPr lang="en-US" sz="900"/>
              <a:t>triangle</a:t>
            </a:r>
          </a:p>
        </p:txBody>
      </p:sp>
      <p:sp>
        <p:nvSpPr>
          <p:cNvPr id="0" name="prst_diamond"/>
          <p:cNvSpPr/>
          <p:nvPr/>
        </p:nvSpPr>
        <p:spPr>
          <a:xfrm>
            <a:off x="1981200" y="457200"/>
            <a:ext cx="1143000" cy="1143000"/>
          </a:xfrm>
          <a:prstGeom prst="diamond">
            <a:avLst/>
          </a:prstGeom>
          <a:solidFill>
            <a:srgbClr val="4ECDC4"/>
          </a:solidFill>
          <a:ln w="12700">
            <a:solidFill>
              <a:srgbClr val="333333"/>
            </a:solidFill>
          </a:ln>
        </p:spPr>
        <p:txBody>
          <a:bodyPr/>
          <a:lstStyle/>
          <a:p>
            <a:r>
              <a:rPr lang="en-US" sz="900"/>
              <a:t>diamond</a:t>
            </a:r>
          </a:p>
        </p:txBody>
      </p:sp>
      <p:sp>
        <p:nvSpPr>
          <p:cNvPr id="0" name="prst_pentagon"/>
          <p:cNvSpPr/>
          <p:nvPr/>
        </p:nvSpPr>
        <p:spPr>
          <a:xfrm>
            <a:off x="3505200" y="457200"/>
            <a:ext cx="1143000" cy="1143000"/>
          </a:xfrm>
          <a:prstGeom prst="pentagon">
            <a:avLst/>
          </a:prstGeom>
          <a:solidFill>
            <a:srgbClr val="FFD93D"/>
          </a:solidFill>
          <a:ln w="12700">
            <a:solidFill>
              <a:srgbClr val="333333"/>
            </a:solidFill>
          </a:ln>
        </p:spPr>
        <p:txBody>
          <a:bodyPr/>
          <a:lstStyle/>
          <a:p>
            <a:r>
              <a:rPr lang="en-US" sz="900"/>
              <a:t>pentagon</a:t>
            </a:r>
          </a:p>
        </p:txBody>
      </p:sp>
      <p:sp>
        <p:nvSpPr>
          <p:cNvPr id="0" name="prst_hexagon"/>
          <p:cNvSpPr/>
          <p:nvPr/>
        </p:nvSpPr>
        <p:spPr>
          <a:xfrm>
            <a:off x="5029200" y="457200"/>
            <a:ext cx="1143000" cy="1143000"/>
          </a:xfrm>
          <a:prstGeom prst="hexagon">
            <a:avLst/>
          </a:prstGeom>
          <a:solidFill>
            <a:srgbClr val="6C5CE7"/>
          </a:solidFill>
          <a:ln w="12700">
            <a:solidFill>
              <a:srgbClr val="333333"/>
            </a:solidFill>
          </a:ln>
        </p:spPr>
        <p:txBody>
          <a:bodyPr/>
          <a:lstStyle/>
          <a:p>
            <a:r>
              <a:rPr lang="en-US" sz="900"/>
              <a:t>hexagon</a:t>
            </a:r>
          </a:p>
        </p:txBody>
      </p:sp>
      <p:sp>
        <p:nvSpPr>
          <p:cNvPr id="0" name="prst_rightArrow"/>
          <p:cNvSpPr/>
          <p:nvPr/>
        </p:nvSpPr>
        <p:spPr>
          <a:xfrm>
            <a:off x="6553200" y="457200"/>
            <a:ext cx="1143000" cy="1143000"/>
          </a:xfrm>
          <a:prstGeom prst="rightArrow">
            <a:avLst/>
          </a:prstGeom>
          <a:solidFill>
            <a:srgbClr val="74B9FF"/>
          </a:solidFill>
          <a:ln w="12700">
            <a:solidFill>
              <a:srgbClr val="333333"/>
            </a:solidFill>
          </a:ln>
        </p:spPr>
        <p:txBody>
          <a:bodyPr/>
          <a:lstStyle/>
          <a:p>
            <a:r>
              <a:rPr lang="en-US" sz="900"/>
              <a:t>rightArrow</a:t>
            </a:r>
          </a:p>
        </p:txBody>
      </p:sp>
      <p:sp>
        <p:nvSpPr>
          <p:cNvPr id="0" name="prst_star5"/>
          <p:cNvSpPr/>
          <p:nvPr/>
        </p:nvSpPr>
        <p:spPr>
          <a:xfrm>
            <a:off x="8077200" y="457200"/>
            <a:ext cx="1143000" cy="1143000"/>
          </a:xfrm>
          <a:prstGeom prst="star5">
            <a:avLst/>
          </a:prstGeom>
          <a:solidFill>
            <a:srgbClr val="FDCB6E"/>
          </a:solidFill>
          <a:ln w="12700">
            <a:solidFill>
              <a:srgbClr val="333333"/>
            </a:solidFill>
          </a:ln>
        </p:spPr>
        <p:txBody>
          <a:bodyPr/>
          <a:lstStyle/>
          <a:p>
            <a:r>
              <a:rPr lang="en-US" sz="900"/>
              <a:t>star5</a:t>
            </a:r>
          </a:p>
        </p:txBody>
      </p:sp>
      <p:sp>
        <p:nvSpPr>
          <p:cNvPr id="0" name="prst_heart"/>
          <p:cNvSpPr/>
          <p:nvPr/>
        </p:nvSpPr>
        <p:spPr>
          <a:xfrm>
            <a:off x="457200" y="2286000"/>
            <a:ext cx="1143000" cy="1143000"/>
          </a:xfrm>
          <a:prstGeom prst="heart">
            <a:avLst/>
          </a:prstGeom>
          <a:solidFill>
            <a:srgbClr val="E17055"/>
          </a:solidFill>
          <a:ln w="12700">
            <a:solidFill>
              <a:srgbClr val="333333"/>
            </a:solidFill>
          </a:ln>
        </p:spPr>
        <p:txBody>
          <a:bodyPr/>
          <a:lstStyle/>
          <a:p>
            <a:r>
              <a:rPr lang="en-US" sz="900"/>
              <a:t>heart</a:t>
            </a:r>
          </a:p>
        </p:txBody>
      </p:sp>
      <p:sp>
        <p:nvSpPr>
          <p:cNvPr id="0" name="prst_plus"/>
          <p:cNvSpPr/>
          <p:nvPr/>
        </p:nvSpPr>
        <p:spPr>
          <a:xfrm>
            <a:off x="1981200" y="2286000"/>
            <a:ext cx="1143000" cy="1143000"/>
          </a:xfrm>
          <a:prstGeom prst="plus">
            <a:avLst/>
          </a:prstGeom>
          <a:solidFill>
            <a:srgbClr val="00CEC9"/>
          </a:solidFill>
          <a:ln w="12700">
            <a:solidFill>
              <a:srgbClr val="333333"/>
            </a:solidFill>
          </a:ln>
        </p:spPr>
        <p:txBody>
          <a:bodyPr/>
          <a:lstStyle/>
          <a:p>
            <a:r>
              <a:rPr lang="en-US" sz="900"/>
              <a:t>plus</a:t>
            </a:r>
          </a:p>
        </p:txBody>
      </p:sp>
      <p:sp>
        <p:nvSpPr>
          <p:cNvPr id="0" name="prst_flowChartDecision"/>
          <p:cNvSpPr/>
          <p:nvPr/>
        </p:nvSpPr>
        <p:spPr>
          <a:xfrm>
            <a:off x="3505200" y="2286000"/>
            <a:ext cx="1143000" cy="1143000"/>
          </a:xfrm>
          <a:prstGeom prst="flowChartDecision">
            <a:avLst/>
          </a:prstGeom>
          <a:solidFill>
            <a:srgbClr val="A29BFE"/>
          </a:solidFill>
          <a:ln w="12700">
            <a:solidFill>
              <a:srgbClr val="333333"/>
            </a:solidFill>
          </a:ln>
        </p:spPr>
        <p:txBody>
          <a:bodyPr/>
          <a:lstStyle/>
          <a:p>
            <a:r>
              <a:rPr lang="en-US" sz="900"/>
              <a:t>flowChartDecision</a:t>
            </a:r>
          </a:p>
        </p:txBody>
      </p:sp>
      <p:sp>
        <p:nvSpPr>
          <p:cNvPr id="0" name="prst_chevron"/>
          <p:cNvSpPr/>
          <p:nvPr/>
        </p:nvSpPr>
        <p:spPr>
          <a:xfrm>
            <a:off x="5029200" y="2286000"/>
            <a:ext cx="1143000" cy="1143000"/>
          </a:xfrm>
          <a:prstGeom prst="chevron">
            <a:avLst/>
          </a:prstGeom>
          <a:solidFill>
            <a:srgbClr val="55EFC4"/>
          </a:solidFill>
          <a:ln w="12700">
            <a:solidFill>
              <a:srgbClr val="333333"/>
            </a:solidFill>
          </a:ln>
        </p:spPr>
        <p:txBody>
          <a:bodyPr/>
          <a:lstStyle/>
          <a:p>
            <a:r>
              <a:rPr lang="en-US" sz="900"/>
              <a:t>chevron</a:t>
            </a:r>
          </a:p>
        </p:txBody>
      </p:sp>
      <p:sp>
        <p:nvSpPr>
          <p:cNvPr id="0" name="prst_parallelogram"/>
          <p:cNvSpPr/>
          <p:nvPr/>
        </p:nvSpPr>
        <p:spPr>
          <a:xfrm>
            <a:off x="6553200" y="2286000"/>
            <a:ext cx="1143000" cy="1143000"/>
          </a:xfrm>
          <a:prstGeom prst="parallelogram">
            <a:avLst/>
          </a:prstGeom>
          <a:solidFill>
            <a:srgbClr val="FF7675"/>
          </a:solidFill>
          <a:ln w="12700">
            <a:solidFill>
              <a:srgbClr val="333333"/>
            </a:solidFill>
          </a:ln>
        </p:spPr>
        <p:txBody>
          <a:bodyPr/>
          <a:lstStyle/>
          <a:p>
            <a:r>
              <a:rPr lang="en-US" sz="900"/>
              <a:t>parallelogram</a:t>
            </a:r>
          </a:p>
        </p:txBody>
      </p:sp>
      <p:sp>
        <p:nvSpPr>
          <p:cNvPr id="0" name="prst_octagon"/>
          <p:cNvSpPr/>
          <p:nvPr/>
        </p:nvSpPr>
        <p:spPr>
          <a:xfrm>
            <a:off x="8077200" y="2286000"/>
            <a:ext cx="1143000" cy="1143000"/>
          </a:xfrm>
          <a:prstGeom prst="octagon">
            <a:avLst/>
          </a:prstGeom>
          <a:solidFill>
            <a:srgbClr val="FFEAA7"/>
          </a:solidFill>
          <a:ln w="12700">
            <a:solidFill>
              <a:srgbClr val="333333"/>
            </a:solidFill>
          </a:ln>
        </p:spPr>
        <p:txBody>
          <a:bodyPr/>
          <a:lstStyle/>
          <a:p>
            <a:r>
              <a:rPr lang="en-US" sz="900"/>
              <a:t>octagon</a:t>
            </a:r>
          </a:p>
        </p:txBody>
      </p:sp>
      <p:sp>
        <p:nvSpPr>
          <p:cNvPr id="0" name="rightArrow_adj"/>
          <p:cNvSpPr/>
          <p:nvPr/>
        </p:nvSpPr>
        <p:spPr>
          <a:xfrm>
            <a:off x="457200" y="4114800"/>
            <a:ext cx="2286000" cy="914400"/>
          </a:xfrm>
          <a:prstGeom prst="rightArrow">
            <a:avLst>
              <a:gd name="adj1" fmla="val 70000"/>
              <a:gd name="adj2" fmla="val 30000"/>
            </a:avLst>
          </a:prstGeom>
          <a:solidFill>
            <a:srgbClr val="74B9FF"/>
          </a:solidFill>
          <a:ln w="12700">
            <a:solidFill>
              <a:srgbClr val="333333"/>
            </a:solidFill>
          </a:ln>
        </p:spPr>
        <p:txBody>
          <a:bodyPr/>
          <a:lstStyle/>
          <a:p>
            <a:r>
              <a:rPr lang="en-US" sz="900"/>
              <a:t>rightArrow</a:t>
            </a:r>
          </a:p>
        </p:txBody>
      </p:sp>
      <p:sp>
        <p:nvSpPr>
          <p:cNvPr id="0" name="star5_adj"/>
          <p:cNvSpPr/>
          <p:nvPr/>
        </p:nvSpPr>
        <p:spPr>
          <a:xfrm>
            <a:off x="3200400" y="4114800"/>
            <a:ext cx="1143000" cy="1143000"/>
          </a:xfrm>
          <a:prstGeom prst="star5">
            <a:avLst>
              <a:gd name="adj" fmla="val 40000"/>
            </a:avLst>
          </a:prstGeom>
          <a:solidFill>
            <a:srgbClr val="FDCB6E"/>
          </a:solidFill>
          <a:ln w="12700">
            <a:solidFill>
              <a:srgbClr val="333333"/>
            </a:solidFill>
          </a:ln>
        </p:spPr>
        <p:txBody>
          <a:bodyPr/>
          <a:lstStyle/>
          <a:p>
            <a:r>
              <a:rPr lang="en-US" sz="900"/>
              <a:t>star5</a:t>
            </a:r>
          </a:p>
        </p:txBody>
      </p:sp>
      <p:sp>
        <p:nvSpPr>
          <p:cNvPr id="2" name="TextBox 1"/>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Preset geometry: triangle, diamond, pentagon, hexagon, rightArrow, star5, heart, plus, flowChartDecision, chevron, parallelogram, octagon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 name="CustomStar"/>
          <p:cNvSpPr/>
          <p:nvPr/>
        </p:nvSpPr>
        <p:spPr>
          <a:xfrm>
            <a:off x="457200" y="457200"/>
            <a:ext cx="1828800" cy="1828800"/>
          </a:xfrm>
          <a:custGeom>
            <a:avLst/>
            <a:gdLst/>
            <a:pathLst>
              <a:path w="200" h="200">
                <a:moveTo>
                  <a:pt x="100" y="0"/>
                </a:moveTo>
                <a:lnTo>
                  <a:pt x="130" y="70"/>
                </a:lnTo>
                <a:lnTo>
                  <a:pt x="200" y="80"/>
                </a:lnTo>
                <a:lnTo>
                  <a:pt x="150" y="130"/>
                </a:lnTo>
                <a:lnTo>
                  <a:pt x="160" y="200"/>
                </a:lnTo>
                <a:lnTo>
                  <a:pt x="100" y="170"/>
                </a:lnTo>
                <a:lnTo>
                  <a:pt x="40" y="200"/>
                </a:lnTo>
                <a:lnTo>
                  <a:pt x="50" y="130"/>
                </a:lnTo>
                <a:lnTo>
                  <a:pt x="0" y="80"/>
                </a:lnTo>
                <a:lnTo>
                  <a:pt x="70" y="70"/>
                </a:lnTo>
                <a:close/>
              </a:path>
            </a:pathLst>
          </a:custGeom>
          <a:solidFill>
            <a:srgbClr val="FFD700"/>
          </a:solidFill>
          <a:ln w="19050">
            <a:solidFill>
              <a:srgbClr val="B8860B"/>
            </a:solidFill>
          </a:ln>
        </p:spPr>
      </p:sp>
      <p:sp>
        <p:nvSpPr>
          <p:cNvPr id="101" name="CustomCurve"/>
          <p:cNvSpPr/>
          <p:nvPr/>
        </p:nvSpPr>
        <p:spPr>
          <a:xfrm>
            <a:off x="2743200" y="457200"/>
            <a:ext cx="1828800" cy="1828800"/>
          </a:xfrm>
          <a:custGeom>
            <a:avLst/>
            <a:gdLst/>
            <a:pathLst>
              <a:path w="100" h="100">
                <a:moveTo>
                  <a:pt x="0" y="100"/>
                </a:moveTo>
                <a:cubicBezTo>
                  <a:pt x="0" y="0"/>
                  <a:pt x="100" y="0"/>
                  <a:pt x="100" y="100"/>
                </a:cubicBezTo>
                <a:close/>
              </a:path>
            </a:pathLst>
          </a:custGeom>
          <a:solidFill>
            <a:srgbClr val="87CEEB"/>
          </a:solidFill>
          <a:ln w="12700">
            <a:solidFill>
              <a:srgbClr val="4169E1"/>
            </a:solidFill>
          </a:ln>
        </p:spPr>
      </p:sp>
      <p:sp>
        <p:nvSpPr>
          <p:cNvPr id="102" name="CustomGuide"/>
          <p:cNvSpPr/>
          <p:nvPr/>
        </p:nvSpPr>
        <p:spPr>
          <a:xfrm>
            <a:off x="5029200" y="457200"/>
            <a:ext cx="1828800" cy="1828800"/>
          </a:xfrm>
          <a:custGeom>
            <a:avLst>
              <a:gd name="adj" fmla="val 50000"/>
            </a:avLst>
            <a:gdLst>
              <a:gd name="x1" fmla="*/ w adj 100000"/>
              <a:gd name="y1" fmla="*/ h adj 100000"/>
            </a:gdLst>
            <a:pathLst>
              <a:path>
                <a:moveTo>
                  <a:pt x="0" y="0"/>
                </a:moveTo>
                <a:lnTo>
                  <a:pt x="x1" y="0"/>
                </a:lnTo>
                <a:lnTo>
                  <a:pt x="x1" y="y1"/>
                </a:lnTo>
                <a:lnTo>
                  <a:pt x="0" y="y1"/>
                </a:lnTo>
                <a:close/>
              </a:path>
            </a:pathLst>
          </a:custGeom>
          <a:solidFill>
            <a:srgbClr val="98FB98"/>
          </a:solidFill>
          <a:ln w="12700">
            <a:solidFill>
              <a:srgbClr val="228B22"/>
            </a:solidFill>
          </a:ln>
        </p:spPr>
      </p:sp>
      <p:sp>
        <p:nvSpPr>
          <p:cNvPr id="103" name="TextBox 102"/>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Custom geometry (a:custGeom): freeform star, bezier curve, guide-based rect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1" name="Gear6"/>
          <p:cNvSpPr/>
          <p:nvPr/>
        </p:nvSpPr>
        <p:spPr>
          <a:xfrm>
            <a:off x="457200" y="457200"/>
            <a:ext cx="2286000" cy="2286000"/>
          </a:xfrm>
          <a:prstGeom prst="gear6">
            <a:avLst/>
          </a:prstGeom>
          <a:solidFill>
            <a:srgbClr val="4472C4"/>
          </a:solidFill>
          <a:ln w="12700">
            <a:solidFill>
              <a:srgbClr val="2F528F"/>
            </a:solidFill>
          </a:ln>
        </p:spPr>
      </p:sp>
      <p:sp>
        <p:nvSpPr>
          <p:cNvPr id="202" name="Gear9"/>
          <p:cNvSpPr/>
          <p:nvPr/>
        </p:nvSpPr>
        <p:spPr>
          <a:xfrm>
            <a:off x="3429000" y="457200"/>
            <a:ext cx="2286000" cy="2286000"/>
          </a:xfrm>
          <a:prstGeom prst="gear9">
            <a:avLst/>
          </a:prstGeom>
          <a:solidFill>
            <a:srgbClr val="ED7D31"/>
          </a:solidFill>
          <a:ln w="12700">
            <a:solidFill>
              <a:srgbClr val="AE5A21"/>
            </a:solidFill>
          </a:ln>
        </p:spPr>
      </p:sp>
      <p:sp>
        <p:nvSpPr>
          <p:cNvPr id="203" name="Gear6Deep"/>
          <p:cNvSpPr/>
          <p:nvPr/>
        </p:nvSpPr>
        <p:spPr>
          <a:xfrm>
            <a:off x="6400800" y="457200"/>
            <a:ext cx="2286000" cy="2286000"/>
          </a:xfrm>
          <a:prstGeom prst="gear6">
            <a:avLst>
              <a:gd name="adj" fmla="val 50000"/>
            </a:avLst>
          </a:prstGeom>
          <a:solidFill>
            <a:srgbClr val="70AD47"/>
          </a:solidFill>
          <a:ln w="12700">
            <a:solidFill>
              <a:srgbClr val="507E32"/>
            </a:solidFill>
          </a:ln>
        </p:spPr>
      </p:sp>
      <p:sp>
        <p:nvSpPr>
          <p:cNvPr id="204" name="TextBox 203"/>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Gear shapes: gear6 (default), gear9 (default), gear6 (adj=50000 deeper teeth)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1" name="Triangle"/>
          <p:cNvSpPr/>
          <p:nvPr/>
        </p:nvSpPr>
        <p:spPr>
          <a:xfrm>
            <a:off x="457200" y="457200"/>
            <a:ext cx="2286000" cy="2286000"/>
          </a:xfrm>
          <a:prstGeom prst="triangle">
            <a:avLst/>
          </a:prstGeom>
          <a:solidFill>
            <a:srgbClr val="FFD700"/>
          </a:solidFill>
          <a:ln w="12700">
            <a:solidFill>
              <a:srgbClr val="B8860B"/>
            </a:solidFill>
          </a:ln>
        </p:spPr>
        <p:txBody>
          <a:bodyPr anchor="ctr"/>
          <a:lstStyle/>
          <a:p>
            <a:pPr algn="ctr"/>
            <a:r>
              <a:rPr lang="en-US" sz="1400"/>
              <a:t>Text in Triangle</a:t>
            </a:r>
          </a:p>
        </p:txBody>
      </p:sp>
      <p:sp>
        <p:nvSpPr>
          <p:cNvPr id="302" name="Diamond"/>
          <p:cNvSpPr/>
          <p:nvPr/>
        </p:nvSpPr>
        <p:spPr>
          <a:xfrm>
            <a:off x="3429000" y="457200"/>
            <a:ext cx="2286000" cy="2286000"/>
          </a:xfrm>
          <a:prstGeom prst="diamond">
            <a:avLst/>
          </a:prstGeom>
          <a:solidFill>
            <a:srgbClr val="87CEEB"/>
          </a:solidFill>
          <a:ln w="12700">
            <a:solidFill>
              <a:srgbClr val="4682B4"/>
            </a:solidFill>
          </a:ln>
        </p:spPr>
        <p:txBody>
          <a:bodyPr anchor="ctr"/>
          <a:lstStyle/>
          <a:p>
            <a:pPr algn="ctr"/>
            <a:r>
              <a:rPr lang="en-US" sz="1400"/>
              <a:t>Diamond</a:t>
            </a:r>
          </a:p>
        </p:txBody>
      </p:sp>
      <p:sp>
        <p:nvSpPr>
          <p:cNvPr id="303" name="RightArrow"/>
          <p:cNvSpPr/>
          <p:nvPr/>
        </p:nvSpPr>
        <p:spPr>
          <a:xfrm>
            <a:off x="6400800" y="914400"/>
            <a:ext cx="2743200" cy="1371600"/>
          </a:xfrm>
          <a:prstGeom prst="rightArrow">
            <a:avLst/>
          </a:prstGeom>
          <a:solidFill>
            <a:srgbClr val="FF6347"/>
          </a:solidFill>
          <a:ln w="12700">
            <a:solidFill>
              <a:srgbClr val="8B0000"/>
            </a:solidFill>
          </a:ln>
        </p:spPr>
        <p:txBody>
          <a:bodyPr anchor="ctr"/>
          <a:lstStyle/>
          <a:p>
            <a:pPr algn="ctr"/>
            <a:r>
              <a:rPr lang="en-US" sz="1400"/>
              <a:t>Arrow</a:t>
            </a:r>
          </a:p>
        </p:txBody>
      </p:sp>
      <p:sp>
        <p:nvSpPr>
          <p:cNvPr id="304" name="TextBox 303"/>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Text rectangles: triangle (text in lower half), diamond (text inscribed), right arrow (text in shaft)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1" name="Rect1"/>
          <p:cNvSpPr/>
          <p:nvPr/>
        </p:nvSpPr>
        <p:spPr>
          <a:xfrm>
            <a:off x="914400" y="914400"/>
            <a:ext cx="1828800" cy="1371600"/>
          </a:xfrm>
          <a:prstGeom prst="rect">
            <a:avLst/>
          </a:prstGeom>
          <a:solidFill>
            <a:srgbClr val="4472C4"/>
          </a:solidFill>
        </p:spPr>
        <p:txBody>
          <a:bodyPr anchor="ctr"/>
          <a:lstStyle/>
          <a:p>
            <a:pPr algn="ctr"/>
            <a:r>
              <a:rPr lang="en-US" sz="1400">
                <a:solidFill>
                  <a:srgbClr val="FFFFFF"/>
                </a:solidFill>
              </a:rPr>
              <a:t>Start</a:t>
            </a:r>
          </a:p>
        </p:txBody>
      </p:sp>
      <p:sp>
        <p:nvSpPr>
          <p:cNvPr id="402" name="Rect2"/>
          <p:cNvSpPr/>
          <p:nvPr/>
        </p:nvSpPr>
        <p:spPr>
          <a:xfrm>
            <a:off x="5486400" y="914400"/>
            <a:ext cx="1828800" cy="1371600"/>
          </a:xfrm>
          <a:prstGeom prst="rect">
            <a:avLst/>
          </a:prstGeom>
          <a:solidFill>
            <a:srgbClr val="ED7D31"/>
          </a:solidFill>
        </p:spPr>
        <p:txBody>
          <a:bodyPr anchor="ctr"/>
          <a:lstStyle/>
          <a:p>
            <a:pPr algn="ctr"/>
            <a:r>
              <a:rPr lang="en-US" sz="1400">
                <a:solidFill>
                  <a:srgbClr val="FFFFFF"/>
                </a:solidFill>
              </a:rPr>
              <a:t>End</a:t>
            </a:r>
          </a:p>
        </p:txBody>
      </p:sp>
      <p:cxnSp>
        <p:nvCxnSpPr>
          <p:cNvPr id="403" name="Connector"/>
          <p:cNvCxnSpPr>
            <a:stCxn id="401" idx="3"/>
            <a:endCxn id="402" idx="1"/>
          </p:cNvCxnSpPr>
          <p:nvPr/>
        </p:nvCxnSpPr>
        <p:spPr>
          <a:xfrm>
            <a:off x="2743200" y="1600200"/>
            <a:ext cx="2743200" cy="0"/>
          </a:xfrm>
          <a:prstGeom prst="straightConnector1">
            <a:avLst/>
          </a:prstGeom>
          <a:ln w="25400">
            <a:solidFill>
              <a:srgbClr val="333333"/>
            </a:solidFill>
            <a:tailEnd type="triangle"/>
          </a:ln>
        </p:spPr>
      </p:cxnSp>
      <p:sp>
        <p:nvSpPr>
          <p:cNvPr id="404" name="CustomWithCxn"/>
          <p:cNvSpPr/>
          <p:nvPr/>
        </p:nvSpPr>
        <p:spPr>
          <a:xfrm>
            <a:off x="3200400" y="3429000"/>
            <a:ext cx="2286000" cy="1828800"/>
          </a:xfrm>
          <a:custGeom>
            <a:avLst/>
            <a:gdLst/>
            <a:cxnLst>
              <a:cxn ang="0">
                <a:pos x="r" y="vc"/>
              </a:cxn>
              <a:cxn ang="5400000">
                <a:pos x="hc" y="b"/>
              </a:cxn>
              <a:cxn ang="10800000">
                <a:pos x="l" y="vc"/>
              </a:cxn>
              <a:cxn ang="16200000">
                <a:pos x="hc" y="t"/>
              </a:cxn>
            </a:cxnLst>
            <a:rect l="l" t="t" r="r" b="b"/>
            <a:pathLst>
              <a:path w="100" h="100">
                <a:moveTo>
                  <a:pt x="50" y="0"/>
                </a:moveTo>
                <a:lnTo>
                  <a:pt x="100" y="50"/>
                </a:lnTo>
                <a:lnTo>
                  <a:pt x="50" y="100"/>
                </a:lnTo>
                <a:lnTo>
                  <a:pt x="0" y="50"/>
                </a:lnTo>
                <a:close/>
              </a:path>
            </a:pathLst>
          </a:custGeom>
          <a:solidFill>
            <a:srgbClr val="9370DB"/>
          </a:solidFill>
          <a:ln w="12700">
            <a:solidFill>
              <a:srgbClr val="4B0082"/>
            </a:solidFill>
          </a:ln>
        </p:spPr>
      </p:sp>
      <p:sp>
        <p:nvSpPr>
          <p:cNvPr id="405" name="TextBox 404"/>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Connection points: connector with stCxn/endCxn refs, custom geom with a:cxnLst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100" name="Table41"/>
          <p:cNvGraphicFramePr>
            <a:graphicFrameLocks noGrp="1"/>
          </p:cNvGraphicFramePr>
          <p:nvPr/>
        </p:nvGraphicFramePr>
        <p:xfrm>
          <a:off x="457200" y="457200"/>
          <a:ext cx="8229600" cy="4572000"/>
        </p:xfrm>
        <a:graphic>
          <a:graphicData uri="http://schemas.openxmlformats.org/drawingml/2006/table">
            <a:tbl>
              <a:tblPr firstRow="1" bandRow="1"/>
              <a:tblGrid>
                <a:gridCol w="2743200"/>
                <a:gridCol w="2743200"/>
                <a:gridCol w="2743200"/>
              </a:tblGrid>
              <!-- Row 1: horizontal merge (gridSpan=2) + custom borders -->
              <a:tr h="914400">
                <a:tc gridSpan="2">
                  <a:txBody>
                    <a:bodyPr/>
                    <a:lstStyle/>
                    <a:p>
                      <a:r>
                        <a:rPr lang="en-US" sz="1400" b="1"/>
                        <a:t>Merged 2 cols</a:t>
                      </a:r>
                    </a:p>
                  </a:txBody>
                  <a:tcPr marL="182880" marR="91440" marT="91440" marB="45720" anchor="ctr">
                    <a:lnL w="25400">
                      <a:solidFill>
                        <a:srgbClr val="FF0000"/>
                      </a:solidFill>
                    </a:lnL>
                    <a:lnR w="25400">
                      <a:solidFill>
                        <a:srgbClr val="0000FF"/>
                      </a:solidFill>
                    </a:lnR>
                    <a:lnT w="38100">
                      <a:solidFill>
                        <a:srgbClr val="00AA00"/>
                      </a:solidFill>
                    </a:lnT>
                    <a:lnB w="12700">
                      <a:solidFill>
                        <a:srgbClr val="FF8800"/>
                      </a:solidFill>
                    </a:lnB>
                    <a:solidFill>
                      <a:srgbClr val="DDEEFF"/>
                    </a:solidFill>
                  </a:tcPr>
                </a:tc>
                <a:tc>
                  <a:txBody>
                    <a:bodyPr/>
                    <a:lstStyle/>
                    <a:p>
                      <a:endParaRPr lang="en-US"/>
                    </a:p>
                  </a:txBody>
                  <a:tcPr/>
                </a:tc>
                <a:tc>
                  <a:txBody>
                    <a:bodyPr/>
                    <a:lstStyle/>
                    <a:p>
                      <a:r>
                        <a:rPr lang="en-US" sz="1200"/>
                        <a:t>Normal cell</a:t>
                      </a:r>
                    </a:p>
                  </a:txBody>
                  <a:tcPr anchor="b">
                    <a:lnL w="12700">
                      <a:solidFill>
                        <a:srgbClr val="333333"/>
                      </a:solidFill>
                    </a:lnL>
                    <a:lnR w="12700">
                      <a:solidFill>
                        <a:srgbClr val="333333"/>
                      </a:solidFill>
                    </a:lnR>
                    <a:lnT w="12700">
                      <a:solidFill>
                        <a:srgbClr val="333333"/>
                      </a:solidFill>
                    </a:lnT>
                    <a:lnB w="12700">
                      <a:solidFill>
                        <a:srgbClr val="333333"/>
                      </a:solidFill>
                    </a:lnB>
                    <a:solidFill>
                      <a:srgbClr val="FFFFDD"/>
                    </a:solidFill>
                  </a:tcPr>
                </a:tc>
              </a:tr>
              <!-- Row 2: vertical merge start (rowSpan=2) + noFill border -->
              <a:tr h="914400">
                <a:tc rowSpan="2">
                  <a:txBody>
                    <a:bodyPr/>
                    <a:lstStyle/>
                    <a:p>
                      <a:r>
                        <a:rPr lang="en-US" sz="1400" b="1"/>
                        <a:t>Merged 2 rows</a:t>
                      </a:r>
                    </a:p>
                  </a:txBody>
                  <a:tcPr anchor="ctr">
                    <a:lnL w="19050">
                      <a:solidFill>
                        <a:srgbClr val="9900CC"/>
                      </a:solidFill>
                    </a:lnL>
                    <a:lnR w="19050">
                      <a:solidFill>
                        <a:srgbClr val="9900CC"/>
                      </a:solidFill>
                    </a:lnR>
                    <a:lnT w="19050">
                      <a:solidFill>
                        <a:srgbClr val="9900CC"/>
                      </a:solidFill>
                    </a:lnT>
                    <a:lnB w="19050">
                      <a:solidFill>
                        <a:srgbClr val="9900CC"/>
                      </a:solidFill>
                    </a:lnB>
                    <a:solidFill>
                      <a:srgbClr val="F0E0FF"/>
                    </a:solidFill>
                  </a:tcPr>
                </a:tc>
                <a:tc>
                  <a:txBody>
                    <a:bodyPr/>
                    <a:lstStyle/>
                    <a:p>
                      <a:r>
                        <a:rPr lang="en-US" sz="1200"/>
                        <a:t>Cell B2</a:t>
                      </a:r>
                    </a:p>
                  </a:txBody>
                  <a:tcPr>
                    <a:lnL w="12700">
                      <a:noFill/>
                    </a:lnL>
                    <a:lnR w="12700">
                      <a:solidFill>
                        <a:srgbClr val="666666"/>
                      </a:solidFill>
                    </a:lnR>
                    <a:lnT w="12700">
                      <a:solidFill>
                        <a:srgbClr val="666666"/>
                      </a:solidFill>
                    </a:lnT>
                    <a:lnB w="12700">
                      <a:solidFill>
                        <a:srgbClr val="666666"/>
                      </a:solidFill>
                    </a:lnB>
                  </a:tcPr>
                </a:tc>
                <a:tc>
                  <a:txBody>
                    <a:bodyPr/>
                    <a:lstStyle/>
                    <a:p>
                      <a:r>
                        <a:rPr lang="en-US" sz="1200"/>
                        <a:t>Cell C2</a:t>
                      </a:r>
                    </a:p>
                  </a:txBody>
                  <a:tcPr>
                    <a:lnL w="12700">
                      <a:solidFill>
                        <a:srgbClr val="666666"/>
                      </a:solidFill>
                    </a:lnL>
                    <a:lnR w="12700">
                      <a:solidFill>
                        <a:srgbClr val="666666"/>
                      </a:solidFill>
                    </a:lnR>
                    <a:lnT w="12700">
                      <a:solidFill>
                        <a:srgbClr val="666666"/>
                      </a:solidFill>
                    </a:lnT>
                    <a:lnB w="12700">
                      <a:solidFill>
                        <a:srgbClr val="666666"/>
                      </a:solidFill>
                    </a:lnB>
                  </a:tcPr>
                </a:tc>
              </a:tr>
              <!-- Row 3: vertical merge continuation -->
              <a:tr h="914400">
                <a:tc vMerge="1">
                  <a:txBody>
                    <a:bodyPr/>
                    <a:lstStyle/>
                    <a:p>
                      <a:endParaRPr lang="en-US"/>
                    </a:p>
                  </a:txBody>
                  <a:tcPr/>
                </a:tc>
                <a:tc>
                  <a:txBody>
                    <a:bodyPr/>
                    <a:lstStyle/>
                    <a:p>
                      <a:r>
                        <a:rPr lang="en-US" sz="1200"/>
                        <a:t>Cell B3 (large margin)</a:t>
                      </a:r>
                    </a:p>
                  </a:txBody>
                  <a:tcPr marL="274320" marT="137160">
                    <a:lnL w="12700">
                      <a:solidFill>
                        <a:srgbClr val="666666"/>
                      </a:solidFill>
                    </a:lnL>
                    <a:lnR w="12700">
                      <a:solidFill>
                        <a:srgbClr val="666666"/>
                      </a:solidFill>
                    </a:lnR>
                    <a:lnT w="12700">
                      <a:solidFill>
                        <a:srgbClr val="666666"/>
                      </a:solidFill>
                    </a:lnT>
                    <a:lnB w="12700">
                      <a:solidFill>
                        <a:srgbClr val="666666"/>
                      </a:solidFill>
                    </a:lnB>
                  </a:tcPr>
                </a:tc>
                <a:tc>
                  <a:txBody>
                    <a:bodyPr/>
                    <a:lstStyle/>
                    <a:p>
                      <a:r>
                        <a:rPr lang="en-US" sz="1200"/>
                        <a:t>Cell C3 (top anchor)</a:t>
                      </a:r>
                    </a:p>
                  </a:txBody>
                  <a:tcPr anchor="t">
                    <a:lnL w="12700">
                      <a:solidFill>
                        <a:srgbClr val="666666"/>
                      </a:solidFill>
                    </a:lnL>
                    <a:lnR w="12700">
                      <a:solidFill>
                        <a:srgbClr val="666666"/>
                      </a:solidFill>
                    </a:lnR>
                    <a:lnT w="12700">
                      <a:solidFill>
                        <a:srgbClr val="666666"/>
                      </a:solidFill>
                    </a:lnT>
                    <a:lnB w="12700">
                      <a:solidFill>
                        <a:srgbClr val="666666"/>
                      </a:solidFill>
                    </a:lnB>
                    <a:solidFill>
                      <a:srgbClr val="EEFFEE"/>
                    </a:solidFill>
                  </a:tcPr>
                </a:tc>
              </a:tr>
            </a:tbl>
          </a:graphicData>
        </a:graphic>
      </p:graphicFrame>
      <p:sp>
        <p:nvSpPr>
          <p:cNvPr id="101" name="TextBox 100"/>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Table: cell merge (gridSpan/rowSpan/vMerge) + borders + margins + anchor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00" name="Table42"/>
          <p:cNvGraphicFramePr>
            <a:graphicFrameLocks noGrp="1"/>
          </p:cNvGraphicFramePr>
          <p:nvPr/>
        </p:nvGraphicFramePr>
        <p:xfrm>
          <a:off x="457200" y="457200"/>
          <a:ext cx="8229600" cy="3657600"/>
        </p:xfrm>
        <a:graphic>
          <a:graphicData uri="http://schemas.openxmlformats.org/drawingml/2006/table">
            <a:tbl>
              <a:tblPr firstRow="1" lastRow="1" firstCol="0" lastCol="0" bandRow="1" bandCol="0" tblStyleId="{5C22544A-7EE6-4342-B048-85BDC9FD1C3A}"/>
              <a:tblGrid>
                <a:gridCol w="2743200"/>
                <a:gridCol w="2743200"/>
                <a:gridCol w="2743200"/>
              </a:tblGrid>
              <!-- Row 1: diagonal borders -->
              <a:tr h="914400">
                <a:tc>
                  <a:txBody>
                    <a:bodyPr/>
                    <a:lstStyle/>
                    <a:p>
                      <a:r>
                        <a:rPr lang="en-US" sz="1200" b="1"/>
                        <a:t>TL-BR diagonal</a:t>
                      </a:r>
                    </a:p>
                  </a:txBody>
                  <a:tcPr>
                    <a:lnTlToBr w="19050">
                      <a:solidFill>
                        <a:srgbClr val="FF0000"/>
                      </a:solidFill>
                    </a:lnTlToBr>
                    <a:solidFill>
                      <a:srgbClr val="FFF0F0"/>
                    </a:solidFill>
                  </a:tcPr>
                </a:tc>
                <a:tc>
                  <a:txBody>
                    <a:bodyPr/>
                    <a:lstStyle/>
                    <a:p>
                      <a:r>
                        <a:rPr lang="en-US" sz="1200" b="1"/>
                        <a:t>BL-TR diagonal</a:t>
                      </a:r>
                    </a:p>
                  </a:txBody>
                  <a:tcPr>
                    <a:lnBlToTr w="19050">
                      <a:solidFill>
                        <a:srgbClr val="0000FF"/>
                      </a:solidFill>
                    </a:lnBlToTr>
                    <a:solidFill>
                      <a:srgbClr val="F0F0FF"/>
                    </a:solidFill>
                  </a:tcPr>
                </a:tc>
                <a:tc>
                  <a:txBody>
                    <a:bodyPr/>
                    <a:lstStyle/>
                    <a:p>
                      <a:r>
                        <a:rPr lang="en-US" sz="1200" b="1"/>
                        <a:t>Both diagonals</a:t>
                      </a:r>
                    </a:p>
                  </a:txBody>
                  <a:tcPr>
                    <a:lnTlToBr w="12700">
                      <a:solidFill>
                        <a:srgbClr val="008800"/>
                      </a:solidFill>
                    </a:lnTlToBr>
                    <a:lnBlToTr w="12700">
                      <a:solidFill>
                        <a:srgbClr val="880000"/>
                      </a:solidFill>
                    </a:lnBlToTr>
                    <a:solidFill>
                      <a:srgbClr val="FFFFF0"/>
                    </a:solidFill>
                  </a:tcPr>
                </a:tc>
              </a:tr>
              <!-- Row 2: band row test -->
              <a:tr h="914400">
                <a:tc>
                  <a:txBody>
                    <a:bodyPr/>
                    <a:lstStyle/>
                    <a:p>
                      <a:r>
                        <a:rPr lang="en-US" sz="1200"/>
                        <a:t>Band row 1</a:t>
                      </a:r>
                    </a:p>
                  </a:txBody>
                  <a:tcPr/>
                </a:tc>
                <a:tc>
                  <a:txBody>
                    <a:bodyPr/>
                    <a:lstStyle/>
                    <a:p>
                      <a:r>
                        <a:rPr lang="en-US" sz="1200"/>
                        <a:t>Normal</a:t>
                      </a:r>
                    </a:p>
                  </a:txBody>
                  <a:tcPr/>
                </a:tc>
                <a:tc>
                  <a:txBody>
                    <a:bodyPr/>
                    <a:lstStyle/>
                    <a:p>
                      <a:r>
                        <a:rPr lang="en-US" sz="1200"/>
                        <a:t>Normal</a:t>
                      </a:r>
                    </a:p>
                  </a:txBody>
                  <a:tcPr/>
                </a:tc>
              </a:tr>
              <!-- Row 3: band row test -->
              <a:tr h="914400">
                <a:tc>
                  <a:txBody>
                    <a:bodyPr/>
                    <a:lstStyle/>
                    <a:p>
                      <a:r>
                        <a:rPr lang="en-US" sz="1200"/>
                        <a:t>Band row 2</a:t>
                      </a:r>
                    </a:p>
                  </a:txBody>
                  <a:tcPr/>
                </a:tc>
                <a:tc>
                  <a:txBody>
                    <a:bodyPr/>
                    <a:lstStyle/>
                    <a:p>
                      <a:r>
                        <a:rPr lang="en-US" sz="1200"/>
                        <a:t>Normal</a:t>
                      </a:r>
                    </a:p>
                  </a:txBody>
                  <a:tcPr/>
                </a:tc>
                <a:tc>
                  <a:txBody>
                    <a:bodyPr/>
                    <a:lstStyle/>
                    <a:p>
                      <a:r>
                        <a:rPr lang="en-US" sz="1200"/>
                        <a:t>Last row cell</a:t>
                      </a:r>
                    </a:p>
                  </a:txBody>
                  <a:tcPr/>
                </a:tc>
              </a:tr>
            </a:tbl>
          </a:graphicData>
        </a:graphic>
      </p:graphicFrame>
      <p:sp>
        <p:nvSpPr>
          <p:cNvPr id="201" name="TextBox 200"/>
          <p:cNvSpPr txBox="1"/>
          <p:nvPr/>
        </p:nvSpPr>
        <p:spPr>
          <a:xfrm>
            <a:off x="274320" y="5943600"/>
            <a:ext cx="8229600" cy="457200"/>
          </a:xfrm>
          <a:prstGeom prst="rect">
            <a:avLst/>
          </a:prstGeom>
          <a:noFill/>
        </p:spPr>
        <p:txBody>
          <a:bodyPr wrap="none">
            <a:spAutoFit/>
          </a:bodyPr>
          <a:lstStyle/>
          <a:p>
            <a:pPr>
              <a:defRPr sz="1000">
                <a:solidFill>
                  <a:srgbClr val="646464"/>
                </a:solidFill>
              </a:defRPr>
            </a:pPr>
            <a:r>
              <a:t>Table: diagonal borders (lnTlToBr/lnBlToTr) + tblPr flags + tblStyleId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0"/>
            <a:ext cx="2743200" cy="2286000"/>
          </a:xfrm>
          <a:prstGeom prst="rect">
            <a:avLst/>
          </a:prstGeom>
          <a:blipFill>
            <a:blip r:embed="rId2"/>
            <a:srcRect l="0" t="50000" r="0" b="0"/>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CropPic"/>
          <p:cNvPicPr>
            <a:picLocks noChangeAspect="1"/>
          </p:cNvPicPr>
          <p:nvPr/>
        </p:nvPicPr>
        <p:blipFill>
          <a:blip r:embed="rId2"/>
          <a:srcRect l="25000" t="25000" r="25000" b="25000"/>
          <a:stretch>
            <a:fillRect/>
          </a:stretch>
        </p:blipFill>
        <p:spPr>
          <a:xfrm>
            <a:off x="457200" y="914400"/>
            <a:ext cx="2743200" cy="2743200"/>
          </a:xfrm>
          <a:prstGeom prst="rect">
            <a:avLst/>
          </a:prstGeom>
        </p:spPr>
      </p:pic>
      <p:pic>
        <p:nvPicPr>
          <p:cNvPr id="101" name="AlphaPic"/>
          <p:cNvPicPr>
            <a:picLocks noChangeAspect="1"/>
          </p:cNvPicPr>
          <p:nvPr/>
        </p:nvPicPr>
        <p:blipFill>
          <a:blip r:embed="rId2">
            <a:alphaModFix amt="50000"/>
          </a:blip>
          <a:stretch>
            <a:fillRect/>
          </a:stretch>
        </p:blipFill>
        <p:spPr>
          <a:xfrm>
            <a:off x="3657600" y="914400"/>
            <a:ext cx="2743200" cy="2743200"/>
          </a:xfrm>
          <a:prstGeom prst="rect">
            <a:avLst/>
          </a:prstGeom>
        </p:spPr>
      </p:pic>
      <p:pic>
        <p:nvPicPr>
          <p:cNvPr id="102" name="CropAlphaPic"/>
          <p:cNvPicPr>
            <a:picLocks noChangeAspect="1"/>
          </p:cNvPicPr>
          <p:nvPr/>
        </p:nvPicPr>
        <p:blipFill>
          <a:blip r:embed="rId2">
            <a:alphaModFix amt="75000"/>
          </a:blip>
          <a:srcRect l="50000"/>
          <a:stretch>
            <a:fillRect/>
          </a:stretch>
        </p:blipFill>
        <p:spPr>
          <a:xfrm>
            <a:off x="6858000" y="914400"/>
            <a:ext cx="2286000" cy="2743200"/>
          </a:xfrm>
          <a:prstGeom prst="rect">
            <a:avLst/>
          </a:prstGeom>
        </p:spPr>
      </p:pic>
      <p:sp>
        <p:nvSpPr>
          <p:cNvPr id="103" name="TextBox 102"/>
          <p:cNvSpPr txBox="1"/>
          <p:nvPr/>
        </p:nvSpPr>
        <p:spPr>
          <a:xfrm>
            <a:off x="274320" y="182880"/>
            <a:ext cx="8229600" cy="457200"/>
          </a:xfrm>
          <a:prstGeom prst="rect">
            <a:avLst/>
          </a:prstGeom>
          <a:noFill/>
        </p:spPr>
        <p:txBody>
          <a:bodyPr wrap="none">
            <a:spAutoFit/>
          </a:bodyPr>
          <a:lstStyle/>
          <a:p>
            <a:pPr>
              <a:defRPr sz="1800" b="1"/>
            </a:pPr>
            <a:r>
              <a:t>Slide 43: Image crop (srcRect) + alpha (alphaModFix)</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00" name="ExtPic1"/>
          <p:cNvPicPr>
            <a:picLocks noChangeAspect="1"/>
          </p:cNvPicPr>
          <p:nvPr/>
        </p:nvPicPr>
        <p:blipFill>
          <a:blip r:embed="rId2"/>
          <a:stretch>
            <a:fillRect/>
          </a:stretch>
        </p:blipFill>
        <p:spPr>
          <a:xfrm>
            <a:off x="457200" y="914400"/>
            <a:ext cx="3657600" cy="3657600"/>
          </a:xfrm>
          <a:prstGeom prst="rect">
            <a:avLst/>
          </a:prstGeom>
        </p:spPr>
      </p:pic>
      <p:pic>
        <p:nvPicPr>
          <p:cNvPr id="201" name="ExtPic2"/>
          <p:cNvPicPr>
            <a:picLocks noChangeAspect="1"/>
          </p:cNvPicPr>
          <p:nvPr/>
        </p:nvPicPr>
        <p:blipFill>
          <a:blip r:embed="rId3"/>
          <a:stretch>
            <a:fillRect/>
          </a:stretch>
        </p:blipFill>
        <p:spPr>
          <a:xfrm>
            <a:off x="4572000" y="914400"/>
            <a:ext cx="2743200" cy="3657600"/>
          </a:xfrm>
          <a:prstGeom prst="rect">
            <a:avLst/>
          </a:prstGeom>
        </p:spPr>
      </p:pic>
      <p:sp>
        <p:nvSpPr>
          <p:cNvPr id="202" name="TextBox 201"/>
          <p:cNvSpPr txBox="1"/>
          <p:nvPr/>
        </p:nvSpPr>
        <p:spPr>
          <a:xfrm>
            <a:off x="274320" y="182880"/>
            <a:ext cx="8229600" cy="457200"/>
          </a:xfrm>
          <a:prstGeom prst="rect">
            <a:avLst/>
          </a:prstGeom>
          <a:noFill/>
        </p:spPr>
        <p:txBody>
          <a:bodyPr wrap="none">
            <a:spAutoFit/>
          </a:bodyPr>
          <a:lstStyle/>
          <a:p>
            <a:pPr>
              <a:defRPr sz="1800" b="1"/>
            </a:pPr>
            <a:r>
              <a:t>Slide 44: External image reference (TargetMode=External)</a:t>
            </a:r>
          </a:p>
        </p:txBody>
      </p:sp>
      <p:sp>
        <p:nvSpPr>
          <p:cNvPr id="203" name="TextBox 202"/>
          <p:cNvSpPr txBox="1"/>
          <p:nvPr/>
        </p:nvSpPr>
        <p:spPr>
          <a:xfrm>
            <a:off x="457200" y="4754880"/>
            <a:ext cx="8229600" cy="1371600"/>
          </a:xfrm>
          <a:prstGeom prst="rect">
            <a:avLst/>
          </a:prstGeom>
          <a:noFill/>
        </p:spPr>
        <p:txBody>
          <a:bodyPr wrap="none">
            <a:spAutoFit/>
          </a:bodyPr>
          <a:lstStyle/>
          <a:p>
            <a:pPr>
              <a:defRPr sz="1200"/>
            </a:pPr>
            <a:r>
              <a:t>Left: Wikimedia Commons PNG</a:t>
            </a:r>
            <a:br/>
            <a:r>
              <a:t>Right: picsum.photos (id=237)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00" name="BrightPic"/>
          <p:cNvPicPr>
            <a:picLocks noChangeAspect="1"/>
          </p:cNvPicPr>
          <p:nvPr/>
        </p:nvPicPr>
        <p:blipFill>
          <a:blip r:embed="rId2">
            <a:lum bright="50000"/>
          </a:blip>
          <a:stretch>
            <a:fillRect/>
          </a:stretch>
        </p:blipFill>
        <p:spPr>
          <a:xfrm>
            <a:off x="457200" y="914400"/>
            <a:ext cx="2286000" cy="2286000"/>
          </a:xfrm>
          <a:prstGeom prst="rect">
            <a:avLst/>
          </a:prstGeom>
        </p:spPr>
      </p:pic>
      <p:pic>
        <p:nvPicPr>
          <p:cNvPr id="301" name="ContrastPic"/>
          <p:cNvPicPr>
            <a:picLocks noChangeAspect="1"/>
          </p:cNvPicPr>
          <p:nvPr/>
        </p:nvPicPr>
        <p:blipFill>
          <a:blip r:embed="rId2">
            <a:lum contrast="-30000"/>
          </a:blip>
          <a:stretch>
            <a:fillRect/>
          </a:stretch>
        </p:blipFill>
        <p:spPr>
          <a:xfrm>
            <a:off x="3429000" y="914400"/>
            <a:ext cx="2286000" cy="2286000"/>
          </a:xfrm>
          <a:prstGeom prst="rect">
            <a:avLst/>
          </a:prstGeom>
        </p:spPr>
      </p:pic>
      <p:pic>
        <p:nvPicPr>
          <p:cNvPr id="302" name="BrightContrastPic"/>
          <p:cNvPicPr>
            <a:picLocks noChangeAspect="1"/>
          </p:cNvPicPr>
          <p:nvPr/>
        </p:nvPicPr>
        <p:blipFill>
          <a:blip r:embed="rId2">
            <a:lum bright="20000" contrast="40000"/>
          </a:blip>
          <a:stretch>
            <a:fillRect/>
          </a:stretch>
        </p:blipFill>
        <p:spPr>
          <a:xfrm>
            <a:off x="6400800" y="914400"/>
            <a:ext cx="2286000" cy="2286000"/>
          </a:xfrm>
          <a:prstGeom prst="rect">
            <a:avLst/>
          </a:prstGeom>
        </p:spPr>
      </p:pic>
      <p:sp>
        <p:nvSpPr>
          <p:cNvPr id="303" name="TextBox 302"/>
          <p:cNvSpPr txBox="1"/>
          <p:nvPr/>
        </p:nvSpPr>
        <p:spPr>
          <a:xfrm>
            <a:off x="274320" y="182880"/>
            <a:ext cx="8229600" cy="457200"/>
          </a:xfrm>
          <a:prstGeom prst="rect">
            <a:avLst/>
          </a:prstGeom>
          <a:noFill/>
        </p:spPr>
        <p:txBody>
          <a:bodyPr wrap="none">
            <a:spAutoFit/>
          </a:bodyPr>
          <a:lstStyle/>
          <a:p>
            <a:pPr>
              <a:defRPr sz="1800" b="1"/>
            </a:pPr>
            <a:r>
              <a:t>Slide 45: Image effects — brightness/contrast (a:lum)</a:t>
            </a:r>
          </a:p>
        </p:txBody>
      </p:sp>
      <p:sp>
        <p:nvSpPr>
          <p:cNvPr id="304" name="TextBox 303"/>
          <p:cNvSpPr txBox="1"/>
          <p:nvPr/>
        </p:nvSpPr>
        <p:spPr>
          <a:xfrm>
            <a:off x="457200" y="3931920"/>
            <a:ext cx="8229600" cy="914400"/>
          </a:xfrm>
          <a:prstGeom prst="rect">
            <a:avLst/>
          </a:prstGeom>
          <a:noFill/>
        </p:spPr>
        <p:txBody>
          <a:bodyPr wrap="none">
            <a:spAutoFit/>
          </a:bodyPr>
          <a:lstStyle/>
          <a:p>
            <a:pPr>
              <a:defRPr sz="1200"/>
            </a:pPr>
            <a:r>
              <a:t>Left: bright +50% | Center: contrast -30% | Right: bright +20% contrast +40%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00" name="DuotonePic"/>
          <p:cNvPicPr>
            <a:picLocks noChangeAspect="1"/>
          </p:cNvPicPr>
          <p:nvPr/>
        </p:nvPicPr>
        <p:blipFill>
          <a:blip r:embed="rId2">
            <a:duotone>
              <a:srgbClr val="000080"/>
              <a:srgbClr val="FFFF00"/>
            </a:duotone>
          </a:blip>
          <a:stretch>
            <a:fillRect/>
          </a:stretch>
        </p:blipFill>
        <p:spPr>
          <a:xfrm>
            <a:off x="457200" y="914400"/>
            <a:ext cx="3657600" cy="3657600"/>
          </a:xfrm>
          <a:prstGeom prst="rect">
            <a:avLst/>
          </a:prstGeom>
        </p:spPr>
      </p:pic>
      <p:pic>
        <p:nvPicPr>
          <p:cNvPr id="401" name="ClrChangePic"/>
          <p:cNvPicPr>
            <a:picLocks noChangeAspect="1"/>
          </p:cNvPicPr>
          <p:nvPr/>
        </p:nvPicPr>
        <p:blipFill>
          <a:blip r:embed="rId2">
            <a:clrChange>
              <a:clrFrom>
                <a:srgbClr val="FF0000"/>
              </a:clrFrom>
              <a:clrTo>
                <a:srgbClr val="00FF00"/>
              </a:clrTo>
            </a:clrChange>
          </a:blip>
          <a:stretch>
            <a:fillRect/>
          </a:stretch>
        </p:blipFill>
        <p:spPr>
          <a:xfrm>
            <a:off x="4572000" y="914400"/>
            <a:ext cx="3657600" cy="3657600"/>
          </a:xfrm>
          <a:prstGeom prst="rect">
            <a:avLst/>
          </a:prstGeom>
        </p:spPr>
      </p:pic>
      <p:sp>
        <p:nvSpPr>
          <p:cNvPr id="402" name="TextBox 401"/>
          <p:cNvSpPr txBox="1"/>
          <p:nvPr/>
        </p:nvSpPr>
        <p:spPr>
          <a:xfrm>
            <a:off x="274320" y="182880"/>
            <a:ext cx="8229600" cy="457200"/>
          </a:xfrm>
          <a:prstGeom prst="rect">
            <a:avLst/>
          </a:prstGeom>
          <a:noFill/>
        </p:spPr>
        <p:txBody>
          <a:bodyPr wrap="none">
            <a:spAutoFit/>
          </a:bodyPr>
          <a:lstStyle/>
          <a:p>
            <a:pPr>
              <a:defRPr sz="1800" b="1"/>
            </a:pPr>
            <a:r>
              <a:t>Slide 46: Duotone (a:duotone) + Color change (a:clrChange)</a:t>
            </a:r>
          </a:p>
        </p:txBody>
      </p:sp>
      <p:sp>
        <p:nvSpPr>
          <p:cNvPr id="403" name="TextBox 402"/>
          <p:cNvSpPr txBox="1"/>
          <p:nvPr/>
        </p:nvSpPr>
        <p:spPr>
          <a:xfrm>
            <a:off x="457200" y="4754880"/>
            <a:ext cx="8229600" cy="914400"/>
          </a:xfrm>
          <a:prstGeom prst="rect">
            <a:avLst/>
          </a:prstGeom>
          <a:noFill/>
        </p:spPr>
        <p:txBody>
          <a:bodyPr wrap="none">
            <a:spAutoFit/>
          </a:bodyPr>
          <a:lstStyle/>
          <a:p>
            <a:pPr>
              <a:defRPr sz="1200"/>
            </a:pPr>
            <a:r>
              <a:t>Left: Duotone (navy→yellow) | Right: clrChange (red→green, data preserved)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pattFill prst="ltDnDiag">
          <a:fgClr>
            <a:srgbClr val="3366CC"/>
          </a:fgClr>
          <a:bgClr>
            <a:srgbClr val="FFFFFF"/>
          </a:bgClr>
        </a:pattFill>
        <a:effectLst/>
      </p:bgPr>
    </p:bg>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47: Background pattern fill (ltDnDiag)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 name="GradStrokeRect"/>
          <p:cNvSpPr/>
          <p:nvPr/>
        </p:nvSpPr>
        <p:spPr>
          <a:xfrm>
            <a:off x="457200" y="1371600"/>
            <a:ext cx="3657600" cy="2286000"/>
          </a:xfrm>
          <a:prstGeom prst="rect">
            <a:avLst/>
          </a:prstGeom>
          <a:solidFill>
            <a:srgbClr val="F0F0F0"/>
          </a:solidFill>
          <a:ln w="76200">
            <a:gradFill>
              <a:gsLst>
                <a:gs pos="0">
                  <a:srgbClr val="FF0000"/>
                </a:gs>
                <a:gs pos="50000">
                  <a:srgbClr val="00FF00"/>
                </a:gs>
                <a:gs pos="100000">
                  <a:srgbClr val="0000FF"/>
                </a:gs>
              </a:gsLst>
              <a:lin ang="0" scaled="1"/>
            </a:gradFill>
          </a:ln>
        </p:spPr>
        <p:txBody>
          <a:bodyPr/>
          <a:lstStyle/>
          <a:p>
            <a:r>
              <a:rPr lang="en-US" sz="1400"/>
              <a:t>Gradient stroke</a:t>
            </a:r>
          </a:p>
        </p:txBody>
      </p:sp>
      <p:sp>
        <p:nvSpPr>
          <p:cNvPr id="101" name="PattStrokeEllipse"/>
          <p:cNvSpPr/>
          <p:nvPr/>
        </p:nvSpPr>
        <p:spPr>
          <a:xfrm>
            <a:off x="5029200" y="1371600"/>
            <a:ext cx="3657600" cy="2286000"/>
          </a:xfrm>
          <a:prstGeom prst="ellipse">
            <a:avLst/>
          </a:prstGeom>
          <a:solidFill>
            <a:srgbClr val="FFFFCC"/>
          </a:solidFill>
          <a:ln w="57150">
            <a:pattFill prst="smCheck">
              <a:fgClr>
                <a:srgbClr val="990000"/>
              </a:fgClr>
              <a:bgClr>
                <a:srgbClr val="FFCC00"/>
              </a:bgClr>
            </a:pattFill>
          </a:ln>
        </p:spPr>
        <p:txBody>
          <a:bodyPr/>
          <a:lstStyle/>
          <a:p>
            <a:r>
              <a:rPr lang="en-US" sz="1400"/>
              <a:t>Pattern stroke</a:t>
            </a:r>
          </a:p>
        </p:txBody>
      </p:sp>
      <p:sp>
        <p:nvSpPr>
          <p:cNvPr id="102" name="TextBox 101"/>
          <p:cNvSpPr txBox="1"/>
          <p:nvPr/>
        </p:nvSpPr>
        <p:spPr>
          <a:xfrm>
            <a:off x="274320" y="182880"/>
            <a:ext cx="8229600" cy="457200"/>
          </a:xfrm>
          <a:prstGeom prst="rect">
            <a:avLst/>
          </a:prstGeom>
          <a:noFill/>
        </p:spPr>
        <p:txBody>
          <a:bodyPr wrap="none">
            <a:spAutoFit/>
          </a:bodyPr>
          <a:lstStyle/>
          <a:p>
            <a:pPr>
              <a:defRPr sz="1800" b="1"/>
            </a:pPr>
            <a:r>
              <a:t>Slide 48: Line gradient fill + Line pattern fill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0" name="LinkedShape">
            <a:hlinkClick r:id="rId99"/>
          </p:cNvPr>
          <p:cNvSpPr/>
          <p:nvPr/>
        </p:nvSpPr>
        <p:spPr>
          <a:xfrm>
            <a:off x="457200" y="1371600"/>
            <a:ext cx="3657600" cy="1828800"/>
          </a:xfrm>
          <a:prstGeom prst="roundRect">
            <a:avLst/>
          </a:prstGeom>
          <a:solidFill>
            <a:srgbClr val="4472C4"/>
          </a:solidFill>
          <a:ln w="25400">
            <a:solidFill>
              <a:srgbClr val="2F5597"/>
            </a:solidFill>
          </a:ln>
        </p:spPr>
        <p:txBody>
          <a:bodyPr anchor="ctr"/>
          <a:lstStyle/>
          <a:p>
            <a:pPr algn="ctr"/>
            <a:r>
              <a:rPr lang="en-US" sz="1600" b="1">
                <a:solidFill>
                  <a:srgbClr val="FFFFFF"/>
                </a:solidFill>
              </a:rPr>
              <a:t>Click me (shape link)</a:t>
            </a:r>
          </a:p>
        </p:txBody>
      </p:sp>
      <p:sp>
        <p:nvSpPr>
          <p:cNvPr id="201" name="CompColor"/>
          <p:cNvSpPr/>
          <p:nvPr/>
        </p:nvSpPr>
        <p:spPr>
          <a:xfrm>
            <a:off x="5029200" y="1371600"/>
            <a:ext cx="3657600" cy="1828800"/>
          </a:xfrm>
          <a:prstGeom prst="rect">
            <a:avLst/>
          </a:prstGeom>
          <a:solidFill>
            <a:srgbClr val="FF6600">
              <a:comp/>
            </a:srgbClr>
          </a:solidFill>
        </p:spPr>
        <p:txBody>
          <a:bodyPr anchor="ctr"/>
          <a:lstStyle/>
          <a:p>
            <a:pPr algn="ctr"/>
            <a:r>
              <a:rPr lang="en-US" sz="1400"/>
              <a:t>comp(#FF6600) = complementary hue</a:t>
            </a:r>
          </a:p>
        </p:txBody>
      </p:sp>
      <p:sp>
        <p:nvSpPr>
          <p:cNvPr id="202" name="InvColor"/>
          <p:cNvSpPr/>
          <p:nvPr/>
        </p:nvSpPr>
        <p:spPr>
          <a:xfrm>
            <a:off x="457200" y="3657600"/>
            <a:ext cx="3657600" cy="1828800"/>
          </a:xfrm>
          <a:prstGeom prst="rect">
            <a:avLst/>
          </a:prstGeom>
          <a:solidFill>
            <a:srgbClr val="3366CC">
              <a:inv/>
            </a:srgbClr>
          </a:solidFill>
        </p:spPr>
        <p:txBody>
          <a:bodyPr anchor="ctr"/>
          <a:lstStyle/>
          <a:p>
            <a:pPr algn="ctr"/>
            <a:r>
              <a:rPr lang="en-US" sz="1400"/>
              <a:t>inv(#3366CC) → #CC9933</a:t>
            </a:r>
          </a:p>
        </p:txBody>
      </p:sp>
      <p:sp>
        <p:nvSpPr>
          <p:cNvPr id="203" name="HueModColor"/>
          <p:cNvSpPr/>
          <p:nvPr/>
        </p:nvSpPr>
        <p:spPr>
          <a:xfrm>
            <a:off x="5029200" y="3657600"/>
            <a:ext cx="3657600" cy="1828800"/>
          </a:xfrm>
          <a:prstGeom prst="rect">
            <a:avLst/>
          </a:prstGeom>
          <a:solidFill>
            <a:srgbClr val="FF0000">
              <a:hueMod val="50000"/>
            </a:srgbClr>
          </a:solidFill>
        </p:spPr>
        <p:txBody>
          <a:bodyPr anchor="ctr"/>
          <a:lstStyle/>
          <a:p>
            <a:pPr algn="ctr"/>
            <a:r>
              <a:rPr lang="en-US" sz="1400"/>
              <a:t>hueMod 50% of red</a:t>
            </a:r>
          </a:p>
        </p:txBody>
      </p:sp>
      <p:sp>
        <p:nvSpPr>
          <p:cNvPr id="204" name="TextBox 203"/>
          <p:cNvSpPr txBox="1"/>
          <p:nvPr/>
        </p:nvSpPr>
        <p:spPr>
          <a:xfrm>
            <a:off x="274320" y="182880"/>
            <a:ext cx="8229600" cy="457200"/>
          </a:xfrm>
          <a:prstGeom prst="rect">
            <a:avLst/>
          </a:prstGeom>
          <a:noFill/>
        </p:spPr>
        <p:txBody>
          <a:bodyPr wrap="none">
            <a:spAutoFit/>
          </a:bodyPr>
          <a:lstStyle/>
          <a:p>
            <a:pPr>
              <a:defRPr sz="1800" b="1"/>
            </a:pPr>
            <a:r>
              <a:t>Slide 49: Shape hyperlinks + Color modifiers (comp/inv/hueMod)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1" name="OuterShadow"/>
          <p:cNvSpPr/>
          <p:nvPr/>
        </p:nvSpPr>
        <p:spPr>
          <a:xfrm>
            <a:off x="457200" y="1371600"/>
            <a:ext cx="3200400" cy="1828800"/>
          </a:xfrm>
          <a:prstGeom prst="roundRect">
            <a:avLst/>
          </a:prstGeom>
          <a:solidFill>
            <a:srgbClr val="4472C4"/>
          </a:solidFill>
          <a:effectLst>
            <a:outerShdw blurRad="152400" dist="114300" dir="5400000" algn="ctr" rotWithShape="0">
              <a:srgbClr val="000000">
                <a:alpha val="40000"/>
              </a:srgbClr>
            </a:outerShdw>
          </a:effectLst>
        </p:spPr>
        <p:txBody>
          <a:bodyPr anchor="ctr"/>
          <a:lstStyle/>
          <a:p>
            <a:pPr algn="ctr"/>
            <a:r>
              <a:rPr lang="en-US" sz="1400" b="1"/>
              <a:t>Outer Shadow</a:t>
            </a:r>
          </a:p>
        </p:txBody>
      </p:sp>
      <p:sp>
        <p:nvSpPr>
          <p:cNvPr id="302" name="InnerShadow"/>
          <p:cNvSpPr/>
          <p:nvPr/>
        </p:nvSpPr>
        <p:spPr>
          <a:xfrm>
            <a:off x="457200" y="3657600"/>
            <a:ext cx="3200400" cy="1828800"/>
          </a:xfrm>
          <a:prstGeom prst="roundRect">
            <a:avLst/>
          </a:prstGeom>
          <a:solidFill>
            <a:srgbClr val="70AD47"/>
          </a:solidFill>
          <a:effectLst>
            <a:innerShdw blurRad="114300" dist="76200" dir="2700000">
              <a:srgbClr val="000000">
                <a:alpha val="50000"/>
              </a:srgbClr>
            </a:innerShdw>
          </a:effectLst>
        </p:spPr>
        <p:txBody>
          <a:bodyPr anchor="ctr"/>
          <a:lstStyle/>
          <a:p>
            <a:pPr algn="ctr"/>
            <a:r>
              <a:rPr lang="en-US" sz="1400" b="1"/>
              <a:t>Inner Shadow</a:t>
            </a:r>
          </a:p>
        </p:txBody>
      </p:sp>
      <p:sp>
        <p:nvSpPr>
          <p:cNvPr id="303" name="Glow"/>
          <p:cNvSpPr/>
          <p:nvPr/>
        </p:nvSpPr>
        <p:spPr>
          <a:xfrm>
            <a:off x="5029200" y="1371600"/>
            <a:ext cx="3200400" cy="1828800"/>
          </a:xfrm>
          <a:prstGeom prst="roundRect">
            <a:avLst/>
          </a:prstGeom>
          <a:solidFill>
            <a:srgbClr val="ED7D31"/>
          </a:solidFill>
          <a:effectLst>
            <a:glow rad="228600">
              <a:srgbClr val="FFC000">
                <a:alpha val="60000"/>
              </a:srgbClr>
            </a:glow>
          </a:effectLst>
        </p:spPr>
        <p:txBody>
          <a:bodyPr anchor="ctr"/>
          <a:lstStyle/>
          <a:p>
            <a:pPr algn="ctr"/>
            <a:r>
              <a:rPr lang="en-US" sz="1400" b="1"/>
              <a:t>Glow Effect</a:t>
            </a:r>
          </a:p>
        </p:txBody>
      </p:sp>
      <p:sp>
        <p:nvSpPr>
          <p:cNvPr id="304" name="SoftEdge"/>
          <p:cNvSpPr/>
          <p:nvPr/>
        </p:nvSpPr>
        <p:spPr>
          <a:xfrm>
            <a:off x="5029200" y="3657600"/>
            <a:ext cx="3200400" cy="1828800"/>
          </a:xfrm>
          <a:prstGeom prst="roundRect">
            <a:avLst/>
          </a:prstGeom>
          <a:solidFill>
            <a:srgbClr val="A855F7"/>
          </a:solidFill>
          <a:effectLst>
            <a:softEdge rad="317500"/>
          </a:effectLst>
        </p:spPr>
        <p:txBody>
          <a:bodyPr anchor="ctr"/>
          <a:lstStyle/>
          <a:p>
            <a:pPr algn="ctr"/>
            <a:r>
              <a:rPr lang="en-US" sz="1400" b="1"/>
              <a:t>Soft Edge</a:t>
            </a:r>
          </a:p>
        </p:txBody>
      </p:sp>
      <p:sp>
        <p:nvSpPr>
          <p:cNvPr id="305" name="TextBox 304"/>
          <p:cNvSpPr txBox="1"/>
          <p:nvPr/>
        </p:nvSpPr>
        <p:spPr>
          <a:xfrm>
            <a:off x="274320" y="182880"/>
            <a:ext cx="8229600" cy="457200"/>
          </a:xfrm>
          <a:prstGeom prst="rect">
            <a:avLst/>
          </a:prstGeom>
          <a:noFill/>
        </p:spPr>
        <p:txBody>
          <a:bodyPr wrap="none">
            <a:spAutoFit/>
          </a:bodyPr>
          <a:lstStyle/>
          <a:p>
            <a:pPr>
              <a:defRPr sz="1800" b="1"/>
            </a:pPr>
            <a:r>
              <a:t>Slide 50: Shape effects (outerShdw / innerShdw / glow / softEdge)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1" name="Bevel3D"/>
          <p:cNvSpPr/>
          <p:nvPr/>
        </p:nvSpPr>
        <p:spPr>
          <a:xfrm>
            <a:off x="457200" y="1371600"/>
            <a:ext cx="3200400" cy="1828800"/>
          </a:xfrm>
          <a:prstGeom prst="roundRect">
            <a:avLst/>
          </a:prstGeom>
          <a:solidFill>
            <a:srgbClr val="4472C4"/>
          </a:solidFill>
          <a:scene3d>
            <a:camera prst="orthographicFront"/>
            <a:lightRig rig="threePt" dir="t"/>
          </a:scene3d>
          <a:sp3d prstMaterial="plastic">
            <a:bevelT w="152400" h="50800" prst="relaxedInset"/>
          </a:sp3d>
        </p:spPr>
        <p:txBody>
          <a:bodyPr anchor="ctr"/>
          <a:lstStyle/>
          <a:p>
            <a:pPr algn="ctr"/>
            <a:r>
              <a:rPr lang="en-US" sz="1400" b="1"/>
              <a:t>3D Bevel</a:t>
            </a:r>
          </a:p>
        </p:txBody>
      </p:sp>
      <p:sp>
        <p:nvSpPr>
          <p:cNvPr id="402" name="TextShadow"/>
          <p:cNvSpPr/>
          <p:nvPr/>
        </p:nvSpPr>
        <p:spPr>
          <a:xfrm>
            <a:off x="5029200" y="1371600"/>
            <a:ext cx="3200400" cy="1828800"/>
          </a:xfrm>
          <a:prstGeom prst="rect">
            <a:avLst/>
          </a:prstGeom>
          <a:solidFill>
            <a:srgbClr val="FFFFFF"/>
          </a:solidFill>
        </p:spPr>
        <p:txBody>
          <a:bodyPr anchor="ctr"/>
          <a:lstStyle/>
          <a:p>
            <a:pPr algn="ctr"/>
            <a:r>
              <a:rPr lang="en-US" sz="2400" b="1">
                <a:solidFill>
                  <a:srgbClr val="333333"/>
                </a:solidFill>
                <a:effectLst>
                  <a:outerShdw blurRad="38100" dist="38100" dir="5400000">
                    <a:srgbClr val="000000">
                      <a:alpha val="40000"/>
                    </a:srgbClr>
                  </a:outerShdw>
                </a:effectLst>
              </a:rPr>
              <a:t>Text with Shadow</a:t>
            </a:r>
          </a:p>
          <a:p>
            <a:pPr algn="ctr"/>
            <a:r>
              <a:rPr lang="en-US" sz="2000">
                <a:solidFill>
                  <a:srgbClr val="FF4444"/>
                </a:solidFill>
                <a:effectLst>
                  <a:glow rad="101600">
                    <a:srgbClr val="FF0000">
                      <a:alpha val="50000"/>
                    </a:srgbClr>
                  </a:glow>
                </a:effectLst>
              </a:rPr>
              <a:t>Text with Glow</a:t>
            </a:r>
          </a:p>
        </p:txBody>
      </p:sp>
      <p:sp>
        <p:nvSpPr>
          <p:cNvPr id="403" name="Extrusion3D"/>
          <p:cNvSpPr/>
          <p:nvPr/>
        </p:nvSpPr>
        <p:spPr>
          <a:xfrm>
            <a:off x="457200" y="3657600"/>
            <a:ext cx="3200400" cy="1828800"/>
          </a:xfrm>
          <a:prstGeom prst="roundRect">
            <a:avLst/>
          </a:prstGeom>
          <a:solidFill>
            <a:srgbClr val="70AD47"/>
          </a:solidFill>
          <a:scene3d>
            <a:camera prst="isometricLeftDown"/>
            <a:lightRig rig="balanced" dir="t"/>
          </a:scene3d>
          <a:sp3d extrusionH="76200" contourW="12700" prstMaterial="warmMatte">
            <a:bevelT w="101600" h="38100" prst="circle"/>
            <a:bevelB w="50800" h="25400"/>
            <a:extrusionClr>
              <a:srgbClr val="5B8C3C"/>
            </a:extrusionClr>
            <a:contourClr>
              <a:srgbClr val="2E5B14"/>
            </a:contourClr>
          </a:sp3d>
        </p:spPr>
        <p:txBody>
          <a:bodyPr anchor="ctr"/>
          <a:lstStyle/>
          <a:p>
            <a:pPr algn="ctr"/>
            <a:r>
              <a:rPr lang="en-US" sz="1400" b="1"/>
              <a:t>3D Extrusion</a:t>
            </a:r>
          </a:p>
        </p:txBody>
      </p:sp>
      <p:sp>
        <p:nvSpPr>
          <p:cNvPr id="404" name="TextBox 403"/>
          <p:cNvSpPr txBox="1"/>
          <p:nvPr/>
        </p:nvSpPr>
        <p:spPr>
          <a:xfrm>
            <a:off x="274320" y="182880"/>
            <a:ext cx="8229600" cy="457200"/>
          </a:xfrm>
          <a:prstGeom prst="rect">
            <a:avLst/>
          </a:prstGeom>
          <a:noFill/>
        </p:spPr>
        <p:txBody>
          <a:bodyPr wrap="none">
            <a:spAutoFit/>
          </a:bodyPr>
          <a:lstStyle/>
          <a:p>
            <a:pPr>
              <a:defRPr sz="1800" b="1"/>
            </a:pPr>
            <a:r>
              <a:t>Slide 51: 3D effects (bevel/extrusion/scene3d) + text shadow/glow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52: Column chart (clustered)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53: Line chart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18288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54: Pie chart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457200" y="1371600"/>
          <a:ext cx="3657600" cy="3657600"/>
        </p:xfrm>
        <a:graphic>
          <a:graphicData uri="http://schemas.openxmlformats.org/drawingml/2006/chart">
            <c:chart xmlns:c="http://schemas.openxmlformats.org/drawingml/2006/chart" r:id="rId2"/>
          </a:graphicData>
        </a:graphic>
      </p:graphicFrame>
      <p:graphicFrame>
        <p:nvGraphicFramePr>
          <p:cNvPr id="3" name="Chart 2"/>
          <p:cNvGraphicFramePr>
            <a:graphicFrameLocks noGrp="1"/>
          </p:cNvGraphicFramePr>
          <p:nvPr/>
        </p:nvGraphicFramePr>
        <p:xfrm>
          <a:off x="4572000" y="1371600"/>
          <a:ext cx="3657600" cy="3657600"/>
        </p:xfrm>
        <a:graphic>
          <a:graphicData uri="http://schemas.openxmlformats.org/drawingml/2006/chart">
            <c:chart xmlns:c="http://schemas.openxmlformats.org/drawingml/2006/chart" r:id="rId3"/>
          </a:graphicData>
        </a:graphic>
      </p:graphicFrame>
      <p:sp>
        <p:nvSpPr>
          <p:cNvPr id="4" name="TextBox 3"/>
          <p:cNvSpPr txBox="1"/>
          <p:nvPr/>
        </p:nvSpPr>
        <p:spPr>
          <a:xfrm>
            <a:off x="274320" y="182880"/>
            <a:ext cx="8229600" cy="457200"/>
          </a:xfrm>
          <a:prstGeom prst="rect">
            <a:avLst/>
          </a:prstGeom>
          <a:noFill/>
        </p:spPr>
        <p:txBody>
          <a:bodyPr wrap="none">
            <a:spAutoFit/>
          </a:bodyPr>
          <a:lstStyle/>
          <a:p>
            <a:pPr>
              <a:defRPr sz="1800" b="1"/>
            </a:pPr>
            <a:r>
              <a:t>Slide 55: Bar chart (horizontal) + Donut chart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56: Column chart with data labels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18288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57: Pie chart with custom colors + % labels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4572000" cy="36576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58: Line chart with series colors + data labels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274320" y="1371600"/>
          <a:ext cx="4114800" cy="3657600"/>
        </p:xfrm>
        <a:graphic>
          <a:graphicData uri="http://schemas.openxmlformats.org/drawingml/2006/chart">
            <c:chart xmlns:c="http://schemas.openxmlformats.org/drawingml/2006/chart" r:id="rId2"/>
          </a:graphicData>
        </a:graphic>
      </p:graphicFrame>
      <p:graphicFrame>
        <p:nvGraphicFramePr>
          <p:cNvPr id="3" name="Chart 2"/>
          <p:cNvGraphicFramePr>
            <a:graphicFrameLocks noGrp="1"/>
          </p:cNvGraphicFramePr>
          <p:nvPr/>
        </p:nvGraphicFramePr>
        <p:xfrm>
          <a:off x="4754880" y="1371600"/>
          <a:ext cx="4114800" cy="3657600"/>
        </p:xfrm>
        <a:graphic>
          <a:graphicData uri="http://schemas.openxmlformats.org/drawingml/2006/chart">
            <c:chart xmlns:c="http://schemas.openxmlformats.org/drawingml/2006/chart" r:id="rId3"/>
          </a:graphicData>
        </a:graphic>
      </p:graphicFrame>
      <p:sp>
        <p:nvSpPr>
          <p:cNvPr id="4" name="TextBox 3"/>
          <p:cNvSpPr txBox="1"/>
          <p:nvPr/>
        </p:nvSpPr>
        <p:spPr>
          <a:xfrm>
            <a:off x="274320" y="182880"/>
            <a:ext cx="8229600" cy="457200"/>
          </a:xfrm>
          <a:prstGeom prst="rect">
            <a:avLst/>
          </a:prstGeom>
          <a:noFill/>
        </p:spPr>
        <p:txBody>
          <a:bodyPr wrap="none">
            <a:spAutoFit/>
          </a:bodyPr>
          <a:lstStyle/>
          <a:p>
            <a:pPr>
              <a:defRPr sz="1800" b="1"/>
            </a:pPr>
            <a:r>
              <a:t>Slide 59: Scatter chart + Area chart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1828800" y="1371600"/>
          <a:ext cx="45720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60: Radar chart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1371600" y="1371600"/>
          <a:ext cx="54864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61: Bubble chart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62: Stock chart (OHLC)</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274320" y="1097280"/>
          <a:ext cx="2743200" cy="2286000"/>
        </p:xfrm>
        <a:graphic>
          <a:graphicData uri="http://schemas.openxmlformats.org/drawingml/2006/chart">
            <c:chart xmlns:c="http://schemas.openxmlformats.org/drawingml/2006/chart" r:id="rId2"/>
          </a:graphicData>
        </a:graphic>
      </p:graphicFrame>
      <p:graphicFrame>
        <p:nvGraphicFramePr>
          <p:cNvPr id="3" name="Chart 2"/>
          <p:cNvGraphicFramePr>
            <a:graphicFrameLocks noGrp="1"/>
          </p:cNvGraphicFramePr>
          <p:nvPr/>
        </p:nvGraphicFramePr>
        <p:xfrm>
          <a:off x="3200400" y="1097280"/>
          <a:ext cx="2743200" cy="2286000"/>
        </p:xfrm>
        <a:graphic>
          <a:graphicData uri="http://schemas.openxmlformats.org/drawingml/2006/chart">
            <c:chart xmlns:c="http://schemas.openxmlformats.org/drawingml/2006/chart" r:id="rId3"/>
          </a:graphicData>
        </a:graphic>
      </p:graphicFrame>
      <p:graphicFrame>
        <p:nvGraphicFramePr>
          <p:cNvPr id="4" name="Chart 3"/>
          <p:cNvGraphicFramePr>
            <a:graphicFrameLocks noGrp="1"/>
          </p:cNvGraphicFramePr>
          <p:nvPr/>
        </p:nvGraphicFramePr>
        <p:xfrm>
          <a:off x="6126480" y="1097280"/>
          <a:ext cx="2743200" cy="2286000"/>
        </p:xfrm>
        <a:graphic>
          <a:graphicData uri="http://schemas.openxmlformats.org/drawingml/2006/chart">
            <c:chart xmlns:c="http://schemas.openxmlformats.org/drawingml/2006/chart" r:id="rId4"/>
          </a:graphicData>
        </a:graphic>
      </p:graphicFrame>
      <p:graphicFrame>
        <p:nvGraphicFramePr>
          <p:cNvPr id="5" name="Chart 4"/>
          <p:cNvGraphicFramePr>
            <a:graphicFrameLocks noGrp="1"/>
          </p:cNvGraphicFramePr>
          <p:nvPr/>
        </p:nvGraphicFramePr>
        <p:xfrm>
          <a:off x="274320" y="3657600"/>
          <a:ext cx="2743200" cy="2286000"/>
        </p:xfrm>
        <a:graphic>
          <a:graphicData uri="http://schemas.openxmlformats.org/drawingml/2006/chart">
            <c:chart xmlns:c="http://schemas.openxmlformats.org/drawingml/2006/chart" r:id="rId5"/>
          </a:graphicData>
        </a:graphic>
      </p:graphicFrame>
      <p:graphicFrame>
        <p:nvGraphicFramePr>
          <p:cNvPr id="6" name="Chart 5"/>
          <p:cNvGraphicFramePr>
            <a:graphicFrameLocks noGrp="1"/>
          </p:cNvGraphicFramePr>
          <p:nvPr/>
        </p:nvGraphicFramePr>
        <p:xfrm>
          <a:off x="3200400" y="3657600"/>
          <a:ext cx="2743200" cy="2286000"/>
        </p:xfrm>
        <a:graphic>
          <a:graphicData uri="http://schemas.openxmlformats.org/drawingml/2006/chart">
            <c:chart xmlns:c="http://schemas.openxmlformats.org/drawingml/2006/chart" r:id="rId6"/>
          </a:graphicData>
        </a:graphic>
      </p:graphicFrame>
      <p:graphicFrame>
        <p:nvGraphicFramePr>
          <p:cNvPr id="7" name="Chart 6"/>
          <p:cNvGraphicFramePr>
            <a:graphicFrameLocks noGrp="1"/>
          </p:cNvGraphicFramePr>
          <p:nvPr/>
        </p:nvGraphicFramePr>
        <p:xfrm>
          <a:off x="6126480" y="3657600"/>
          <a:ext cx="2743200" cy="2286000"/>
        </p:xfrm>
        <a:graphic>
          <a:graphicData uri="http://schemas.openxmlformats.org/drawingml/2006/chart">
            <c:chart xmlns:c="http://schemas.openxmlformats.org/drawingml/2006/chart" r:id="rId7"/>
          </a:graphicData>
        </a:graphic>
      </p:graphicFrame>
      <p:sp>
        <p:nvSpPr>
          <p:cNvPr id="8" name="TextBox 7"/>
          <p:cNvSpPr txBox="1"/>
          <p:nvPr/>
        </p:nvSpPr>
        <p:spPr>
          <a:xfrm>
            <a:off x="274320" y="182880"/>
            <a:ext cx="8229600" cy="457200"/>
          </a:xfrm>
          <a:prstGeom prst="rect">
            <a:avLst/>
          </a:prstGeom>
          <a:noFill/>
        </p:spPr>
        <p:txBody>
          <a:bodyPr wrap="none">
            <a:spAutoFit/>
          </a:bodyPr>
          <a:lstStyle/>
          <a:p>
            <a:pPr>
              <a:defRPr sz="1800" b="1"/>
            </a:pPr>
            <a:r>
              <a:t>Slide 63: All chart types overview</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64: Line chart with linear trendline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65: Column chart with error bars (±8)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66: Composite chart (column + line)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67: Surface chart (2D heatmap)</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68: Pie of pie chart (ofPieChart)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914400" y="1371600"/>
          <a:ext cx="6400800" cy="4114800"/>
        </p:xfrm>
        <a:graphic>
          <a:graphicData uri="http://schemas.openxmlformats.org/drawingml/2006/chart">
            <c:chart xmlns:c="http://schemas.openxmlformats.org/drawingml/2006/chart" r:id="rId2"/>
          </a:graphicData>
        </a:graphic>
      </p:graphicFrame>
      <p:sp>
        <p:nvSpPr>
          <p:cNvPr id="3" name="TextBox 2"/>
          <p:cNvSpPr txBox="1"/>
          <p:nvPr/>
        </p:nvSpPr>
        <p:spPr>
          <a:xfrm>
            <a:off x="274320" y="182880"/>
            <a:ext cx="8229600" cy="457200"/>
          </a:xfrm>
          <a:prstGeom prst="rect">
            <a:avLst/>
          </a:prstGeom>
          <a:noFill/>
        </p:spPr>
        <p:txBody>
          <a:bodyPr wrap="none">
            <a:spAutoFit/>
          </a:bodyPr>
          <a:lstStyle/>
          <a:p>
            <a:pPr>
              <a:defRPr sz="1800" b="1"/>
            </a:pPr>
            <a:r>
              <a:t>Slide 69: 3D bar chart (view3D preserved)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70: Text outline (a:rPr/a:ln)</a:t>
            </a:r>
          </a:p>
        </p:txBody>
      </p:sp>
      <p:sp>
        <p:nvSpPr>
          <p:cNvPr id="3" name="TextBox 2"/>
          <p:cNvSpPr txBox="1"/>
          <p:nvPr/>
        </p:nvSpPr>
        <p:spPr>
          <a:xfrm>
            <a:off x="457200" y="1371600"/>
            <a:ext cx="7315200" cy="1371600"/>
          </a:xfrm>
          <a:prstGeom prst="rect">
            <a:avLst/>
          </a:prstGeom>
          <a:noFill/>
        </p:spPr>
        <p:txBody>
          <a:bodyPr wrap="none">
            <a:spAutoFit/>
          </a:bodyPr>
          <a:lstStyle/>
          <a:p>
            <a:r>
              <a:rPr sz="4800" b="1">
                <a:ln w="25400">
                  <a:solidFill>
                    <a:srgbClr val="FF0000"/>
                  </a:solidFill>
                </a:ln>
              </a:rPr>
              <a:t>Red Outlined Text</a:t>
            </a:r>
          </a:p>
        </p:txBody>
      </p:sp>
      <p:sp>
        <p:nvSpPr>
          <p:cNvPr id="4" name="TextBox 3"/>
          <p:cNvSpPr txBox="1"/>
          <p:nvPr/>
        </p:nvSpPr>
        <p:spPr>
          <a:xfrm>
            <a:off x="457200" y="3200400"/>
            <a:ext cx="7315200" cy="1371600"/>
          </a:xfrm>
          <a:prstGeom prst="rect">
            <a:avLst/>
          </a:prstGeom>
          <a:noFill/>
        </p:spPr>
        <p:txBody>
          <a:bodyPr wrap="none">
            <a:spAutoFit/>
          </a:bodyPr>
          <a:lstStyle/>
          <a:p>
            <a:r>
              <a:rPr sz="3600">
                <a:solidFill>
                  <a:srgbClr val="333333"/>
                </a:solidFill>
                <a:ln w="12700">
                  <a:solidFill>
                    <a:srgbClr val="0000FF"/>
                  </a:solidFill>
                </a:ln>
              </a:rPr>
              <a:t>Blue Outlined (thin)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71: Text gradient fill (a:rPr/a:gradFill)</a:t>
            </a:r>
          </a:p>
        </p:txBody>
      </p:sp>
      <p:sp>
        <p:nvSpPr>
          <p:cNvPr id="3" name="TextBox 2"/>
          <p:cNvSpPr txBox="1"/>
          <p:nvPr/>
        </p:nvSpPr>
        <p:spPr>
          <a:xfrm>
            <a:off x="457200" y="1371600"/>
            <a:ext cx="7315200" cy="1828800"/>
          </a:xfrm>
          <a:prstGeom prst="rect">
            <a:avLst/>
          </a:prstGeom>
          <a:noFill/>
        </p:spPr>
        <p:txBody>
          <a:bodyPr wrap="none">
            <a:spAutoFit/>
          </a:bodyPr>
          <a:lstStyle/>
          <a:p>
            <a:r>
              <a:rPr sz="6000" b="1">
                <a:gradFill>
                  <a:gsLst>
                    <a:gs pos="0">
                      <a:srgbClr val="FF0000"/>
                    </a:gs>
                    <a:gs pos="50000">
                      <a:srgbClr val="FFFF00"/>
                    </a:gs>
                    <a:gs pos="100000">
                      <a:srgbClr val="0000FF"/>
                    </a:gs>
                  </a:gsLst>
                  <a:lin ang="0" scaled="1"/>
                </a:gradFill>
              </a:rPr>
              <a:t>Gradient Text</a:t>
            </a:r>
          </a:p>
        </p:txBody>
      </p:sp>
      <p:sp>
        <p:nvSpPr>
          <p:cNvPr id="4" name="TextBox 3"/>
          <p:cNvSpPr txBox="1"/>
          <p:nvPr/>
        </p:nvSpPr>
        <p:spPr>
          <a:xfrm>
            <a:off x="457200" y="3657600"/>
            <a:ext cx="7315200" cy="1828800"/>
          </a:xfrm>
          <a:prstGeom prst="rect">
            <a:avLst/>
          </a:prstGeom>
          <a:noFill/>
        </p:spPr>
        <p:txBody>
          <a:bodyPr wrap="none">
            <a:spAutoFit/>
          </a:bodyPr>
          <a:lstStyle/>
          <a:p>
            <a:r>
              <a:rPr sz="4800">
                <a:gradFill>
                  <a:gsLst>
                    <a:gs pos="0">
                      <a:srgbClr val="00FF00"/>
                    </a:gs>
                    <a:gs pos="100000">
                      <a:srgbClr val="0000FF"/>
                    </a:gs>
                  </a:gsLst>
                  <a:lin ang="5400000" scaled="1"/>
                </a:gradFill>
              </a:rPr>
              <a:t>Green-Blue Grad</a:t>
            </a:r>
          </a:p>
        </p:txBody>
      </p:sp>
      <p:sp>
        <p:nvSpPr>
          <p:cNvPr id="5" name="TextBox 4"/>
          <p:cNvSpPr txBox="1"/>
          <p:nvPr/>
        </p:nvSpPr>
        <p:spPr>
          <a:xfrm>
            <a:off x="457200" y="5486400"/>
            <a:ext cx="7315200" cy="914400"/>
          </a:xfrm>
          <a:prstGeom prst="rect">
            <a:avLst/>
          </a:prstGeom>
          <a:noFill/>
        </p:spPr>
        <p:txBody>
          <a:bodyPr wrap="none">
            <a:spAutoFit/>
          </a:bodyPr>
          <a:lstStyle/>
          <a:p>
            <a:r>
              <a:rPr sz="4800" b="1">
                <a:pattFill prst="ltDnDiag">
                  <a:fgClr>
                    <a:srgbClr val="1F4E79"/>
                  </a:fgClr>
                  <a:bgClr>
                    <a:srgbClr val="FFFFFF"/>
                  </a:bgClr>
                </a:pattFill>
              </a:rPr>
              <a:t>Pattern Text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72: Text warp (a:prstTxWarp)</a:t>
            </a:r>
          </a:p>
        </p:txBody>
      </p:sp>
      <p:sp>
        <p:nvSpPr>
          <p:cNvPr id="3" name="TextBox 2"/>
          <p:cNvSpPr txBox="1"/>
          <p:nvPr/>
        </p:nvSpPr>
        <p:spPr>
          <a:xfrm>
            <a:off x="457200" y="1371600"/>
            <a:ext cx="3657600" cy="1828800"/>
          </a:xfrm>
          <a:prstGeom prst="rect">
            <a:avLst/>
          </a:prstGeom>
          <a:noFill/>
        </p:spPr>
        <p:txBody>
          <a:bodyPr wrap="none">
            <a:prstTxWarp prst="textWave1">
              <a:avLst>
                <a:gd name="adj" fmla="val 19773"/>
              </a:avLst>
            </a:prstTxWarp>
            <a:spAutoFit/>
          </a:bodyPr>
          <a:lstStyle/>
          <a:p>
            <a:r>
              <a:rPr sz="3600" b="1"/>
              <a:t>Wave Text</a:t>
            </a:r>
          </a:p>
        </p:txBody>
      </p:sp>
      <p:sp>
        <p:nvSpPr>
          <p:cNvPr id="4" name="TextBox 3"/>
          <p:cNvSpPr txBox="1"/>
          <p:nvPr/>
        </p:nvSpPr>
        <p:spPr>
          <a:xfrm>
            <a:off x="4572000" y="1371600"/>
            <a:ext cx="3657600" cy="1828800"/>
          </a:xfrm>
          <a:prstGeom prst="rect">
            <a:avLst/>
          </a:prstGeom>
          <a:noFill/>
        </p:spPr>
        <p:txBody>
          <a:bodyPr wrap="none">
            <a:prstTxWarp prst="textArchUp">
              <a:avLst>
                <a:gd name="adj" fmla="val 10800000"/>
              </a:avLst>
            </a:prstTxWarp>
            <a:spAutoFit/>
          </a:bodyPr>
          <a:lstStyle/>
          <a:p>
            <a:r>
              <a:rPr sz="3600" b="1"/>
              <a:t>Arch Up</a:t>
            </a:r>
          </a:p>
        </p:txBody>
      </p:sp>
      <p:sp>
        <p:nvSpPr>
          <p:cNvPr id="5" name="TextBox 4"/>
          <p:cNvSpPr txBox="1"/>
          <p:nvPr/>
        </p:nvSpPr>
        <p:spPr>
          <a:xfrm>
            <a:off x="457200" y="3657600"/>
            <a:ext cx="7315200" cy="1828800"/>
          </a:xfrm>
          <a:prstGeom prst="rect">
            <a:avLst/>
          </a:prstGeom>
          <a:noFill/>
        </p:spPr>
        <p:txBody>
          <a:bodyPr wrap="none">
            <a:prstTxWarp prst="textDeflate">
              <a:avLst/>
            </a:prstTxWarp>
            <a:spAutoFit/>
          </a:bodyPr>
          <a:lstStyle/>
          <a:p>
            <a:r>
              <a:rPr sz="3600"/>
              <a:t>Deflate Text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72b: Additional text warp presets</a:t>
            </a:r>
          </a:p>
        </p:txBody>
      </p:sp>
      <p:sp>
        <p:nvSpPr>
          <p:cNvPr id="3" name="TextBox 2"/>
          <p:cNvSpPr txBox="1"/>
          <p:nvPr/>
        </p:nvSpPr>
        <p:spPr>
          <a:xfrm>
            <a:off x="457200" y="914400"/>
            <a:ext cx="3657600" cy="1371600"/>
          </a:xfrm>
          <a:prstGeom prst="rect">
            <a:avLst/>
          </a:prstGeom>
          <a:noFill/>
        </p:spPr>
        <p:txBody>
          <a:bodyPr wrap="none">
            <a:prstTxWarp prst="textSlantUp">
              <a:avLst>
                <a:gd name="adj" fmla="val 55556"/>
              </a:avLst>
            </a:prstTxWarp>
            <a:spAutoFit/>
          </a:bodyPr>
          <a:lstStyle/>
          <a:p>
            <a:r>
              <a:rPr sz="3600" b="1"/>
              <a:t>Slant Up</a:t>
            </a:r>
          </a:p>
        </p:txBody>
      </p:sp>
      <p:sp>
        <p:nvSpPr>
          <p:cNvPr id="4" name="TextBox 3"/>
          <p:cNvSpPr txBox="1"/>
          <p:nvPr/>
        </p:nvSpPr>
        <p:spPr>
          <a:xfrm>
            <a:off x="4572000" y="914400"/>
            <a:ext cx="3657600" cy="1371600"/>
          </a:xfrm>
          <a:prstGeom prst="rect">
            <a:avLst/>
          </a:prstGeom>
          <a:noFill/>
        </p:spPr>
        <p:txBody>
          <a:bodyPr wrap="none">
            <a:prstTxWarp prst="textCurveUp">
              <a:avLst>
                <a:gd name="adj" fmla="val 45977"/>
              </a:avLst>
            </a:prstTxWarp>
            <a:spAutoFit/>
          </a:bodyPr>
          <a:lstStyle/>
          <a:p>
            <a:r>
              <a:rPr sz="3600" b="1">
                <a:solidFill>
                  <a:srgbClr val="0070C0"/>
                </a:solidFill>
              </a:rPr>
              <a:t>Curve Up</a:t>
            </a:r>
          </a:p>
        </p:txBody>
      </p:sp>
      <p:sp>
        <p:nvSpPr>
          <p:cNvPr id="5" name="TextBox 4"/>
          <p:cNvSpPr txBox="1"/>
          <p:nvPr/>
        </p:nvSpPr>
        <p:spPr>
          <a:xfrm>
            <a:off x="457200" y="2743200"/>
            <a:ext cx="3657600" cy="1371600"/>
          </a:xfrm>
          <a:prstGeom prst="rect">
            <a:avLst/>
          </a:prstGeom>
          <a:noFill/>
        </p:spPr>
        <p:txBody>
          <a:bodyPr wrap="none">
            <a:prstTxWarp prst="textInflate">
              <a:avLst/>
            </a:prstTxWarp>
            <a:spAutoFit/>
          </a:bodyPr>
          <a:lstStyle/>
          <a:p>
            <a:r>
              <a:rPr sz="3600" b="1">
                <a:solidFill>
                  <a:srgbClr val="C00000"/>
                </a:solidFill>
              </a:rPr>
              <a:t>Inflate</a:t>
            </a:r>
          </a:p>
        </p:txBody>
      </p:sp>
      <p:sp>
        <p:nvSpPr>
          <p:cNvPr id="6" name="TextBox 5"/>
          <p:cNvSpPr txBox="1"/>
          <p:nvPr/>
        </p:nvSpPr>
        <p:spPr>
          <a:xfrm>
            <a:off x="4572000" y="2743200"/>
            <a:ext cx="3657600" cy="1371600"/>
          </a:xfrm>
          <a:prstGeom prst="rect">
            <a:avLst/>
          </a:prstGeom>
          <a:noFill/>
        </p:spPr>
        <p:txBody>
          <a:bodyPr wrap="none">
            <a:prstTxWarp prst="textChevron">
              <a:avLst>
                <a:gd name="adj" fmla="val 25000"/>
              </a:avLst>
            </a:prstTxWarp>
            <a:spAutoFit/>
          </a:bodyPr>
          <a:lstStyle/>
          <a:p>
            <a:r>
              <a:rPr sz="3600" b="1">
                <a:solidFill>
                  <a:srgbClr val="00B050"/>
                </a:solidFill>
              </a:rPr>
              <a:t>Chevron</a:t>
            </a:r>
          </a:p>
        </p:txBody>
      </p:sp>
      <p:sp>
        <p:nvSpPr>
          <p:cNvPr id="7" name="TextBox 6"/>
          <p:cNvSpPr txBox="1"/>
          <p:nvPr/>
        </p:nvSpPr>
        <p:spPr>
          <a:xfrm>
            <a:off x="2286000" y="4572000"/>
            <a:ext cx="3657600" cy="2286000"/>
          </a:xfrm>
          <a:prstGeom prst="rect">
            <a:avLst/>
          </a:prstGeom>
          <a:noFill/>
        </p:spPr>
        <p:txBody>
          <a:bodyPr wrap="none">
            <a:prstTxWarp prst="textCircle">
              <a:avLst>
                <a:gd name="adj" fmla="val 10800000"/>
              </a:avLst>
            </a:prstTxWarp>
            <a:spAutoFit/>
          </a:bodyPr>
          <a:lstStyle/>
          <a:p>
            <a:r>
              <a:rPr sz="2800" b="1"/>
              <a:t>Circle Text Example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hart 1"/>
          <p:cNvGraphicFramePr>
            <a:graphicFrameLocks noGrp="1"/>
          </p:cNvGraphicFramePr>
          <p:nvPr/>
        </p:nvGraphicFramePr>
        <p:xfrm>
          <a:off x="457200" y="1371600"/>
          <a:ext cx="3657600" cy="2743200"/>
        </p:xfrm>
        <a:graphic>
          <a:graphicData uri="http://schemas.openxmlformats.org/drawingml/2006/chart">
            <c:chart xmlns:c="http://schemas.openxmlformats.org/drawingml/2006/chart" r:id="rId2"/>
          </a:graphicData>
        </a:graphic>
      </p:graphicFrame>
      <p:graphicFrame>
        <p:nvGraphicFramePr>
          <p:cNvPr id="3" name="Chart 2"/>
          <p:cNvGraphicFramePr>
            <a:graphicFrameLocks noGrp="1"/>
          </p:cNvGraphicFramePr>
          <p:nvPr/>
        </p:nvGraphicFramePr>
        <p:xfrm>
          <a:off x="4572000" y="1371600"/>
          <a:ext cx="3657600" cy="2743200"/>
        </p:xfrm>
        <a:graphic>
          <a:graphicData uri="http://schemas.openxmlformats.org/drawingml/2006/chart">
            <c:chart xmlns:c="http://schemas.openxmlformats.org/drawingml/2006/chart" r:id="rId3"/>
          </a:graphicData>
        </a:graphic>
      </p:graphicFrame>
      <p:graphicFrame>
        <p:nvGraphicFramePr>
          <p:cNvPr id="4" name="Chart 3"/>
          <p:cNvGraphicFramePr>
            <a:graphicFrameLocks noGrp="1"/>
          </p:cNvGraphicFramePr>
          <p:nvPr/>
        </p:nvGraphicFramePr>
        <p:xfrm>
          <a:off x="2286000" y="4572000"/>
          <a:ext cx="3657600" cy="1828800"/>
        </p:xfrm>
        <a:graphic>
          <a:graphicData uri="http://schemas.openxmlformats.org/drawingml/2006/chart">
            <c:chart xmlns:c="http://schemas.openxmlformats.org/drawingml/2006/chart" r:id="rId4"/>
          </a:graphicData>
        </a:graphic>
      </p:graphicFrame>
      <p:sp>
        <p:nvSpPr>
          <p:cNvPr id="5" name="TextBox 4"/>
          <p:cNvSpPr txBox="1"/>
          <p:nvPr/>
        </p:nvSpPr>
        <p:spPr>
          <a:xfrm>
            <a:off x="274320" y="182880"/>
            <a:ext cx="8229600" cy="457200"/>
          </a:xfrm>
          <a:prstGeom prst="rect">
            <a:avLst/>
          </a:prstGeom>
          <a:noFill/>
        </p:spPr>
        <p:txBody>
          <a:bodyPr wrap="none">
            <a:spAutoFit/>
          </a:bodyPr>
          <a:lstStyle/>
          <a:p>
            <a:pPr>
              <a:defRPr sz="1800" b="1"/>
            </a:pPr>
            <a:r>
              <a:t>Slide 73: Stacked / Percent-stacked bar charts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229600" cy="457200"/>
          </a:xfrm>
          <a:prstGeom prst="rect">
            <a:avLst/>
          </a:prstGeom>
          <a:noFill/>
        </p:spPr>
        <p:txBody>
          <a:bodyPr wrap="none">
            <a:spAutoFit/>
          </a:bodyPr>
          <a:lstStyle/>
          <a:p>
            <a:pPr>
              <a:defRPr sz="1800" b="1"/>
            </a:pPr>
            <a:r>
              <a:t>Slide 74: Speaker notes + comments</a:t>
            </a:r>
          </a:p>
        </p:txBody>
      </p:sp>
      <p:sp>
        <p:nvSpPr>
          <p:cNvPr id="3" name="TextBox 2"/>
          <p:cNvSpPr txBox="1"/>
          <p:nvPr/>
        </p:nvSpPr>
        <p:spPr>
          <a:xfrm>
            <a:off x="457200" y="1371600"/>
            <a:ext cx="7315200" cy="2743200"/>
          </a:xfrm>
          <a:prstGeom prst="rect">
            <a:avLst/>
          </a:prstGeom>
          <a:noFill/>
        </p:spPr>
        <p:txBody>
          <a:bodyPr wrap="square">
            <a:spAutoFit/>
          </a:bodyPr>
          <a:lstStyle/>
          <a:p>
            <a:pPr>
              <a:defRPr sz="1400"/>
            </a:pPr>
            <a:r>
              <a:t>This slide has speaker notes and comments attached.</a:t>
            </a:r>
            <a:br/>
            <a:r>
              <a:t>Notes and comments are metadata not rendered on slide, but preserved in round-trip export.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mc:AlternateContent xmlns:mc="http://schemas.openxmlformats.org/markup-compatibility/2006">
        <mc:Choice Requires="dgm">
          <p:graphicFrame>
            <p:nvGraphicFramePr>
              <p:cNvPr id="100" name="SmartArt Diagram"/>
              <p:cNvGraphicFramePr/>
              <p:nvPr/>
            </p:nvGraphicFramePr>
            <p:xfrm>
              <a:off x="457200" y="1371600"/>
              <a:ext cx="8229600" y="4572000"/>
            </p:xfrm>
            <a:graphic>
              <a:graphicData uri="http://schemas.openxmlformats.org/drawingml/2006/diagram">
                <dgm:relIds xmlns:dgm="http://schemas.openxmlformats.org/drawingml/2006/diagram" r:dm="rId10" r:lo="rId11" r:qs="rId12" r:cs="rId13"/>
              </a:graphicData>
            </a:graphic>
          </p:graphicFrame>
        </mc:Choice>
        <mc:Fallback>
          <p:grpSp>
            <p:nvGrpSpPr>
              <p:cNvPr id="101" name="SmartArt Fallback Group"/>
              <p:cNvGrpSpPr/>
              <p:nvPr/>
            </p:nvGrpSpPr>
            <p:grpSpPr>
              <a:xfrm>
                <a:off x="457200" y="1371600"/>
                <a:ext cx="8229600" cy="2743200"/>
                <a:chOff x="0" y="0"/>
                <a:chExt cx="8229600" cy="2743200"/>
              </a:xfrm>
            </p:grpSpPr>
            <p:sp>
              <p:nvSpPr>
                <p:cNvPr id="102" name="Step 1"/>
                <p:cNvSpPr/>
                <p:nvPr/>
              </p:nvSpPr>
              <p:spPr>
                <a:xfrm>
                  <a:off x="0" y="457200"/>
                  <a:ext cx="2286000" cy="1828800"/>
                </a:xfrm>
                <a:prstGeom prst="roundRect">
                  <a:avLst/>
                </a:prstGeom>
                <a:solidFill>
                  <a:srgbClr val="4472C4"/>
                </a:solidFill>
              </p:spPr>
              <p:txBody>
                <a:bodyPr anchor="ctr" wrap="square"/>
                <a:lstStyle/>
                <a:p>
                  <a:pPr algn="ctr"/>
                  <a:r>
                    <a:rPr lang="en-US" sz="1800" b="1">
                      <a:solidFill>
                        <a:srgbClr val="FFFFFF"/>
                      </a:solidFill>
                    </a:rPr>
                    <a:t>Plan</a:t>
                  </a:r>
                </a:p>
              </p:txBody>
            </p:sp>
            <p:sp>
              <p:nvSpPr>
                <p:cNvPr id="103" name="Step 2"/>
                <p:cNvSpPr/>
                <p:nvPr/>
              </p:nvSpPr>
              <p:spPr>
                <a:xfrm>
                  <a:off x="2971800" y="457200"/>
                  <a:ext cx="2286000" cy="1828800"/>
                </a:xfrm>
                <a:prstGeom prst="roundRect">
                  <a:avLst/>
                </a:prstGeom>
                <a:solidFill>
                  <a:srgbClr val="ED7D31"/>
                </a:solidFill>
              </p:spPr>
              <p:txBody>
                <a:bodyPr anchor="ctr" wrap="square"/>
                <a:lstStyle/>
                <a:p>
                  <a:pPr algn="ctr"/>
                  <a:r>
                    <a:rPr lang="en-US" sz="1800" b="1">
                      <a:solidFill>
                        <a:srgbClr val="FFFFFF"/>
                      </a:solidFill>
                    </a:rPr>
                    <a:t>Build</a:t>
                  </a:r>
                </a:p>
              </p:txBody>
            </p:sp>
            <p:sp>
              <p:nvSpPr>
                <p:cNvPr id="104" name="Step 3"/>
                <p:cNvSpPr/>
                <p:nvPr/>
              </p:nvSpPr>
              <p:spPr>
                <a:xfrm>
                  <a:off x="5943600" y="457200"/>
                  <a:ext cx="2286000" cy="1828800"/>
                </a:xfrm>
                <a:prstGeom prst="roundRect">
                  <a:avLst/>
                </a:prstGeom>
                <a:solidFill>
                  <a:srgbClr val="70AD47"/>
                </a:solidFill>
              </p:spPr>
              <p:txBody>
                <a:bodyPr anchor="ctr" wrap="square"/>
                <a:lstStyle/>
                <a:p>
                  <a:pPr algn="ctr"/>
                  <a:r>
                    <a:rPr lang="en-US" sz="1800" b="1">
                      <a:solidFill>
                        <a:srgbClr val="FFFFFF"/>
                      </a:solidFill>
                    </a:rPr>
                    <a:t>Ship</a:t>
                  </a:r>
                </a:p>
              </p:txBody>
            </p:sp>
          </p:grpSp>
        </mc:Fallback>
      </mc:AlternateContent>
      <p:sp>
        <p:nvSpPr>
          <p:cNvPr id="105" name="TextBox 104"/>
          <p:cNvSpPr txBox="1"/>
          <p:nvPr/>
        </p:nvSpPr>
        <p:spPr>
          <a:xfrm>
            <a:off x="457200" y="274320"/>
            <a:ext cx="8229600" cy="731520"/>
          </a:xfrm>
          <a:prstGeom prst="rect">
            <a:avLst/>
          </a:prstGeom>
          <a:noFill/>
        </p:spPr>
        <p:txBody>
          <a:bodyPr wrap="none">
            <a:spAutoFit/>
          </a:bodyPr>
          <a:lstStyle/>
          <a:p>
            <a:pPr>
              <a:defRPr sz="2400" b="1"/>
            </a:pPr>
            <a:r>
              <a:t>Slide 75: SmartArt Fallback (mc:AlternateContent)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00" name="OLE Object"/>
          <p:cNvGraphicFramePr/>
          <p:nvPr/>
        </p:nvGraphicFramePr>
        <p:xfrm>
          <a:off x="914400" y="1828800"/>
          <a:ext cx="4572000" cy="3429000"/>
        </p:xfrm>
        <a:graphic>
          <a:graphicData uri="http://schemas.openxmlformats.org/presentationml/2006/ole">
            <p:oleObj r:id="rId3" imgW="4572000" imgH="3429000" progId="Excel.Sheet.12" name="Embedded Spreadsheet">
              <p:embed/>
              <p:pic>
                <p:nvPicPr>
                  <p:cNvPr id="201" name="OLE Fallback"/>
                  <p:cNvPicPr/>
                  <p:nvPr/>
                </p:nvPicPr>
                <p:blipFill>
                  <a:blip r:embed="rId2"/>
                  <a:stretch>
                    <a:fillRect/>
                  </a:stretch>
                </p:blipFill>
                <p:spPr>
                  <a:xfrm>
                    <a:off x="0" y="0"/>
                    <a:ext cx="4572000" cy="3429000"/>
                  </a:xfrm>
                  <a:prstGeom prst="rect">
                    <a:avLst/>
                  </a:prstGeom>
                </p:spPr>
              </p:pic>
            </p:oleObj>
          </a:graphicData>
        </a:graphic>
      </p:graphicFrame>
      <p:sp>
        <p:nvSpPr>
          <p:cNvPr id="202" name="TextBox 201"/>
          <p:cNvSpPr txBox="1"/>
          <p:nvPr/>
        </p:nvSpPr>
        <p:spPr>
          <a:xfrm>
            <a:off x="457200" y="274320"/>
            <a:ext cx="8229600" cy="731520"/>
          </a:xfrm>
          <a:prstGeom prst="rect">
            <a:avLst/>
          </a:prstGeom>
          <a:noFill/>
        </p:spPr>
        <p:txBody>
          <a:bodyPr wrap="none">
            <a:spAutoFit/>
          </a:bodyPr>
          <a:lstStyle/>
          <a:p>
            <a:pPr>
              <a:defRPr sz="2400" b="1"/>
            </a:pPr>
            <a:r>
              <a:t>Slide 76: OLE Embedded Object (p:oleObj)</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00" name="Video Placeholder"/>
          <p:cNvPicPr/>
          <p:nvPr>
            <a:videoFile r:link="rId3"/>
          </p:nvPr>
        </p:nvPicPr>
        <p:blipFill>
          <a:blip r:embed="rId2"/>
          <a:stretch>
            <a:fillRect/>
          </a:stretch>
        </p:blipFill>
        <p:spPr>
          <a:xfrm>
            <a:off x="1371600" y="1828800"/>
            <a:ext cx="6858000" cy="3886200"/>
          </a:xfrm>
          <a:prstGeom prst="rect">
            <a:avLst/>
          </a:prstGeom>
        </p:spPr>
      </p:pic>
      <p:sp>
        <p:nvSpPr>
          <p:cNvPr id="301" name="TextBox 300"/>
          <p:cNvSpPr txBox="1"/>
          <p:nvPr/>
        </p:nvSpPr>
        <p:spPr>
          <a:xfrm>
            <a:off x="457200" y="274320"/>
            <a:ext cx="8229600" cy="731520"/>
          </a:xfrm>
          <a:prstGeom prst="rect">
            <a:avLst/>
          </a:prstGeom>
          <a:noFill/>
        </p:spPr>
        <p:txBody>
          <a:bodyPr wrap="none">
            <a:spAutoFit/>
          </a:bodyPr>
          <a:lstStyle/>
          <a:p>
            <a:pPr>
              <a:defRPr sz="2400" b="1"/>
            </a:pPr>
            <a:r>
              <a:t>Slide 77: Media (Video with Poster Frame)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
            <a:ext cx="7315200" cy="731520"/>
          </a:xfrm>
          <a:prstGeom prst="rect">
            <a:avLst/>
          </a:prstGeom>
          <a:noFill/>
        </p:spPr>
        <p:txBody>
          <a:bodyPr wrap="none">
            <a:spAutoFit/>
          </a:bodyPr>
          <a:lstStyle/>
          <a:p>
            <a:pPr>
              <a:defRPr sz="2800" b="1"/>
            </a:pPr>
            <a:r>
              <a:t>Slide 78: Math Equation (OMML)</a:t>
            </a:r>
          </a:p>
        </p:txBody>
      </p:sp>
      <p:sp>
        <p:nvSpPr>
          <p:cNvPr id="3" name="TextBox 2"/>
          <p:cNvSpPr txBox="1"/>
          <p:nvPr/>
        </p:nvSpPr>
        <p:spPr>
          <a:xfrm>
            <a:off x="1828800" y="1828800"/>
            <a:ext cx="5486400" cy="1828800"/>
          </a:xfrm>
          <a:prstGeom prst="rect">
            <a:avLst/>
          </a:prstGeom>
          <a:noFill/>
        </p:spPr>
        <p:txBody>
          <a:bodyPr wrap="none">
            <a:spAutoFit/>
          </a:bodyPr>
          <a:lstStyle/>
          <a:p>
            <a:pPr>
              <a:defRPr sz="2400"/>
            </a:pPr>
            <m:oMathPara xmlns:m="http://schemas.openxmlformats.org/officeDocument/2006/math">
              <m:oMath>
                <m:r>
                  <m:t>x</m:t>
                </m:r>
                <m:r>
                  <m:t>=</m:t>
                </m:r>
                <m:f>
                  <m:num>
                    <m:r>
                      <m:t>-b±</m:t>
                    </m:r>
                    <m:rad>
                      <m:radPr>
                        <m:degHide m:val="1"/>
                      </m:radPr>
                      <m:deg/>
                      <m:e>
                        <m:sSup>
                          <m:e>
                            <m:r>
                              <m:t>b</m:t>
                            </m:r>
                          </m:e>
                          <m:sup>
                            <m:r>
                              <m:t>2</m:t>
                            </m:r>
                          </m:sup>
                        </m:sSup>
                        <m:r>
                          <m:t>-4ac</m:t>
                        </m:r>
                      </m:e>
                    </m:rad>
                  </m:num>
                  <m:den>
                    <m:r>
                      <m:t>2a</m:t>
                    </m:r>
                  </m:den>
                </m:f>
              </m:oMath>
            </m:oMathPara>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79: Transition + Timing (round-trip)</a:t>
            </a:r>
          </a:p>
        </p:txBody>
      </p:sp>
      <p:sp>
        <p:nvSpPr>
          <p:cNvPr id="3" name="TextBox 2"/>
          <p:cNvSpPr txBox="1"/>
          <p:nvPr/>
        </p:nvSpPr>
        <p:spPr>
          <a:xfrm>
            <a:off x="457200" y="1371600"/>
            <a:ext cx="8229600" cy="914400"/>
          </a:xfrm>
          <a:prstGeom prst="rect">
            <a:avLst/>
          </a:prstGeom>
          <a:noFill/>
        </p:spPr>
        <p:txBody>
          <a:bodyPr wrap="none">
            <a:spAutoFit/>
          </a:bodyPr>
          <a:lstStyle/>
          <a:p>
            <a:pPr>
              <a:defRPr sz="1600"/>
            </a:pPr>
            <a:r>
              <a:t>This slide has a fade transition and timing data for round-trip.</a:t>
            </a:r>
          </a:p>
        </p:txBody>
      </p:sp>
    </p:spTree>
  </p:cSld>
  <p:clrMapOvr>
    <a:masterClrMapping/>
  </p:clrMapOvr>
  <p:transition spd="med">
    <p:fade/>
  </p:transition>
  <p:timing>
    <p:tnLst>
      <p:par>
        <p:cTn id="1" dur="indefinite" restart="never" nodeType="tmRoot"/>
      </p:par>
    </p:tnLst>
  </p:timing>
</p:sld>
</file>

<file path=ppt/slides/slide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80: Hidden Slide</a:t>
            </a:r>
          </a:p>
        </p:txBody>
      </p:sp>
      <p:sp>
        <p:nvSpPr>
          <p:cNvPr id="3" name="TextBox 2"/>
          <p:cNvSpPr txBox="1"/>
          <p:nvPr/>
        </p:nvSpPr>
        <p:spPr>
          <a:xfrm>
            <a:off x="457200" y="1371600"/>
            <a:ext cx="8229600" cy="914400"/>
          </a:xfrm>
          <a:prstGeom prst="rect">
            <a:avLst/>
          </a:prstGeom>
          <a:noFill/>
        </p:spPr>
        <p:txBody>
          <a:bodyPr wrap="none">
            <a:spAutoFit/>
          </a:bodyPr>
          <a:lstStyle/>
          <a:p>
            <a:pPr>
              <a:defRPr sz="1600"/>
            </a:pPr>
            <a:r>
              <a:t>This slide is marked as hidden (show='0').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0" name="WMF Picture"/>
          <p:cNvPicPr>
            <a:picLocks noChangeAspect="1"/>
          </p:cNvPicPr>
          <p:nvPr/>
        </p:nvPicPr>
        <p:blipFill>
          <a:blip r:embed="rWmf1"/>
          <a:stretch>
            <a:fillRect/>
          </a:stretch>
        </p:blipFill>
        <p:spPr>
          <a:xfrm>
            <a:off x="914400" y="2286000"/>
            <a:ext cx="4572000" cy="36576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82: OMML — Large Operators + Delimiters</a:t>
            </a:r>
          </a:p>
        </p:txBody>
      </p:sp>
      <p:sp>
        <p:nvSpPr>
          <p:cNvPr id="3" name="TextBox 2"/>
          <p:cNvSpPr txBox="1"/>
          <p:nvPr/>
        </p:nvSpPr>
        <p:spPr>
          <a:xfrm>
            <a:off x="914400" y="1828800"/>
            <a:ext cx="7315200" cy="2743200"/>
          </a:xfrm>
          <a:prstGeom prst="rect">
            <a:avLst/>
          </a:prstGeom>
          <a:noFill/>
        </p:spPr>
        <p:txBody>
          <a:bodyPr wrap="none">
            <a:spAutoFit/>
          </a:bodyPr>
          <a:lstStyle/>
          <a:p>
            <a:pPr>
              <a:defRPr sz="2400"/>
            </a:pPr>
            <m:oMathPara xmlns:m="http://schemas.openxmlformats.org/officeDocument/2006/math">
              <m:oMath>
                <m:nary>
                  <m:naryPr>
                    <m:chr m:val="∫"/>
                    <m:limLoc m:val="subSup"/>
                  </m:naryPr>
                  <m:sub>
                    <m:r>
                      <m:t>0</m:t>
                    </m:r>
                  </m:sub>
                  <m:sup>
                    <m:r>
                      <m:t>∞</m:t>
                    </m:r>
                  </m:sup>
                  <m:e>
                    <m:sSup>
                      <m:e>
                        <m:r>
                          <m:t>e</m:t>
                        </m:r>
                      </m:e>
                      <m:sup>
                        <m:r>
                          <m:t>-x</m:t>
                        </m:r>
                      </m:sup>
                    </m:sSup>
                    <m:r>
                      <m:t>dx</m:t>
                    </m:r>
                  </m:e>
                </m:nary>
                <m:r>
                  <m:t>=</m:t>
                </m:r>
                <m:r>
                  <m:t>1</m:t>
                </m:r>
              </m:oMath>
            </m:oMathPara>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83: OMML — Matrix + Delimiters</a:t>
            </a:r>
          </a:p>
        </p:txBody>
      </p:sp>
      <p:sp>
        <p:nvSpPr>
          <p:cNvPr id="3" name="TextBox 2"/>
          <p:cNvSpPr txBox="1"/>
          <p:nvPr/>
        </p:nvSpPr>
        <p:spPr>
          <a:xfrm>
            <a:off x="914400" y="1828800"/>
            <a:ext cx="7315200" cy="2743200"/>
          </a:xfrm>
          <a:prstGeom prst="rect">
            <a:avLst/>
          </a:prstGeom>
          <a:noFill/>
        </p:spPr>
        <p:txBody>
          <a:bodyPr wrap="none">
            <a:spAutoFit/>
          </a:bodyPr>
          <a:lstStyle/>
          <a:p>
            <a:pPr>
              <a:defRPr sz="2400"/>
            </a:pPr>
            <m:oMathPara xmlns:m="http://schemas.openxmlformats.org/officeDocument/2006/math">
              <m:oMath>
                <m:r>
                  <m:t>A=</m:t>
                </m:r>
                <m:d>
                  <m:dPr>
                    <m:begChr m:val="["/>
                    <m:endChr m:val="]"/>
                  </m:dPr>
                  <m:e>
                    <m:m>
                      <m:mr>
                        <m:e>
                          <m:r>
                            <m:t>a</m:t>
                          </m:r>
                        </m:e>
                        <m:e>
                          <m:r>
                            <m:t>b</m:t>
                          </m:r>
                        </m:e>
                      </m:mr>
                      <m:mr>
                        <m:e>
                          <m:r>
                            <m:t>c</m:t>
                          </m:r>
                        </m:e>
                        <m:e>
                          <m:r>
                            <m:t>d</m:t>
                          </m:r>
                        </m:e>
                      </m:mr>
                    </m:m>
                  </m:e>
                </m:d>
              </m:oMath>
            </m:oMathPara>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84: OMML — Accent + Bar + SubSup</a:t>
            </a:r>
          </a:p>
        </p:txBody>
      </p:sp>
      <p:sp>
        <p:nvSpPr>
          <p:cNvPr id="3" name="TextBox 2"/>
          <p:cNvSpPr txBox="1"/>
          <p:nvPr/>
        </p:nvSpPr>
        <p:spPr>
          <a:xfrm>
            <a:off x="914400" y="1828800"/>
            <a:ext cx="7315200" cy="2743200"/>
          </a:xfrm>
          <a:prstGeom prst="rect">
            <a:avLst/>
          </a:prstGeom>
          <a:noFill/>
        </p:spPr>
        <p:txBody>
          <a:bodyPr wrap="none">
            <a:spAutoFit/>
          </a:bodyPr>
          <a:lstStyle/>
          <a:p>
            <a:pPr>
              <a:defRPr sz="2400"/>
            </a:pPr>
            <m:oMathPara xmlns:m="http://schemas.openxmlformats.org/officeDocument/2006/math">
              <m:oMath>
                <m:acc>
                  <m:accPr>
                    <m:chr m:val="̂"/>
                  </m:accPr>
                  <m:e>
                    <m:r>
                      <m:t>x</m:t>
                    </m:r>
                  </m:e>
                </m:acc>
                <m:r>
                  <m:t>=</m:t>
                </m:r>
                <m:bar>
                  <m:barPr>
                    <m:pos m:val="top"/>
                  </m:barPr>
                  <m:e>
                    <m:r>
                      <m:t>y</m:t>
                    </m:r>
                  </m:e>
                </m:bar>
                <m:r>
                  <m:t>+</m:t>
                </m:r>
                <m:sSubSup>
                  <m:e>
                    <m:r>
                      <m:t>z</m:t>
                    </m:r>
                  </m:e>
                  <m:sub>
                    <m:r>
                      <m:t>i</m:t>
                    </m:r>
                  </m:sub>
                  <m:sup>
                    <m:r>
                      <m:t>n</m:t>
                    </m:r>
                  </m:sup>
                </m:sSubSup>
              </m:oMath>
            </m:oMathPara>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85: Blur Effect (a:blur)</a:t>
            </a:r>
          </a:p>
        </p:txBody>
      </p:sp>
      <p:sp xmlns:p="http://schemas.openxmlformats.org/presentationml/2006/main" xmlns:a="http://schemas.openxmlformats.org/drawingml/2006/main" xmlns:r="http://schemas.openxmlformats.org/officeDocument/2006/relationships">
        <p:nvSpPr>
          <p:cNvPr id="401" name="BlurShape"/>
          <p:cNvSpPr/>
          <p:nvPr/>
        </p:nvSpPr>
        <p:spPr>
          <a:xfrm>
            <a:off x="1828800" y="1828800"/>
            <a:ext cx="5486400" cy="2743200"/>
          </a:xfrm>
          <a:prstGeom prst="roundRect">
            <a:avLst/>
          </a:prstGeom>
          <a:solidFill>
            <a:srgbClr val="4472C4"/>
          </a:solidFill>
          <a:effectLst>
            <a:blur rad="76200"/>
          </a:effectLst>
        </p:spPr>
        <p:txBody>
          <a:bodyPr anchor="ctr"/>
          <a:lstStyle/>
          <a:p>
            <a:pPr algn="ctr"/>
            <a:r>
              <a:rPr lang="en-US" sz="2400" b="1"/>
              <a:t>Blur Effect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86: Preset Shadow (a:prstShdw)</a:t>
            </a:r>
          </a:p>
        </p:txBody>
      </p:sp>
      <p:sp xmlns:p="http://schemas.openxmlformats.org/presentationml/2006/main" xmlns:a="http://schemas.openxmlformats.org/drawingml/2006/main" xmlns:r="http://schemas.openxmlformats.org/officeDocument/2006/relationships">
        <p:nvSpPr>
          <p:cNvPr id="501" name="PrstShdw1"/>
          <p:cNvSpPr/>
          <p:nvPr/>
        </p:nvSpPr>
        <p:spPr>
          <a:xfrm>
            <a:off x="457200" y="1828800"/>
            <a:ext cx="3657600" cy="2286000"/>
          </a:xfrm>
          <a:prstGeom prst="roundRect">
            <a:avLst/>
          </a:prstGeom>
          <a:solidFill>
            <a:srgbClr val="4472C4"/>
          </a:solidFill>
          <a:effectLst>
            <a:prstShdw prst="shdw1" dist="76200" dir="2700000">
              <a:srgbClr val="000000">
                <a:alpha val="60000"/>
              </a:srgbClr>
            </a:prstShdw>
          </a:effectLst>
        </p:spPr>
        <p:txBody>
          <a:bodyPr anchor="ctr"/>
          <a:lstStyle/>
          <a:p>
            <a:pPr algn="ctr"/>
            <a:r>
              <a:rPr lang="en-US" sz="1400" b="1">
                <a:solidFill>
                  <a:srgbClr val="FFFFFF"/>
                </a:solidFill>
              </a:rPr>
              <a:t>shdw1 (Bottom Right)</a:t>
            </a:r>
          </a:p>
        </p:txBody>
      </p:sp>
      <p:sp xmlns:p="http://schemas.openxmlformats.org/presentationml/2006/main" xmlns:a="http://schemas.openxmlformats.org/drawingml/2006/main" xmlns:r="http://schemas.openxmlformats.org/officeDocument/2006/relationships">
        <p:nvSpPr>
          <p:cNvPr id="502" name="PrstShdw2"/>
          <p:cNvSpPr/>
          <p:nvPr/>
        </p:nvSpPr>
        <p:spPr>
          <a:xfrm>
            <a:off x="5029200" y="1828800"/>
            <a:ext cx="3657600" cy="2286000"/>
          </a:xfrm>
          <a:prstGeom prst="roundRect">
            <a:avLst/>
          </a:prstGeom>
          <a:solidFill>
            <a:srgbClr val="ED7D31"/>
          </a:solidFill>
          <a:effectLst>
            <a:prstShdw prst="shdw2" dist="76200" dir="5400000">
              <a:srgbClr val="000000">
                <a:alpha val="60000"/>
              </a:srgbClr>
            </a:prstShdw>
          </a:effectLst>
        </p:spPr>
        <p:txBody>
          <a:bodyPr anchor="ctr"/>
          <a:lstStyle/>
          <a:p>
            <a:pPr algn="ctr"/>
            <a:r>
              <a:rPr lang="en-US" sz="1400" b="1">
                <a:solidFill>
                  <a:srgbClr val="FFFFFF"/>
                </a:solidFill>
              </a:rPr>
              <a:t>shdw2 (Bottom)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a:effectLst>
            <a:fillOverlay blend="over">
              <a:solidFill>
                <a:srgbClr val="FF0000">
                  <a:alpha val="50000"/>
                </a:srgbClr>
              </a:solidFill>
            </a:fillOverlay>
          </a:effectLst>
        </p:spPr>
        <p:txBody>
          <a:bodyPr wrap="none">
            <a:spAutoFit/>
          </a:bodyPr>
          <a:lstStyle/>
          <a:p>
            <a:pPr>
              <a:defRPr sz="2400" b="1"/>
            </a:pPr>
            <a:r>
              <a:t>Slide 87: Fill Overlay (a:fillOverlay)</a:t>
            </a:r>
          </a:p>
        </p:txBody>
      </p:sp>
      <p:sp>
        <p:nvSpPr>
          <p:cNvPr id="3" name="TextBox 2"/>
          <p:cNvSpPr txBox="1"/>
          <p:nvPr/>
        </p:nvSpPr>
        <p:spPr>
          <a:xfrm>
            <a:off x="457200" y="1371600"/>
            <a:ext cx="1371600" cy="1371600"/>
          </a:xfrm>
          <a:prstGeom prst="rect">
            <a:avLst/>
          </a:prstGeom>
          <a:solidFill>
            <a:srgbClr val="0000FF"/>
          </a:solidFill>
          <a:effectLst>
            <a:fillOverlay blend="over">
              <a:solidFill>
                <a:srgbClr val="FF0000">
                  <a:alpha val="50000"/>
                </a:srgbClr>
              </a:solidFill>
            </a:fillOverlay>
          </a:effectLst>
        </p:spPr>
        <p:txBody>
          <a:bodyPr wrap="none">
            <a:spAutoFit/>
          </a:bodyPr>
          <a:lstStyle/>
          <a:p>
            <a:pPr>
              <a:defRPr sz="1400" b="1"/>
            </a:pPr>
            <a:r>
              <a:t>over</a:t>
            </a:r>
          </a:p>
        </p:txBody>
      </p:sp>
      <p:sp>
        <p:nvSpPr>
          <p:cNvPr id="4" name="TextBox 3"/>
          <p:cNvSpPr txBox="1"/>
          <p:nvPr/>
        </p:nvSpPr>
        <p:spPr>
          <a:xfrm>
            <a:off x="2103120" y="1371600"/>
            <a:ext cx="1371600" cy="1371600"/>
          </a:xfrm>
          <a:prstGeom prst="rect">
            <a:avLst/>
          </a:prstGeom>
          <a:solidFill>
            <a:srgbClr val="00AA00"/>
          </a:solidFill>
          <a:effectLst>
            <a:fillOverlay blend="mult">
              <a:solidFill>
                <a:srgbClr val="FF0000">
                  <a:alpha val="50000"/>
                </a:srgbClr>
              </a:solidFill>
            </a:fillOverlay>
          </a:effectLst>
        </p:spPr>
        <p:txBody>
          <a:bodyPr wrap="none">
            <a:spAutoFit/>
          </a:bodyPr>
          <a:lstStyle/>
          <a:p>
            <a:pPr>
              <a:defRPr sz="1400" b="1"/>
            </a:pPr>
            <a:r>
              <a:t>mult</a:t>
            </a:r>
          </a:p>
        </p:txBody>
      </p:sp>
      <p:sp>
        <p:nvSpPr>
          <p:cNvPr id="5" name="TextBox 4"/>
          <p:cNvSpPr txBox="1"/>
          <p:nvPr/>
        </p:nvSpPr>
        <p:spPr>
          <a:xfrm>
            <a:off x="3749039" y="1371600"/>
            <a:ext cx="1371600" cy="1371600"/>
          </a:xfrm>
          <a:prstGeom prst="rect">
            <a:avLst/>
          </a:prstGeom>
          <a:solidFill>
            <a:srgbClr val="FF6600"/>
          </a:solidFill>
          <a:effectLst>
            <a:fillOverlay blend="screen">
              <a:solidFill>
                <a:srgbClr val="FF0000">
                  <a:alpha val="50000"/>
                </a:srgbClr>
              </a:solidFill>
            </a:fillOverlay>
          </a:effectLst>
        </p:spPr>
        <p:txBody>
          <a:bodyPr wrap="none">
            <a:spAutoFit/>
          </a:bodyPr>
          <a:lstStyle/>
          <a:p>
            <a:pPr>
              <a:defRPr sz="1400" b="1"/>
            </a:pPr>
            <a:r>
              <a:t>screen</a:t>
            </a:r>
          </a:p>
        </p:txBody>
      </p:sp>
      <p:sp>
        <p:nvSpPr>
          <p:cNvPr id="6" name="TextBox 5"/>
          <p:cNvSpPr txBox="1"/>
          <p:nvPr/>
        </p:nvSpPr>
        <p:spPr>
          <a:xfrm>
            <a:off x="5394960" y="1371600"/>
            <a:ext cx="1371600" cy="1371600"/>
          </a:xfrm>
          <a:prstGeom prst="rect">
            <a:avLst/>
          </a:prstGeom>
          <a:solidFill>
            <a:srgbClr val="8800CC"/>
          </a:solidFill>
          <a:effectLst>
            <a:fillOverlay blend="darken">
              <a:solidFill>
                <a:srgbClr val="FF0000">
                  <a:alpha val="50000"/>
                </a:srgbClr>
              </a:solidFill>
            </a:fillOverlay>
          </a:effectLst>
        </p:spPr>
        <p:txBody>
          <a:bodyPr wrap="none">
            <a:spAutoFit/>
          </a:bodyPr>
          <a:lstStyle/>
          <a:p>
            <a:pPr>
              <a:defRPr sz="1400" b="1"/>
            </a:pPr>
            <a:r>
              <a:t>darken</a:t>
            </a:r>
          </a:p>
        </p:txBody>
      </p:sp>
      <p:sp>
        <p:nvSpPr>
          <p:cNvPr id="7" name="TextBox 6"/>
          <p:cNvSpPr txBox="1"/>
          <p:nvPr/>
        </p:nvSpPr>
        <p:spPr>
          <a:xfrm>
            <a:off x="7040880" y="1371600"/>
            <a:ext cx="1371600" cy="1371600"/>
          </a:xfrm>
          <a:prstGeom prst="rect">
            <a:avLst/>
          </a:prstGeom>
          <a:solidFill>
            <a:srgbClr val="CC0000"/>
          </a:solidFill>
          <a:effectLst>
            <a:fillOverlay blend="lighten">
              <a:solidFill>
                <a:srgbClr val="FF0000">
                  <a:alpha val="50000"/>
                </a:srgbClr>
              </a:solidFill>
            </a:fillOverlay>
          </a:effectLst>
        </p:spPr>
        <p:txBody>
          <a:bodyPr wrap="none">
            <a:spAutoFit/>
          </a:bodyPr>
          <a:lstStyle/>
          <a:p>
            <a:pPr>
              <a:defRPr sz="1400" b="1"/>
            </a:pPr>
            <a:r>
              <a:t>lighten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400" b="1"/>
            </a:pPr>
            <a:r>
              <a:t>Slide 88: Justified Text (algn="just")</a:t>
            </a:r>
          </a:p>
        </p:txBody>
      </p:sp>
      <p:sp>
        <p:nvSpPr>
          <p:cNvPr id="3" name="TextBox 2"/>
          <p:cNvSpPr txBox="1"/>
          <p:nvPr/>
        </p:nvSpPr>
        <p:spPr>
          <a:xfrm>
            <a:off x="914400" y="1371600"/>
            <a:ext cx="4572000" cy="2743200"/>
          </a:xfrm>
          <a:prstGeom prst="rect">
            <a:avLst/>
          </a:prstGeom>
          <a:noFill/>
        </p:spPr>
        <p:txBody>
          <a:bodyPr wrap="square">
            <a:spAutoFit/>
          </a:bodyPr>
          <a:lstStyle/>
          <a:p>
            <a:pPr algn="just">
              <a:defRPr sz="1600"/>
            </a:pPr>
            <a:r>
              <a:t>This is a justified paragraph with enough text to wrap across multiple lines. The word spacing should be adjusted so that each line extends to fill the full width of the text box evenly.</a:t>
            </a:r>
          </a:p>
          <a:p>
            <a:pPr algn="just">
              <a:defRPr sz="1600"/>
            </a:pPr>
            <a:r>
              <a:t>Short last line.</a:t>
            </a:r>
          </a:p>
        </p:txBody>
      </p:sp>
      <p:sp>
        <p:nvSpPr>
          <p:cNvPr id="4" name="TextBox 3"/>
          <p:cNvSpPr txBox="1"/>
          <p:nvPr/>
        </p:nvSpPr>
        <p:spPr>
          <a:xfrm>
            <a:off x="914400" y="4572000"/>
            <a:ext cx="4572000" cy="1828800"/>
          </a:xfrm>
          <a:prstGeom prst="rect">
            <a:avLst/>
          </a:prstGeom>
          <a:noFill/>
        </p:spPr>
        <p:txBody>
          <a:bodyPr wrap="square">
            <a:spAutoFit/>
          </a:bodyPr>
          <a:lstStyle/>
          <a:p>
            <a:pPr algn="just">
              <a:defRPr sz="1600"/>
            </a:pPr>
            <a:r>
              <a:t>均等割り付けのテスト文章です。日本語テキストはスペースがないため文字間隔で調整されます。</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89: Waterfall Chart (cx:chart)</a:t>
            </a:r>
          </a:p>
        </p:txBody>
      </p:sp>
      <p:graphicFrame>
        <p:nvGraphicFramePr>
          <p:cNvPr id="990" name="ChartEx 1"/>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1"/>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90: Treemap Chart (cx:chart)</a:t>
            </a:r>
          </a:p>
        </p:txBody>
      </p:sp>
      <p:graphicFrame>
        <p:nvGraphicFramePr>
          <p:cNvPr id="991" name="ChartEx 2"/>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2"/>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91: Sunburst Chart (cx:chart)</a:t>
            </a:r>
          </a:p>
        </p:txBody>
      </p:sp>
      <p:graphicFrame>
        <p:nvGraphicFramePr>
          <p:cNvPr id="992" name="ChartEx 3"/>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3"/>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92: Histogram Chart (cx:chart)</a:t>
            </a:r>
          </a:p>
        </p:txBody>
      </p:sp>
      <p:graphicFrame>
        <p:nvGraphicFramePr>
          <p:cNvPr id="993" name="ChartEx 4"/>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4"/>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93: Box &amp; Whisker Chart (cx:chart)</a:t>
            </a:r>
          </a:p>
        </p:txBody>
      </p:sp>
      <p:graphicFrame>
        <p:nvGraphicFramePr>
          <p:cNvPr id="994" name="ChartEx 5"/>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5"/>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1800" b="1"/>
            </a:pPr>
            <a:r>
              <a:t>Slide 94: Funnel Chart (cx:chart)</a:t>
            </a:r>
          </a:p>
        </p:txBody>
      </p:sp>
      <p:graphicFrame>
        <p:nvGraphicFramePr>
          <p:cNvPr id="995" name="ChartEx 6"/>
          <p:cNvGraphicFramePr>
            <a:graphicFrameLocks noGrp="1"/>
          </p:cNvGraphicFramePr>
          <p:nvPr/>
        </p:nvGraphicFramePr>
        <p:xfrm>
          <a:off x="914400" y="1371600"/>
          <a:ext cx="7315200" cy="4572000"/>
        </p:xfrm>
        <a:graphic>
          <a:graphicData uri="http://schemas.microsoft.com/office/drawing/2014/chartex">
            <cx:chart xmlns:cx="http://schemas.microsoft.com/office/drawing/2014/chartex" xmlns:r="http://schemas.openxmlformats.org/officeDocument/2006/relationships" r:id="rIdCx6"/>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2286000" cy="5486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Reference rect (prstGeom)</a:t>
            </a:r>
          </a:p>
        </p:txBody>
      </p:sp>
      <p:sp>
        <p:nvSpPr>
          <p:cNvPr id="9501" name="EmptyCustGeom"/>
          <p:cNvSpPr/>
          <p:nvPr/>
        </p:nvSpPr>
        <p:spPr>
          <a:xfrm>
            <a:off x="3000000" y="1500000"/>
            <a:ext cx="2000000" cy="2000000"/>
          </a:xfrm>
          <a:custGeom>
            <a:avLst/>
            <a:gdLst/>
            <a:ahLst/>
            <a:cxnLst/>
            <a:rect l="0" t="0" r="0" b="0"/>
            <a:pathLst>
              <a:path w="508000" h="508000"/>
            </a:pathLst>
          </a:custGeom>
          <a:solidFill>
            <a:srgbClr val="00B4D8"/>
          </a:solidFill>
        </p:spPr>
        <p:txBody>
          <a:bodyPr/>
          <a:lstStyle/>
          <a:p>
            <a:endParaRPr lang="en-US"/>
          </a:p>
        </p:txBody>
      </p:sp>
      <p:sp>
        <p:nvSpPr>
          <p:cNvPr id="9502" name="ValidCustGeom"/>
          <p:cNvSpPr/>
          <p:nvPr/>
        </p:nvSpPr>
        <p:spPr>
          <a:xfrm>
            <a:off x="6000000" y="1500000"/>
            <a:ext cx="2000000" cy="2000000"/>
          </a:xfrm>
          <a:custGeom>
            <a:avLst/>
            <a:gdLst/>
            <a:ahLst/>
            <a:cxnLst/>
            <a:rect l="0" t="0" r="0" b="0"/>
            <a:pathLst>
              <a:path w="100" h="100">
                <a:moveTo>
                  <a:pt x="50" y="0"/>
                </a:moveTo>
                <a:lnTo>
                  <a:pt x="100" y="100"/>
                </a:lnTo>
                <a:lnTo>
                  <a:pt x="0" y="100"/>
                </a:lnTo>
                <a:close/>
              </a:path>
            </a:pathLst>
          </a:custGeom>
          <a:solidFill>
            <a:srgbClr val="06A77D"/>
          </a:solidFill>
        </p:spPr>
        <p:txBody>
          <a:bodyPr/>
          <a:lstStyle/>
          <a:p>
            <a:endParaRPr lang="en-US"/>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701" name="Footer Placeholder"/>
          <p:cNvSpPr/>
          <p:nvPr>
            <p:ph type="ftr" idx="11"/>
          </p:nvPr>
        </p:nvSpPr>
        <p:spPr>
          <a:xfrm>
            <a:off x="3124200" y="6356350"/>
            <a:ext cx="2438400" cy="365125"/>
          </a:xfrm>
        </p:spPr>
        <p:txBody>
          <a:bodyPr/>
          <a:lstStyle/>
          <a:p>
            <a:r>
              <a:rPr/>
              <a:t>moon-pptx footer</a:t>
            </a:r>
          </a:p>
        </p:txBody>
      </p:sp>
      <p:sp>
        <p:nvSpPr>
          <p:cNvPr id="9702" name="Date Placeholder"/>
          <p:cNvSpPr/>
          <p:nvPr>
            <p:ph type="dt" idx="10"/>
          </p:nvPr>
        </p:nvSpPr>
        <p:spPr>
          <a:xfrm>
            <a:off x="457200" y="6356350"/>
            <a:ext cx="2438400" cy="365125"/>
          </a:xfrm>
        </p:spPr>
        <p:txBody>
          <a:bodyPr/>
          <a:lstStyle/>
          <a:p>
            <a:fld id="{1F3B9E54-0000-4000-8000-000000000099}" type="datetime1">
              <a:rPr/>
            </a:fld>
          </a:p>
        </p:txBody>
      </p:sp>
      <p:sp>
        <p:nvSpPr>
          <p:cNvPr id="9703" name="Slide Number Placeholder"/>
          <p:cNvSpPr/>
          <p:nvPr>
            <p:ph type="sldNum" idx="12"/>
          </p:nvPr>
        </p:nvSpPr>
        <p:spPr>
          <a:xfrm>
            <a:off x="6553200" y="6356350"/>
            <a:ext cx="2438400" cy="365125"/>
          </a:xfrm>
        </p:spPr>
        <p:txBody>
          <a:bodyPr/>
          <a:lstStyle/>
          <a:p>
            <a:fld id="{1F3B9E54-0000-4000-8000-000000000099}" type="slidenum">
              <a:rPr/>
              <a:t>1</a:t>
            </a:fld>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01" name="DecoText"/>
          <p:cNvSpPr txBox="1"/>
          <p:nvPr/>
        </p:nvSpPr>
        <p:spPr>
          <a:xfrm>
            <a:off x="457200" y="1371600"/>
            <a:ext cx="8229600" cy="914400"/>
          </a:xfrm>
          <a:prstGeom prst="rect">
            <a:avLst/>
          </a:prstGeom>
        </p:spPr>
        <p:txBody>
          <a:bodyPr/>
          <a:lstStyle/>
          <a:p>
            <a:r>
              <a:rPr lang="en-US" sz="2000" u="dbl">
                <a:uFill>
                  <a:solidFill>
                    <a:srgbClr val="FF0000"/>
                  </a:solidFill>
                </a:uFill>
              </a:rPr>
              <a:t>double </a:t>
            </a:r>
            <a:r>
              <a:rPr lang="en-US" sz="2000" u="wavy">
                <a:uFill>
                  <a:solidFill>
                    <a:srgbClr val="00B050"/>
                  </a:solidFill>
                </a:uFill>
              </a:rPr>
              <a:t>wavy </a:t>
            </a:r>
            <a:r>
              <a:rPr lang="en-US" sz="2000" u="dotted"/>
              <a:t>dotted </a:t>
            </a:r>
            <a:r>
              <a:rPr lang="en-US" sz="2000" strike="dblStrike"/>
              <a:t>dblstrike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00" name="FlipH"/>
          <p:cNvSpPr txBox="1"/>
          <p:nvPr/>
        </p:nvSpPr>
        <p:spPr>
          <a:xfrm flipH="1">
            <a:off x="457200" y="2743200"/>
            <a:ext cx="2743200" cy="1371600"/>
          </a:xfrm>
          <a:prstGeom prst="rect">
            <a:avLst/>
          </a:prstGeom>
          <a:solidFill>
            <a:srgbClr val="DDEEFF"/>
          </a:solidFill>
        </p:spPr>
        <p:txBody>
          <a:bodyPr/>
          <a:lstStyle/>
          <a:p>
            <a:r>
              <a:rPr lang="en-US" sz="2400"/>
              <a:t>FlipH</a:t>
            </a:r>
          </a:p>
        </p:txBody>
      </p:sp>
      <p:sp>
        <p:nvSpPr>
          <p:cNvPr id="9901" name="FlipV"/>
          <p:cNvSpPr txBox="1"/>
          <p:nvPr/>
        </p:nvSpPr>
        <p:spPr>
          <a:xfrm flipV="1">
            <a:off x="3886200" y="2743200"/>
            <a:ext cx="2743200" cy="1371600"/>
          </a:xfrm>
          <a:prstGeom prst="rect">
            <a:avLst/>
          </a:prstGeom>
          <a:solidFill>
            <a:srgbClr val="DDEEFF"/>
          </a:solidFill>
        </p:spPr>
        <p:txBody>
          <a:bodyPr/>
          <a:lstStyle/>
          <a:p>
            <a:r>
              <a:rPr lang="en-US" sz="2400"/>
              <a:t>FlipV</a:t>
            </a:r>
          </a:p>
        </p:txBody>
      </p:sp>
      <p:sp>
        <p:nvSpPr>
          <p:cNvPr id="9902" name="FlipHV"/>
          <p:cNvSpPr txBox="1"/>
          <p:nvPr/>
        </p:nvSpPr>
        <p:spPr>
          <a:xfrm flipH="1" flipV="1">
            <a:off x="7315200" y="2743200"/>
            <a:ext cx="2743200" cy="1371600"/>
          </a:xfrm>
          <a:prstGeom prst="rect">
            <a:avLst/>
          </a:prstGeom>
          <a:solidFill>
            <a:srgbClr val="DDEEFF"/>
          </a:solidFill>
        </p:spPr>
        <p:txBody>
          <a:bodyPr/>
          <a:lstStyle/>
          <a:p>
            <a:r>
              <a:rPr lang="en-US" sz="2400"/>
              <a:t>FlipHV</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00" name="P_rect"/>
          <p:cNvSpPr/>
          <p:nvPr/>
        </p:nvSpPr>
        <p:spPr>
          <a:xfrm>
            <a:off x="228600" y="228600"/>
            <a:ext cx="1188720" cy="868680"/>
          </a:xfrm>
          <a:prstGeom prst="rect">
            <a:avLst/>
          </a:prstGeom>
          <a:solidFill>
            <a:srgbClr val="5B9BD5"/>
          </a:solidFill>
        </p:spPr>
      </p:sp>
      <p:sp>
        <p:nvSpPr>
          <p:cNvPr id="10001" name="P_donut"/>
          <p:cNvSpPr/>
          <p:nvPr/>
        </p:nvSpPr>
        <p:spPr>
          <a:xfrm>
            <a:off x="1676400" y="228600"/>
            <a:ext cx="1188720" cy="868680"/>
          </a:xfrm>
          <a:prstGeom prst="donut">
            <a:avLst/>
          </a:prstGeom>
          <a:solidFill>
            <a:srgbClr val="5B9BD5"/>
          </a:solidFill>
        </p:spPr>
      </p:sp>
      <p:sp>
        <p:nvSpPr>
          <p:cNvPr id="10002" name="P_cloudCallout"/>
          <p:cNvSpPr/>
          <p:nvPr/>
        </p:nvSpPr>
        <p:spPr>
          <a:xfrm>
            <a:off x="3124200" y="228600"/>
            <a:ext cx="1188720" cy="868680"/>
          </a:xfrm>
          <a:prstGeom prst="cloudCallout">
            <a:avLst/>
          </a:prstGeom>
          <a:solidFill>
            <a:srgbClr val="5B9BD5"/>
          </a:solidFill>
        </p:spPr>
      </p:sp>
      <p:sp>
        <p:nvSpPr>
          <p:cNvPr id="10003" name="P_star12"/>
          <p:cNvSpPr/>
          <p:nvPr/>
        </p:nvSpPr>
        <p:spPr>
          <a:xfrm>
            <a:off x="4572000" y="228600"/>
            <a:ext cx="1188720" cy="868680"/>
          </a:xfrm>
          <a:prstGeom prst="star12">
            <a:avLst/>
          </a:prstGeom>
          <a:solidFill>
            <a:srgbClr val="5B9BD5"/>
          </a:solidFill>
        </p:spPr>
      </p:sp>
      <p:sp>
        <p:nvSpPr>
          <p:cNvPr id="10004" name="P_circularArrow"/>
          <p:cNvSpPr/>
          <p:nvPr/>
        </p:nvSpPr>
        <p:spPr>
          <a:xfrm>
            <a:off x="6019800" y="228600"/>
            <a:ext cx="1188720" cy="868680"/>
          </a:xfrm>
          <a:prstGeom prst="circularArrow">
            <a:avLst/>
          </a:prstGeom>
          <a:solidFill>
            <a:srgbClr val="5B9BD5"/>
          </a:solidFill>
        </p:spPr>
      </p:sp>
      <p:sp>
        <p:nvSpPr>
          <p:cNvPr id="10005" name="P_uturnArrow"/>
          <p:cNvSpPr/>
          <p:nvPr/>
        </p:nvSpPr>
        <p:spPr>
          <a:xfrm>
            <a:off x="7467600" y="228600"/>
            <a:ext cx="1188720" cy="868680"/>
          </a:xfrm>
          <a:prstGeom prst="uturnArrow">
            <a:avLst/>
          </a:prstGeom>
          <a:solidFill>
            <a:srgbClr val="5B9BD5"/>
          </a:solidFill>
        </p:spPr>
      </p:sp>
      <p:sp>
        <p:nvSpPr>
          <p:cNvPr id="10006" name="P_quadArrow"/>
          <p:cNvSpPr/>
          <p:nvPr/>
        </p:nvSpPr>
        <p:spPr>
          <a:xfrm>
            <a:off x="228600" y="1828800"/>
            <a:ext cx="1188720" cy="868680"/>
          </a:xfrm>
          <a:prstGeom prst="quadArrow">
            <a:avLst/>
          </a:prstGeom>
          <a:solidFill>
            <a:srgbClr val="5B9BD5"/>
          </a:solidFill>
        </p:spPr>
      </p:sp>
      <p:sp>
        <p:nvSpPr>
          <p:cNvPr id="10007" name="P_lightningBolt"/>
          <p:cNvSpPr/>
          <p:nvPr/>
        </p:nvSpPr>
        <p:spPr>
          <a:xfrm>
            <a:off x="1676400" y="1828800"/>
            <a:ext cx="1188720" cy="868680"/>
          </a:xfrm>
          <a:prstGeom prst="lightningBolt">
            <a:avLst/>
          </a:prstGeom>
          <a:solidFill>
            <a:srgbClr val="5B9BD5"/>
          </a:solidFill>
        </p:spPr>
      </p:sp>
      <p:sp>
        <p:nvSpPr>
          <p:cNvPr id="10008" name="P_sun"/>
          <p:cNvSpPr/>
          <p:nvPr/>
        </p:nvSpPr>
        <p:spPr>
          <a:xfrm>
            <a:off x="3124200" y="1828800"/>
            <a:ext cx="1188720" cy="868680"/>
          </a:xfrm>
          <a:prstGeom prst="sun">
            <a:avLst/>
          </a:prstGeom>
          <a:solidFill>
            <a:srgbClr val="5B9BD5"/>
          </a:solidFill>
        </p:spPr>
      </p:sp>
      <p:sp>
        <p:nvSpPr>
          <p:cNvPr id="10009" name="P_moon"/>
          <p:cNvSpPr/>
          <p:nvPr/>
        </p:nvSpPr>
        <p:spPr>
          <a:xfrm>
            <a:off x="4572000" y="1828800"/>
            <a:ext cx="1188720" cy="868680"/>
          </a:xfrm>
          <a:prstGeom prst="moon">
            <a:avLst/>
          </a:prstGeom>
          <a:solidFill>
            <a:srgbClr val="5B9BD5"/>
          </a:solidFill>
        </p:spPr>
      </p:sp>
      <p:sp>
        <p:nvSpPr>
          <p:cNvPr id="10010" name="P_cube"/>
          <p:cNvSpPr/>
          <p:nvPr/>
        </p:nvSpPr>
        <p:spPr>
          <a:xfrm>
            <a:off x="6019800" y="1828800"/>
            <a:ext cx="1188720" cy="868680"/>
          </a:xfrm>
          <a:prstGeom prst="cube">
            <a:avLst/>
          </a:prstGeom>
          <a:solidFill>
            <a:srgbClr val="5B9BD5"/>
          </a:solidFill>
        </p:spPr>
      </p:sp>
      <p:sp>
        <p:nvSpPr>
          <p:cNvPr id="10011" name="P_flowChartDocument"/>
          <p:cNvSpPr/>
          <p:nvPr/>
        </p:nvSpPr>
        <p:spPr>
          <a:xfrm>
            <a:off x="7467600" y="1828800"/>
            <a:ext cx="1188720" cy="868680"/>
          </a:xfrm>
          <a:prstGeom prst="flowChartDocument">
            <a:avLst/>
          </a:prstGeom>
          <a:solidFill>
            <a:srgbClr val="5B9BD5"/>
          </a:solidFill>
        </p:spPr>
      </p:sp>
      <p:sp>
        <p:nvSpPr>
          <p:cNvPr id="10100" name="W_below"/>
          <p:cNvSpPr/>
          <p:nvPr/>
        </p:nvSpPr>
        <p:spPr>
          <a:xfrm>
            <a:off x="457200" y="4114800"/>
            <a:ext cx="1371600" cy="914400"/>
          </a:xfrm>
          <a:prstGeom prst="wedgeRectCallout">
            <a:avLst>
              <a:gd name="adj1" fmla="val 30000"/>
              <a:gd name="adj2" fmla="val 80000"/>
            </a:avLst>
          </a:prstGeom>
          <a:solidFill>
            <a:srgbClr val="5B9BD5"/>
          </a:solidFill>
        </p:spPr>
      </p:sp>
      <p:sp>
        <p:nvSpPr>
          <p:cNvPr id="10101" name="W_above"/>
          <p:cNvSpPr/>
          <p:nvPr/>
        </p:nvSpPr>
        <p:spPr>
          <a:xfrm>
            <a:off x="2590800" y="4114800"/>
            <a:ext cx="1371600" cy="914400"/>
          </a:xfrm>
          <a:prstGeom prst="wedgeRectCallout">
            <a:avLst>
              <a:gd name="adj1" fmla="val 30000"/>
              <a:gd name="adj2" fmla="val -80000"/>
            </a:avLst>
          </a:prstGeom>
          <a:solidFill>
            <a:srgbClr val="5B9BD5"/>
          </a:solidFill>
        </p:spPr>
      </p:sp>
      <p:sp>
        <p:nvSpPr>
          <p:cNvPr id="10102" name="W_left"/>
          <p:cNvSpPr/>
          <p:nvPr/>
        </p:nvSpPr>
        <p:spPr>
          <a:xfrm>
            <a:off x="4724400" y="4114800"/>
            <a:ext cx="1371600" cy="914400"/>
          </a:xfrm>
          <a:prstGeom prst="wedgeRectCallout">
            <a:avLst>
              <a:gd name="adj1" fmla="val -80000"/>
              <a:gd name="adj2" fmla="val 0"/>
            </a:avLst>
          </a:prstGeom>
          <a:solidFill>
            <a:srgbClr val="5B9BD5"/>
          </a:solidFill>
        </p:spPr>
      </p:sp>
      <p:sp>
        <p:nvSpPr>
          <p:cNvPr id="10103" name="W_right"/>
          <p:cNvSpPr/>
          <p:nvPr/>
        </p:nvSpPr>
        <p:spPr>
          <a:xfrm>
            <a:off x="6858000" y="4114800"/>
            <a:ext cx="1371600" cy="914400"/>
          </a:xfrm>
          <a:prstGeom prst="wedgeRectCallout">
            <a:avLst>
              <a:gd name="adj1" fmla="val 80000"/>
              <a:gd name="adj2" fmla="val 10000"/>
            </a:avLst>
          </a:prstGeom>
          <a:solidFill>
            <a:srgbClr val="5B9BD5"/>
          </a:solidFill>
        </p:spPr>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200" name="G_arc"/>
          <p:cNvSpPr/>
          <p:nvPr/>
        </p:nvSpPr>
        <p:spPr>
          <a:xfrm>
            <a:off x="228600" y="1371600"/>
            <a:ext cx="1188720" cy="868680"/>
          </a:xfrm>
          <a:prstGeom prst="arc">
            <a:avLst/>
          </a:prstGeom>
          <a:solidFill>
            <a:srgbClr val="5B9BD5"/>
          </a:solidFill>
          <a:ln w="19050">
            <a:solidFill>
              <a:srgbClr val="FFC000"/>
            </a:solidFill>
          </a:ln>
        </p:spPr>
      </p:sp>
      <p:sp>
        <p:nvSpPr>
          <p:cNvPr id="10201" name="G_cube"/>
          <p:cNvSpPr/>
          <p:nvPr/>
        </p:nvSpPr>
        <p:spPr>
          <a:xfrm>
            <a:off x="1676400" y="1371600"/>
            <a:ext cx="1188720" cy="868680"/>
          </a:xfrm>
          <a:prstGeom prst="cube">
            <a:avLst/>
          </a:prstGeom>
          <a:solidFill>
            <a:srgbClr val="5B9BD5"/>
          </a:solidFill>
          <a:ln w="19050">
            <a:solidFill>
              <a:srgbClr val="FFC000"/>
            </a:solidFill>
          </a:ln>
        </p:spPr>
      </p:sp>
      <p:sp>
        <p:nvSpPr>
          <p:cNvPr id="10202" name="G_chartPlus"/>
          <p:cNvSpPr/>
          <p:nvPr/>
        </p:nvSpPr>
        <p:spPr>
          <a:xfrm>
            <a:off x="3124200" y="1371600"/>
            <a:ext cx="1188720" cy="868680"/>
          </a:xfrm>
          <a:prstGeom prst="chartPlus">
            <a:avLst/>
          </a:prstGeom>
          <a:solidFill>
            <a:srgbClr val="5B9BD5"/>
          </a:solidFill>
          <a:ln w="19050">
            <a:solidFill>
              <a:srgbClr val="FFC000"/>
            </a:solidFill>
          </a:ln>
        </p:spPr>
      </p:sp>
      <p:sp>
        <p:nvSpPr>
          <p:cNvPr id="10203" name="G_bentConnector3"/>
          <p:cNvSpPr/>
          <p:nvPr/>
        </p:nvSpPr>
        <p:spPr>
          <a:xfrm>
            <a:off x="4572000" y="1371600"/>
            <a:ext cx="1188720" cy="868680"/>
          </a:xfrm>
          <a:prstGeom prst="bentConnector3">
            <a:avLst/>
          </a:prstGeom>
          <a:solidFill>
            <a:srgbClr val="5B9BD5"/>
          </a:solidFill>
          <a:ln w="19050">
            <a:solidFill>
              <a:srgbClr val="FFC000"/>
            </a:solidFill>
          </a:ln>
        </p:spPr>
      </p:sp>
      <p:sp>
        <p:nvSpPr>
          <p:cNvPr id="10204" name="G_actionButtonHome"/>
          <p:cNvSpPr/>
          <p:nvPr/>
        </p:nvSpPr>
        <p:spPr>
          <a:xfrm>
            <a:off x="6019800" y="1371600"/>
            <a:ext cx="1188720" cy="868680"/>
          </a:xfrm>
          <a:prstGeom prst="actionButtonHome">
            <a:avLst/>
          </a:prstGeom>
          <a:solidFill>
            <a:srgbClr val="5B9BD5"/>
          </a:solidFill>
          <a:ln w="19050">
            <a:solidFill>
              <a:srgbClr val="FFC000"/>
            </a:solidFill>
          </a:ln>
        </p:spPr>
      </p:sp>
      <p:sp>
        <p:nvSpPr>
          <p:cNvPr id="10205" name="G_star7"/>
          <p:cNvSpPr/>
          <p:nvPr/>
        </p:nvSpPr>
        <p:spPr>
          <a:xfrm>
            <a:off x="7467600" y="1371600"/>
            <a:ext cx="1188720" cy="868680"/>
          </a:xfrm>
          <a:prstGeom prst="star7">
            <a:avLst/>
          </a:prstGeom>
          <a:solidFill>
            <a:srgbClr val="5B9BD5"/>
          </a:solidFill>
          <a:ln w="19050">
            <a:solidFill>
              <a:srgbClr val="FFC000"/>
            </a:solidFill>
          </a:ln>
        </p:spPr>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00" name="CustStyled"/>
          <p:cNvSpPr/>
          <p:nvPr/>
        </p:nvSpPr>
        <p:spPr>
          <a:xfrm>
            <a:off x="2286000" y="1371600"/>
            <a:ext cx="2743200" cy="2743200"/>
          </a:xfrm>
          <a:custGeom>
            <a:avLst/>
            <a:gdLst/>
            <a:rect l="l" t="t" r="r" b="b"/>
            <a:pathLst>
              <a:path w="100" h="100" stroke="0">
                <a:moveTo>
                  <a:pt x="0" y="0"/>
                </a:moveTo>
                <a:lnTo>
                  <a:pt x="100" y="0"/>
                </a:lnTo>
                <a:lnTo>
                  <a:pt x="100" y="100"/>
                </a:lnTo>
                <a:lnTo>
                  <a:pt x="0" y="100"/>
                </a:lnTo>
                <a:close/>
              </a:path>
              <a:path w="50" h="50" fill="none">
                <a:moveTo>
                  <a:pt x="0" y="50"/>
                </a:moveTo>
                <a:lnTo>
                  <a:pt x="50" y="0"/>
                </a:lnTo>
              </a:path>
              <a:path w="100" h="100" fill="darken" stroke="0">
                <a:moveTo>
                  <a:pt x="25" y="25"/>
                </a:moveTo>
                <a:lnTo>
                  <a:pt x="50" y="25"/>
                </a:lnTo>
                <a:lnTo>
                  <a:pt x="50" y="50"/>
                </a:lnTo>
                <a:lnTo>
                  <a:pt x="25" y="50"/>
                </a:lnTo>
                <a:close/>
              </a:path>
            </a:pathLst>
          </a:custGeom>
          <a:solidFill>
            <a:srgbClr val="5B9BD5"/>
          </a:solidFill>
          <a:ln w="28575">
            <a:solidFill>
              <a:srgbClr val="FFC000"/>
            </a:solidFill>
          </a:ln>
        </p:spPr>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gradFill rotWithShape="1">
          <a:gsLst>
            <a:gs pos="0">
              <a:srgbClr val="1F4E79"/>
            </a:gs>
            <a:gs pos="100000">
              <a:srgbClr val="9DC3E6"/>
            </a:gs>
          </a:gsLst>
          <a:lin ang="5400000" scaled="0"/>
        </a:gradFill>
        <a:effectLst/>
      </p:bgPr>
    </p:bg>
    <p:spTree>
      <p:nvGrpSpPr>
        <p:cNvPr id="1" name=""/>
        <p:cNvGrpSpPr/>
        <p:nvPr/>
      </p:nvGrpSpPr>
      <p:grpSpPr/>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pattFill prst="dkDnDiag">
          <a:fgClr>
            <a:srgbClr val="C00000"/>
          </a:fgClr>
          <a:bgClr>
            <a:srgbClr val="FFF2CC"/>
          </a:bgClr>
        </a:pattFill>
        <a:effectLst/>
      </p:bgPr>
    </p:bg>
    <p:spTree>
      <p:nvGrpSpPr>
        <p:cNvPr id="1" name=""/>
        <p:cNvGrpSpPr/>
        <p:nvPr/>
      </p:nvGrpSpPr>
      <p:grpSpPr/>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venue Box" descr="Quarterly revenue, up 12% &amp; rising" title="Revenue"/>
          <p:cNvSpPr/>
          <p:nvPr/>
        </p:nvSpPr>
        <p:spPr>
          <a:xfrm>
            <a:off x="914400" y="914400"/>
            <a:ext cx="27432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Revenue</a:t>
            </a:r>
          </a:p>
        </p:txBody>
      </p:sp>
      <p:pic>
        <p:nvPicPr>
          <p:cNvPr id="3" name="Logo" descr="Company logo"/>
          <p:cNvPicPr>
            <a:picLocks noChangeAspect="1"/>
          </p:cNvPicPr>
          <p:nvPr/>
        </p:nvPicPr>
        <p:blipFill>
          <a:blip r:embed="rId2"/>
          <a:stretch>
            <a:fillRect/>
          </a:stretch>
        </p:blipFill>
        <p:spPr>
          <a:xfrm>
            <a:off x="4572000" y="914400"/>
            <a:ext cx="1828800" cy="182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ea typeface="Yu Gothic"/>
      </a:majorFont>
      <a:minorFont>
        <a:latin typeface="Calibri"/>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ea typeface="Yu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