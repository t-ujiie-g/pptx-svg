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https://upload.wikimedia.org/wikipedia/commons/thumb/4/47/PNG_transparency_demonstration_1.png/280px-PNG_transparency_demonstration_1.png" TargetMode="External"/><Relationship Id="rId3" Type="http://schemas.openxmlformats.org/officeDocument/2006/relationships/image" Target="https://picsum.photos/id/237/200/300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shape-link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1" name="Gear6"/>
          <p:cNvSpPr/>
          <p:nvPr/>
        </p:nvSpPr>
        <p:spPr>
          <a:xfrm>
            <a:off x="457200" y="457200"/>
            <a:ext cx="2286000" cy="2286000"/>
          </a:xfrm>
          <a:prstGeom prst="gear6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202" name="Gear9"/>
          <p:cNvSpPr/>
          <p:nvPr/>
        </p:nvSpPr>
        <p:spPr>
          <a:xfrm>
            <a:off x="3429000" y="457200"/>
            <a:ext cx="2286000" cy="2286000"/>
          </a:xfrm>
          <a:prstGeom prst="gear9">
            <a:avLst/>
          </a:prstGeom>
          <a:solidFill>
            <a:srgbClr val="ED7D31"/>
          </a:solidFill>
          <a:ln w="12700">
            <a:solidFill>
              <a:srgbClr val="AE5A21"/>
            </a:solidFill>
          </a:ln>
        </p:spPr>
      </p:sp>
      <p:sp>
        <p:nvSpPr>
          <p:cNvPr id="203" name="Gear6Deep"/>
          <p:cNvSpPr/>
          <p:nvPr/>
        </p:nvSpPr>
        <p:spPr>
          <a:xfrm>
            <a:off x="6400800" y="457200"/>
            <a:ext cx="2286000" cy="2286000"/>
          </a:xfrm>
          <a:prstGeom prst="gear6">
            <a:avLst>
              <a:gd name="adj" fmla="val 50000"/>
            </a:avLst>
          </a:prstGeom>
          <a:solidFill>
            <a:srgbClr val="70AD47"/>
          </a:solidFill>
          <a:ln w="12700">
            <a:solidFill>
              <a:srgbClr val="507E32"/>
            </a:solidFill>
          </a:ln>
        </p:spPr>
      </p:sp>
      <p:sp>
        <p:nvSpPr>
          <p:cNvPr id="204" name="TextBox 2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Gear shapes: gear6 (default), gear9 (default), gear6 (adj=50000 deeper teeth)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Triangle"/>
          <p:cNvSpPr/>
          <p:nvPr/>
        </p:nvSpPr>
        <p:spPr>
          <a:xfrm>
            <a:off x="457200" y="457200"/>
            <a:ext cx="2286000" cy="2286000"/>
          </a:xfrm>
          <a:prstGeom prst="triangle">
            <a:avLst/>
          </a:prstGeom>
          <a:solidFill>
            <a:srgbClr val="FFD700"/>
          </a:solidFill>
          <a:ln w="12700"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400"/>
              <a:t>Text in Triangle</a:t>
            </a:r>
          </a:p>
        </p:txBody>
      </p:sp>
      <p:sp>
        <p:nvSpPr>
          <p:cNvPr id="302" name="Diamond"/>
          <p:cNvSpPr/>
          <p:nvPr/>
        </p:nvSpPr>
        <p:spPr>
          <a:xfrm>
            <a:off x="3429000" y="457200"/>
            <a:ext cx="2286000" cy="2286000"/>
          </a:xfrm>
          <a:prstGeom prst="diamond">
            <a:avLst/>
          </a:prstGeom>
          <a:solidFill>
            <a:srgbClr val="87CEEB"/>
          </a:solidFill>
          <a:ln w="12700">
            <a:solidFill>
              <a:srgbClr val="4682B4"/>
            </a:solidFill>
          </a:ln>
        </p:spPr>
        <p:txBody>
          <a:bodyPr anchor="ctr"/>
          <a:lstStyle/>
          <a:p>
            <a:pPr algn="ctr"/>
            <a:r>
              <a:rPr lang="en-US" sz="1400"/>
              <a:t>Diamond</a:t>
            </a:r>
          </a:p>
        </p:txBody>
      </p:sp>
      <p:sp>
        <p:nvSpPr>
          <p:cNvPr id="303" name="RightArrow"/>
          <p:cNvSpPr/>
          <p:nvPr/>
        </p:nvSpPr>
        <p:spPr>
          <a:xfrm>
            <a:off x="6400800" y="914400"/>
            <a:ext cx="2743200" cy="1371600"/>
          </a:xfrm>
          <a:prstGeom prst="rightArrow">
            <a:avLst/>
          </a:prstGeom>
          <a:solidFill>
            <a:srgbClr val="FF6347"/>
          </a:solidFill>
          <a:ln w="12700">
            <a:solidFill>
              <a:srgbClr val="8B0000"/>
            </a:solidFill>
          </a:ln>
        </p:spPr>
        <p:txBody>
          <a:bodyPr anchor="ctr"/>
          <a:lstStyle/>
          <a:p>
            <a:pPr algn="ctr"/>
            <a:r>
              <a:rPr lang="en-US" sz="1400"/>
              <a:t>Arrow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Text rectangles: triangle (text in lower half), diamond (text inscribed), right arrow (text in shaft)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Rect1"/>
          <p:cNvSpPr/>
          <p:nvPr/>
        </p:nvSpPr>
        <p:spPr>
          <a:xfrm>
            <a:off x="914400" y="914400"/>
            <a:ext cx="1828800" cy="13716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02" name="Rect2"/>
          <p:cNvSpPr/>
          <p:nvPr/>
        </p:nvSpPr>
        <p:spPr>
          <a:xfrm>
            <a:off x="5486400" y="914400"/>
            <a:ext cx="1828800" cy="1371600"/>
          </a:xfrm>
          <a:prstGeom prst="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403" name="Connector"/>
          <p:cNvCxnSpPr>
            <a:stCxn id="401" idx="3"/>
            <a:endCxn id="402" idx="1"/>
          </p:cNvCxnSpPr>
          <p:nvPr/>
        </p:nvCxnSpPr>
        <p:spPr>
          <a:xfrm>
            <a:off x="2743200" y="1600200"/>
            <a:ext cx="27432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404" name="CustomWithCxn"/>
          <p:cNvSpPr/>
          <p:nvPr/>
        </p:nvSpPr>
        <p:spPr>
          <a:xfrm>
            <a:off x="3200400" y="3429000"/>
            <a:ext cx="2286000" cy="1828800"/>
          </a:xfrm>
          <a:custGeom>
            <a:avLst/>
            <a:gd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l" t="t" r="r" b="b"/>
            <a:pathLst>
              <a:path w="100" h="100">
                <a:moveTo>
                  <a:pt x="50" y="0"/>
                </a:moveTo>
                <a:lnTo>
                  <a:pt x="100" y="50"/>
                </a:lnTo>
                <a:lnTo>
                  <a:pt x="50" y="100"/>
                </a:lnTo>
                <a:lnTo>
                  <a:pt x="0" y="50"/>
                </a:lnTo>
                <a:close/>
              </a:path>
            </a:pathLst>
          </a:custGeom>
          <a:solidFill>
            <a:srgbClr val="9370DB"/>
          </a:solidFill>
          <a:ln w="12700">
            <a:solidFill>
              <a:srgbClr val="4B0082"/>
            </a:solidFill>
          </a:ln>
        </p:spPr>
      </p:sp>
      <p:sp>
        <p:nvSpPr>
          <p:cNvPr id="405" name="TextBox 404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Connection points: connector with stCxn/endCxn refs, custom geom with a:cxnLst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00" name="Table41"/>
          <p:cNvGraphicFramePr>
            <a:graphicFrameLocks noGrp="1"/>
          </p:cNvGraphicFramePr>
          <p:nvPr/>
        </p:nvGraphicFramePr>
        <p:xfrm>
          <a:off x="457200" y="457200"/>
          <a:ext cx="8229600" cy="4572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!-- Row 1: horizontal merge (gridSpan=2) + custom borders -->
              <a:tr h="914400">
                <a:tc gridSpan="2">
                  <a:txBody>
                    <a:bodyPr/>
                    <a:lstStyle/>
                    <a:p>
                      <a:r>
                        <a:rPr lang="en-US" sz="1400" b="1"/>
                        <a:t>Merged 2 cols</a:t>
                      </a:r>
                    </a:p>
                  </a:txBody>
                  <a:tcPr marL="182880" marR="91440" marT="91440" marB="45720" anchor="ctr">
                    <a:lnL w="25400">
                      <a:solidFill>
                        <a:srgbClr val="FF0000"/>
                      </a:solidFill>
                    </a:lnL>
                    <a:lnR w="25400">
                      <a:solidFill>
                        <a:srgbClr val="0000FF"/>
                      </a:solidFill>
                    </a:lnR>
                    <a:lnT w="38100">
                      <a:solidFill>
                        <a:srgbClr val="00AA00"/>
                      </a:solidFill>
                    </a:lnT>
                    <a:lnB w="12700">
                      <a:solidFill>
                        <a:srgbClr val="FF8800"/>
                      </a:solidFill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 cell</a:t>
                      </a:r>
                    </a:p>
                  </a:txBody>
                  <a:tcPr anchor="b">
                    <a:lnL w="12700">
                      <a:solidFill>
                        <a:srgbClr val="333333"/>
                      </a:solidFill>
                    </a:lnL>
                    <a:lnR w="12700">
                      <a:solidFill>
                        <a:srgbClr val="333333"/>
                      </a:solidFill>
                    </a:lnR>
                    <a:lnT w="12700">
                      <a:solidFill>
                        <a:srgbClr val="333333"/>
                      </a:solidFill>
                    </a:lnT>
                    <a:lnB w="12700">
                      <a:solidFill>
                        <a:srgbClr val="333333"/>
                      </a:solidFill>
                    </a:lnB>
                    <a:solidFill>
                      <a:srgbClr val="FFFFDD"/>
                    </a:solidFill>
                  </a:tcPr>
                </a:tc>
              </a:tr>
              <!-- Row 2: vertical merge start (rowSpan=2) + noFill border -->
              <a:tr h="914400">
                <a:tc rowSpan="2">
                  <a:txBody>
                    <a:bodyPr/>
                    <a:lstStyle/>
                    <a:p>
                      <a:r>
                        <a:rPr lang="en-US" sz="1400" b="1"/>
                        <a:t>Merged 2 rows</a:t>
                      </a:r>
                    </a:p>
                  </a:txBody>
                  <a:tcPr anchor="ctr">
                    <a:lnL w="19050">
                      <a:solidFill>
                        <a:srgbClr val="9900CC"/>
                      </a:solidFill>
                    </a:lnL>
                    <a:lnR w="19050">
                      <a:solidFill>
                        <a:srgbClr val="9900CC"/>
                      </a:solidFill>
                    </a:lnR>
                    <a:lnT w="19050">
                      <a:solidFill>
                        <a:srgbClr val="9900CC"/>
                      </a:solidFill>
                    </a:lnT>
                    <a:lnB w="19050">
                      <a:solidFill>
                        <a:srgbClr val="9900CC"/>
                      </a:solidFill>
                    </a:lnB>
                    <a:solidFill>
                      <a:srgbClr val="F0E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B2</a:t>
                      </a:r>
                    </a:p>
                  </a:txBody>
                  <a:tcPr>
                    <a:lnL w="12700">
                      <a:noFill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C2</a:t>
                      </a:r>
                    </a:p>
                  </a:txBody>
                  <a:tcPr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</a:tr>
              <!-- Row 3: vertical merge continuation -->
              <a:tr h="914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B3 (large margin)</a:t>
                      </a:r>
                    </a:p>
                  </a:txBody>
                  <a:tcPr marL="274320" marT="137160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C3 (top anchor)</a:t>
                      </a:r>
                    </a:p>
                  </a:txBody>
                  <a:tcPr anchor="t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solidFill>
                      <a:srgbClr val="EEFFEE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cell merge (gridSpan/rowSpan/vMerge) + borders + margins + anchor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Table42"/>
          <p:cNvGraphicFramePr>
            <a:graphicFrameLocks noGrp="1"/>
          </p:cNvGraphicFramePr>
          <p:nvPr/>
        </p:nvGraphicFramePr>
        <p:xfrm>
          <a:off x="457200" y="457200"/>
          <a:ext cx="8229600" cy="3657600"/>
        </p:xfrm>
        <a:graphic>
          <a:graphicData uri="http://schemas.openxmlformats.org/drawingml/2006/table">
            <a:tbl>
              <a:tblPr firstRow="1" lastRow="1" firstCol="0" lastCol="0" bandRow="1" bandCol="0" tblStyleId="{5C22544A-7EE6-4342-B048-85BDC9FD1C3A}"/>
              <a:tblGrid>
                <a:gridCol w="2743200"/>
                <a:gridCol w="2743200"/>
                <a:gridCol w="2743200"/>
              </a:tblGrid>
              <!-- Row 1: diagonal borders -->
              <a:tr h="914400">
                <a:tc>
                  <a:txBody>
                    <a:bodyPr/>
                    <a:lstStyle/>
                    <a:p>
                      <a:r>
                        <a:rPr lang="en-US" sz="1200" b="1"/>
                        <a:t>TL-BR diagonal</a:t>
                      </a:r>
                    </a:p>
                  </a:txBody>
                  <a:tcPr>
                    <a:lnTlToBr w="19050">
                      <a:solidFill>
                        <a:srgbClr val="FF0000"/>
                      </a:solidFill>
                    </a:lnTlToBr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BL-TR diagonal</a:t>
                      </a:r>
                    </a:p>
                  </a:txBody>
                  <a:tcPr>
                    <a:lnBlToTr w="19050">
                      <a:solidFill>
                        <a:srgbClr val="0000FF"/>
                      </a:solidFill>
                    </a:lnBlToT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Both diagonals</a:t>
                      </a:r>
                    </a:p>
                  </a:txBody>
                  <a:tcPr>
                    <a:lnTlToBr w="12700">
                      <a:solidFill>
                        <a:srgbClr val="008800"/>
                      </a:solidFill>
                    </a:lnTlToBr>
                    <a:lnBlToTr w="12700">
                      <a:solidFill>
                        <a:srgbClr val="880000"/>
                      </a:solidFill>
                    </a:lnBlToTr>
                    <a:solidFill>
                      <a:srgbClr val="FFFFF0"/>
                    </a:solidFill>
                  </a:tcPr>
                </a:tc>
              </a:tr>
              <!-- Row 2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</a:tr>
              <!-- Row 3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Last row cell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1" name="TextBox 2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diagonal borders (lnTlToBr/lnBlToTr) + tblPr flags + tblStyleId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0"/>
            <a:ext cx="2743200" cy="2286000"/>
          </a:xfrm>
          <a:prstGeom prst="rect">
            <a:avLst/>
          </a:prstGeom>
          <a:blipFill>
            <a:blip r:embed="rId2"/>
            <a:srcRect l="0" t="50000" r="0" b="0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0" name="CropPic"/>
          <p:cNvPicPr>
            <a:picLocks noChangeAspect="1"/>
          </p:cNvPicPr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457200" y="914400"/>
            <a:ext cx="2743200" cy="2743200"/>
          </a:xfrm>
          <a:prstGeom prst="rect">
            <a:avLst/>
          </a:prstGeom>
        </p:spPr>
      </p:pic>
      <p:pic>
        <p:nvPicPr>
          <p:cNvPr id="101" name="AlphaPic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3657600" y="914400"/>
            <a:ext cx="2743200" cy="2743200"/>
          </a:xfrm>
          <a:prstGeom prst="rect">
            <a:avLst/>
          </a:prstGeom>
        </p:spPr>
      </p:pic>
      <p:pic>
        <p:nvPicPr>
          <p:cNvPr id="102" name="CropAlphaPic"/>
          <p:cNvPicPr>
            <a:picLocks noChangeAspect="1"/>
          </p:cNvPicPr>
          <p:nvPr/>
        </p:nvPicPr>
        <p:blipFill>
          <a:blip r:embed="rId2">
            <a:alphaModFix amt="75000"/>
          </a:blip>
          <a:srcRect l="50000"/>
          <a:stretch>
            <a:fillRect/>
          </a:stretch>
        </p:blipFill>
        <p:spPr>
          <a:xfrm>
            <a:off x="6858000" y="914400"/>
            <a:ext cx="2286000" cy="27432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43: Image crop (srcRect) + alpha (alphaModFix)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0" name="ExtPic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201" name="ExtPic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2743200" cy="3657600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44: External image reference (TargetMode=External)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7200" y="47548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Wikimedia Commons PNG</a:t>
            </a:r>
            <a:br/>
            <a:r>
              <a:t>Right: picsum.photos (id=237)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BrightPic"/>
          <p:cNvPicPr>
            <a:picLocks noChangeAspect="1"/>
          </p:cNvPicPr>
          <p:nvPr/>
        </p:nvPicPr>
        <p:blipFill>
          <a:blip r:embed="rId2">
            <a:lum bright="50000"/>
          </a:blip>
          <a:stretch>
            <a:fillRect/>
          </a:stretch>
        </p:blipFill>
        <p:spPr>
          <a:xfrm>
            <a:off x="457200" y="914400"/>
            <a:ext cx="2286000" cy="2286000"/>
          </a:xfrm>
          <a:prstGeom prst="rect">
            <a:avLst/>
          </a:prstGeom>
        </p:spPr>
      </p:pic>
      <p:pic>
        <p:nvPicPr>
          <p:cNvPr id="301" name="ContrastPic"/>
          <p:cNvPicPr>
            <a:picLocks noChangeAspect="1"/>
          </p:cNvPicPr>
          <p:nvPr/>
        </p:nvPicPr>
        <p:blipFill>
          <a:blip r:embed="rId2">
            <a:lum contrast="-30000"/>
          </a:blip>
          <a:stretch>
            <a:fillRect/>
          </a:stretch>
        </p:blipFill>
        <p:spPr>
          <a:xfrm>
            <a:off x="3429000" y="914400"/>
            <a:ext cx="2286000" cy="2286000"/>
          </a:xfrm>
          <a:prstGeom prst="rect">
            <a:avLst/>
          </a:prstGeom>
        </p:spPr>
      </p:pic>
      <p:pic>
        <p:nvPicPr>
          <p:cNvPr id="302" name="BrightContrastPic"/>
          <p:cNvPicPr>
            <a:picLocks noChangeAspect="1"/>
          </p:cNvPicPr>
          <p:nvPr/>
        </p:nvPicPr>
        <p:blipFill>
          <a:blip r:embed="rId2">
            <a:lum bright="20000" contrast="40000"/>
          </a:blip>
          <a:stretch>
            <a:fillRect/>
          </a:stretch>
        </p:blipFill>
        <p:spPr>
          <a:xfrm>
            <a:off x="6400800" y="914400"/>
            <a:ext cx="2286000" cy="2286000"/>
          </a:xfrm>
          <a:prstGeom prst="rect">
            <a:avLst/>
          </a:prstGeom>
        </p:spPr>
      </p:pic>
      <p:sp>
        <p:nvSpPr>
          <p:cNvPr id="303" name="TextBox 3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45: Image effects — brightness/contrast (a:lum)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bright +50% | Center: contrast -30% | Right: bright +20% contrast +40%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0" name="DuotonePic"/>
          <p:cNvPicPr>
            <a:picLocks noChangeAspect="1"/>
          </p:cNvPicPr>
          <p:nvPr/>
        </p:nvPicPr>
        <p:blipFill>
          <a:blip r:embed="rId2">
            <a:duotone>
              <a:srgbClr val="000080"/>
              <a:srgbClr val="FFFF00"/>
            </a:duotone>
          </a:blip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401" name="ClrChangePic"/>
          <p:cNvPicPr>
            <a:picLocks noChangeAspect="1"/>
          </p:cNvPicPr>
          <p:nvPr/>
        </p:nvPicPr>
        <p:blipFill>
          <a:blip r:embed="rId2">
            <a:clrChange>
              <a:clrFrom>
                <a:srgbClr val="FF0000"/>
              </a:clrFrom>
              <a:clrTo>
                <a:srgbClr val="00FF00"/>
              </a:clrTo>
            </a:clrChange>
          </a:blip>
          <a:stretch>
            <a:fillRect/>
          </a:stretch>
        </p:blipFill>
        <p:spPr>
          <a:xfrm>
            <a:off x="4572000" y="914400"/>
            <a:ext cx="3657600" cy="3657600"/>
          </a:xfrm>
          <a:prstGeom prst="rect">
            <a:avLst/>
          </a:prstGeom>
        </p:spPr>
      </p:pic>
      <p:sp>
        <p:nvSpPr>
          <p:cNvPr id="402" name="TextBox 4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46: Duotone (a:duotone) + Color change (a:clrChange)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457200" y="4754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Duotone (navy→yellow) | Right: clrChange (red→green, data preserved)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ltDnDiag">
          <a:fgClr>
            <a:srgbClr val="3366CC"/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47: Background pattern fill (ltDnDiag)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GradStrokeRect"/>
          <p:cNvSpPr/>
          <p:nvPr/>
        </p:nvSpPr>
        <p:spPr>
          <a:xfrm>
            <a:off x="457200" y="1371600"/>
            <a:ext cx="3657600" cy="2286000"/>
          </a:xfrm>
          <a:prstGeom prst="rect">
            <a:avLst/>
          </a:prstGeom>
          <a:solidFill>
            <a:srgbClr val="F0F0F0"/>
          </a:solidFill>
          <a:ln w="76200">
            <a:gradFill>
              <a:gsLst>
                <a:gs pos="0">
                  <a:srgbClr val="FF0000"/>
                </a:gs>
                <a:gs pos="50000">
                  <a:srgbClr val="00FF00"/>
                </a:gs>
                <a:gs pos="100000">
                  <a:srgbClr val="0000FF"/>
                </a:gs>
              </a:gsLst>
              <a:lin ang="0" scaled="1"/>
            </a:gradFill>
          </a:ln>
        </p:spPr>
        <p:txBody>
          <a:bodyPr/>
          <a:lstStyle/>
          <a:p>
            <a:r>
              <a:rPr lang="en-US" sz="1400"/>
              <a:t>Gradient stroke</a:t>
            </a:r>
          </a:p>
        </p:txBody>
      </p:sp>
      <p:sp>
        <p:nvSpPr>
          <p:cNvPr id="101" name="PattStrokeEllipse"/>
          <p:cNvSpPr/>
          <p:nvPr/>
        </p:nvSpPr>
        <p:spPr>
          <a:xfrm>
            <a:off x="5029200" y="1371600"/>
            <a:ext cx="3657600" cy="2286000"/>
          </a:xfrm>
          <a:prstGeom prst="ellipse">
            <a:avLst/>
          </a:prstGeom>
          <a:solidFill>
            <a:srgbClr val="FFFFCC"/>
          </a:solidFill>
          <a:ln w="57150">
            <a:pattFill prst="smCheck">
              <a:fgClr>
                <a:srgbClr val="990000"/>
              </a:fgClr>
              <a:bgClr>
                <a:srgbClr val="FFCC00"/>
              </a:bgClr>
            </a:pattFill>
          </a:ln>
        </p:spPr>
        <p:txBody>
          <a:bodyPr/>
          <a:lstStyle/>
          <a:p>
            <a:r>
              <a:rPr lang="en-US" sz="1400"/>
              <a:t>Pattern stroke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48: Line gradient fill + Line pattern fill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LinkedShape">
            <a:hlinkClick r:id="rId99"/>
          </p:cNvPr>
          <p:cNvSpPr/>
          <p:nvPr/>
        </p:nvSpPr>
        <p:spPr>
          <a:xfrm>
            <a:off x="457200" y="1371600"/>
            <a:ext cx="3657600" cy="1828800"/>
          </a:xfrm>
          <a:prstGeom prst="roundRect">
            <a:avLst/>
          </a:prstGeom>
          <a:solidFill>
            <a:srgbClr val="4472C4"/>
          </a:solidFill>
          <a:ln w="25400">
            <a:solidFill>
              <a:srgbClr val="2F5597"/>
            </a:solidFill>
          </a:ln>
        </p:spPr>
        <p:txBody>
          <a:bodyPr anchor="ctr"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Click me (shape link)</a:t>
            </a:r>
          </a:p>
        </p:txBody>
      </p:sp>
      <p:sp>
        <p:nvSpPr>
          <p:cNvPr id="201" name="CompColor"/>
          <p:cNvSpPr/>
          <p:nvPr/>
        </p:nvSpPr>
        <p:spPr>
          <a:xfrm>
            <a:off x="5029200" y="1371600"/>
            <a:ext cx="3657600" cy="1828800"/>
          </a:xfrm>
          <a:prstGeom prst="rect">
            <a:avLst/>
          </a:prstGeom>
          <a:solidFill>
            <a:srgbClr val="FF6600">
              <a:comp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comp(#FF6600) = complementary hue</a:t>
            </a:r>
          </a:p>
        </p:txBody>
      </p:sp>
      <p:sp>
        <p:nvSpPr>
          <p:cNvPr id="202" name="InvColor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solidFill>
            <a:srgbClr val="3366CC">
              <a:inv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inv(#3366CC) → #CC9933</a:t>
            </a:r>
          </a:p>
        </p:txBody>
      </p:sp>
      <p:sp>
        <p:nvSpPr>
          <p:cNvPr id="203" name="HueModColor"/>
          <p:cNvSpPr/>
          <p:nvPr/>
        </p:nvSpPr>
        <p:spPr>
          <a:xfrm>
            <a:off x="5029200" y="3657600"/>
            <a:ext cx="3657600" cy="1828800"/>
          </a:xfrm>
          <a:prstGeom prst="rect">
            <a:avLst/>
          </a:prstGeom>
          <a:solidFill>
            <a:srgbClr val="FF0000">
              <a:hueMod val="50000"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hueMod 50% of red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49: Shape hyperlinks + Color modifiers (comp/inv/hueMod)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